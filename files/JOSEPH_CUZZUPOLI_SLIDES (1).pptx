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77" r:id="rId3"/>
    <p:sldId id="272" r:id="rId4"/>
    <p:sldId id="288" r:id="rId5"/>
    <p:sldId id="299" r:id="rId6"/>
    <p:sldId id="300" r:id="rId7"/>
    <p:sldId id="289" r:id="rId8"/>
    <p:sldId id="296" r:id="rId9"/>
    <p:sldId id="297" r:id="rId10"/>
    <p:sldId id="298" r:id="rId11"/>
    <p:sldId id="290" r:id="rId12"/>
    <p:sldId id="291" r:id="rId13"/>
    <p:sldId id="292" r:id="rId14"/>
    <p:sldId id="293" r:id="rId15"/>
    <p:sldId id="294" r:id="rId16"/>
    <p:sldId id="273" r:id="rId17"/>
    <p:sldId id="267" r:id="rId18"/>
    <p:sldId id="302" r:id="rId19"/>
    <p:sldId id="268" r:id="rId20"/>
    <p:sldId id="276" r:id="rId21"/>
    <p:sldId id="282" r:id="rId22"/>
    <p:sldId id="283" r:id="rId23"/>
    <p:sldId id="281" r:id="rId24"/>
    <p:sldId id="284" r:id="rId25"/>
    <p:sldId id="280" r:id="rId26"/>
    <p:sldId id="285" r:id="rId27"/>
    <p:sldId id="287" r:id="rId28"/>
    <p:sldId id="271" r:id="rId29"/>
    <p:sldId id="301" r:id="rId30"/>
    <p:sldId id="278" r:id="rId31"/>
    <p:sldId id="286" r:id="rId32"/>
  </p:sldIdLst>
  <p:sldSz cx="9144000" cy="6858000" type="screen4x3"/>
  <p:notesSz cx="9144000" cy="6858000"/>
  <p:defaultTextStyle>
    <a:defPPr>
      <a:defRPr kern="0"/>
    </a:defPPr>
  </p:defaultTextStyle>
  <p:extLst>
    <p:ext uri="{521415D9-36F7-43E2-AB2F-B90AF26B5E84}">
      <p14:sectionLst xmlns:p14="http://schemas.microsoft.com/office/powerpoint/2010/main">
        <p14:section name="Default Section" id="{85980874-9BB8-4D3F-B944-F9D2130FF7E1}">
          <p14:sldIdLst>
            <p14:sldId id="256"/>
            <p14:sldId id="277"/>
            <p14:sldId id="272"/>
            <p14:sldId id="288"/>
            <p14:sldId id="299"/>
            <p14:sldId id="300"/>
            <p14:sldId id="289"/>
            <p14:sldId id="296"/>
            <p14:sldId id="297"/>
            <p14:sldId id="298"/>
            <p14:sldId id="290"/>
            <p14:sldId id="291"/>
            <p14:sldId id="292"/>
            <p14:sldId id="293"/>
            <p14:sldId id="294"/>
            <p14:sldId id="273"/>
            <p14:sldId id="267"/>
            <p14:sldId id="302"/>
            <p14:sldId id="268"/>
            <p14:sldId id="276"/>
            <p14:sldId id="282"/>
            <p14:sldId id="283"/>
            <p14:sldId id="281"/>
            <p14:sldId id="284"/>
            <p14:sldId id="280"/>
            <p14:sldId id="285"/>
            <p14:sldId id="287"/>
            <p14:sldId id="271"/>
            <p14:sldId id="301"/>
            <p14:sldId id="278"/>
            <p14:sldId id="286"/>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512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978" y="54"/>
      </p:cViewPr>
      <p:guideLst>
        <p:guide orient="horz" pos="2880"/>
        <p:guide pos="2160"/>
      </p:guideLst>
    </p:cSldViewPr>
  </p:slid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 cuzzupoli" userId="f74ceb49df7bce8e" providerId="LiveId" clId="{9DAE098E-F718-4F28-A7EC-E643F0739664}"/>
    <pc:docChg chg="undo custSel modSld">
      <pc:chgData name="joseph cuzzupoli" userId="f74ceb49df7bce8e" providerId="LiveId" clId="{9DAE098E-F718-4F28-A7EC-E643F0739664}" dt="2024-08-14T14:37:11.504" v="17" actId="1076"/>
      <pc:docMkLst>
        <pc:docMk/>
      </pc:docMkLst>
      <pc:sldChg chg="addSp delSp modSp mod">
        <pc:chgData name="joseph cuzzupoli" userId="f74ceb49df7bce8e" providerId="LiveId" clId="{9DAE098E-F718-4F28-A7EC-E643F0739664}" dt="2024-08-14T14:37:11.504" v="17" actId="1076"/>
        <pc:sldMkLst>
          <pc:docMk/>
          <pc:sldMk cId="2212357279" sldId="281"/>
        </pc:sldMkLst>
        <pc:spChg chg="del mod">
          <ac:chgData name="joseph cuzzupoli" userId="f74ceb49df7bce8e" providerId="LiveId" clId="{9DAE098E-F718-4F28-A7EC-E643F0739664}" dt="2024-08-14T14:37:05.269" v="15" actId="478"/>
          <ac:spMkLst>
            <pc:docMk/>
            <pc:sldMk cId="2212357279" sldId="281"/>
            <ac:spMk id="8" creationId="{C9B006EF-BA40-582A-1A9E-0D5377D42342}"/>
          </ac:spMkLst>
        </pc:spChg>
        <pc:spChg chg="add mod">
          <ac:chgData name="joseph cuzzupoli" userId="f74ceb49df7bce8e" providerId="LiveId" clId="{9DAE098E-F718-4F28-A7EC-E643F0739664}" dt="2024-08-14T14:37:11.504" v="17" actId="1076"/>
          <ac:spMkLst>
            <pc:docMk/>
            <pc:sldMk cId="2212357279" sldId="281"/>
            <ac:spMk id="10" creationId="{AA4B02EF-B74E-AF63-E928-17F6885D4CE4}"/>
          </ac:spMkLst>
        </pc:spChg>
        <pc:spChg chg="add mod">
          <ac:chgData name="joseph cuzzupoli" userId="f74ceb49df7bce8e" providerId="LiveId" clId="{9DAE098E-F718-4F28-A7EC-E643F0739664}" dt="2024-08-14T14:37:11.504" v="17" actId="1076"/>
          <ac:spMkLst>
            <pc:docMk/>
            <pc:sldMk cId="2212357279" sldId="281"/>
            <ac:spMk id="11" creationId="{312BDC9F-D3FE-EEA4-0DD7-18C3CDD68C57}"/>
          </ac:spMkLst>
        </pc:spChg>
      </pc:sldChg>
      <pc:sldChg chg="addSp modSp mod">
        <pc:chgData name="joseph cuzzupoli" userId="f74ceb49df7bce8e" providerId="LiveId" clId="{9DAE098E-F718-4F28-A7EC-E643F0739664}" dt="2024-08-14T14:36:53.151" v="14" actId="1036"/>
        <pc:sldMkLst>
          <pc:docMk/>
          <pc:sldMk cId="928775179" sldId="283"/>
        </pc:sldMkLst>
        <pc:spChg chg="mod ord">
          <ac:chgData name="joseph cuzzupoli" userId="f74ceb49df7bce8e" providerId="LiveId" clId="{9DAE098E-F718-4F28-A7EC-E643F0739664}" dt="2024-08-14T14:36:53.151" v="14" actId="1036"/>
          <ac:spMkLst>
            <pc:docMk/>
            <pc:sldMk cId="928775179" sldId="283"/>
            <ac:spMk id="4" creationId="{C192BE24-821E-423E-5F5B-9B07DB5E6895}"/>
          </ac:spMkLst>
        </pc:spChg>
        <pc:spChg chg="add mod">
          <ac:chgData name="joseph cuzzupoli" userId="f74ceb49df7bce8e" providerId="LiveId" clId="{9DAE098E-F718-4F28-A7EC-E643F0739664}" dt="2024-08-14T14:36:40.480" v="10" actId="14100"/>
          <ac:spMkLst>
            <pc:docMk/>
            <pc:sldMk cId="928775179" sldId="283"/>
            <ac:spMk id="6" creationId="{A91518B7-A60E-1A56-15EF-0672621477FB}"/>
          </ac:spMkLst>
        </pc:spChg>
      </pc:sldChg>
    </pc:docChg>
  </pc:docChgLst>
  <pc:docChgLst>
    <pc:chgData name="joseph cuzzupoli" userId="f74ceb49df7bce8e" providerId="LiveId" clId="{8DCEEC77-03F5-4C94-9962-DE90AFC2C8DA}"/>
    <pc:docChg chg="undo custSel modSld sldOrd">
      <pc:chgData name="joseph cuzzupoli" userId="f74ceb49df7bce8e" providerId="LiveId" clId="{8DCEEC77-03F5-4C94-9962-DE90AFC2C8DA}" dt="2024-10-24T18:20:13.016" v="11"/>
      <pc:docMkLst>
        <pc:docMk/>
      </pc:docMkLst>
      <pc:sldChg chg="ord">
        <pc:chgData name="joseph cuzzupoli" userId="f74ceb49df7bce8e" providerId="LiveId" clId="{8DCEEC77-03F5-4C94-9962-DE90AFC2C8DA}" dt="2024-10-24T18:20:13.016" v="11"/>
        <pc:sldMkLst>
          <pc:docMk/>
          <pc:sldMk cId="552043471" sldId="271"/>
        </pc:sldMkLst>
      </pc:sldChg>
      <pc:sldChg chg="modSp mod ord">
        <pc:chgData name="joseph cuzzupoli" userId="f74ceb49df7bce8e" providerId="LiveId" clId="{8DCEEC77-03F5-4C94-9962-DE90AFC2C8DA}" dt="2024-09-14T03:07:49.488" v="9" actId="20577"/>
        <pc:sldMkLst>
          <pc:docMk/>
          <pc:sldMk cId="2212357279" sldId="281"/>
        </pc:sldMkLst>
        <pc:spChg chg="mod">
          <ac:chgData name="joseph cuzzupoli" userId="f74ceb49df7bce8e" providerId="LiveId" clId="{8DCEEC77-03F5-4C94-9962-DE90AFC2C8DA}" dt="2024-09-14T03:07:49.488" v="9" actId="20577"/>
          <ac:spMkLst>
            <pc:docMk/>
            <pc:sldMk cId="2212357279" sldId="281"/>
            <ac:spMk id="11" creationId="{312BDC9F-D3FE-EEA4-0DD7-18C3CDD68C57}"/>
          </ac:spMkLst>
        </pc:spChg>
      </pc:sldChg>
      <pc:sldChg chg="ord">
        <pc:chgData name="joseph cuzzupoli" userId="f74ceb49df7bce8e" providerId="LiveId" clId="{8DCEEC77-03F5-4C94-9962-DE90AFC2C8DA}" dt="2024-09-04T23:48:20.332" v="3"/>
        <pc:sldMkLst>
          <pc:docMk/>
          <pc:sldMk cId="928775179"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F743173-FE15-4D55-A576-17BE40C1019C}" type="datetimeFigureOut">
              <a:rPr lang="en-CA" smtClean="0"/>
              <a:t>2025-12-29</a:t>
            </a:fld>
            <a:endParaRPr lang="en-CA"/>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208A97E-CB71-4369-974C-BEBB5AF1ADE2}" type="slidenum">
              <a:rPr lang="en-CA" smtClean="0"/>
              <a:t>‹#›</a:t>
            </a:fld>
            <a:endParaRPr lang="en-CA"/>
          </a:p>
        </p:txBody>
      </p:sp>
    </p:spTree>
    <p:extLst>
      <p:ext uri="{BB962C8B-B14F-4D97-AF65-F5344CB8AC3E}">
        <p14:creationId xmlns:p14="http://schemas.microsoft.com/office/powerpoint/2010/main" val="1533852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2</a:t>
            </a:fld>
            <a:endParaRPr lang="en-CA"/>
          </a:p>
        </p:txBody>
      </p:sp>
    </p:spTree>
    <p:extLst>
      <p:ext uri="{BB962C8B-B14F-4D97-AF65-F5344CB8AC3E}">
        <p14:creationId xmlns:p14="http://schemas.microsoft.com/office/powerpoint/2010/main" val="3315320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3</a:t>
            </a:fld>
            <a:endParaRPr lang="en-CA"/>
          </a:p>
        </p:txBody>
      </p:sp>
    </p:spTree>
    <p:extLst>
      <p:ext uri="{BB962C8B-B14F-4D97-AF65-F5344CB8AC3E}">
        <p14:creationId xmlns:p14="http://schemas.microsoft.com/office/powerpoint/2010/main" val="656379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a:t>Changes in the input RF allow for varying efficiencies of the AOM, permitting  more/less light in the diffracted beam</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4</a:t>
            </a:fld>
            <a:endParaRPr lang="en-CA"/>
          </a:p>
        </p:txBody>
      </p:sp>
    </p:spTree>
    <p:extLst>
      <p:ext uri="{BB962C8B-B14F-4D97-AF65-F5344CB8AC3E}">
        <p14:creationId xmlns:p14="http://schemas.microsoft.com/office/powerpoint/2010/main" val="4120299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Show blocks to the particular pieces of the system you are explaining (like in the circuit diagram)</a:t>
            </a:r>
          </a:p>
          <a:p>
            <a:r>
              <a:rPr lang="en-CA"/>
              <a:t>Maybe show the signal at the photodiodes and how they are being stabilized</a:t>
            </a:r>
          </a:p>
          <a:p>
            <a:endParaRPr lang="en-CA"/>
          </a:p>
          <a:p>
            <a:r>
              <a:rPr lang="en-CA" err="1"/>
              <a:t>Aom’s</a:t>
            </a:r>
            <a:r>
              <a:rPr lang="en-CA"/>
              <a:t> operate on the 80MHz range and are thus sensitive to the noises produced in this range which can be acoustic noise from pumps or electronic noise in the AOM drivers or even walking causing table vibrations</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5</a:t>
            </a:fld>
            <a:endParaRPr lang="en-CA"/>
          </a:p>
        </p:txBody>
      </p:sp>
    </p:spTree>
    <p:extLst>
      <p:ext uri="{BB962C8B-B14F-4D97-AF65-F5344CB8AC3E}">
        <p14:creationId xmlns:p14="http://schemas.microsoft.com/office/powerpoint/2010/main" val="3388002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Show blocks to the particular pieces of the system you are explaining (like in the circuit diagram)</a:t>
            </a:r>
          </a:p>
          <a:p>
            <a:r>
              <a:rPr lang="en-CA"/>
              <a:t>Maybe show the signal at the photodiodes and how they are being stabilized</a:t>
            </a:r>
          </a:p>
          <a:p>
            <a:endParaRPr lang="en-CA"/>
          </a:p>
          <a:p>
            <a:r>
              <a:rPr lang="en-CA" err="1"/>
              <a:t>Aom’s</a:t>
            </a:r>
            <a:r>
              <a:rPr lang="en-CA"/>
              <a:t> operate on the 80MHz range and are thus sensitive to the noises produced in this range which can be acoustic noise from pumps or electronic noise in the AOM drivers or even walking causing table vibrations</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6</a:t>
            </a:fld>
            <a:endParaRPr lang="en-CA"/>
          </a:p>
        </p:txBody>
      </p:sp>
    </p:spTree>
    <p:extLst>
      <p:ext uri="{BB962C8B-B14F-4D97-AF65-F5344CB8AC3E}">
        <p14:creationId xmlns:p14="http://schemas.microsoft.com/office/powerpoint/2010/main" val="2848858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Show blocks to the particular pieces of the system you are explaining (like in the circuit diagram)</a:t>
            </a:r>
          </a:p>
          <a:p>
            <a:r>
              <a:rPr lang="en-CA"/>
              <a:t>Maybe show the signal at the photodiodes and how they are being stabilized</a:t>
            </a:r>
          </a:p>
          <a:p>
            <a:endParaRPr lang="en-CA"/>
          </a:p>
          <a:p>
            <a:r>
              <a:rPr lang="en-CA" err="1"/>
              <a:t>Aom’s</a:t>
            </a:r>
            <a:r>
              <a:rPr lang="en-CA"/>
              <a:t> operate on the 80MHz range and are thus sensitive to the noises produced in this range which can be acoustic noise from pumps or electronic noise in the AOM drivers or even walking causing table vibrations</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7</a:t>
            </a:fld>
            <a:endParaRPr lang="en-CA"/>
          </a:p>
        </p:txBody>
      </p:sp>
    </p:spTree>
    <p:extLst>
      <p:ext uri="{BB962C8B-B14F-4D97-AF65-F5344CB8AC3E}">
        <p14:creationId xmlns:p14="http://schemas.microsoft.com/office/powerpoint/2010/main" val="2260488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Show blocks to the particular pieces of the system you are explaining (like in the circuit diagram)</a:t>
            </a:r>
          </a:p>
          <a:p>
            <a:r>
              <a:rPr lang="en-CA"/>
              <a:t>Maybe show the signal at the photodiodes and how they are being stabilized</a:t>
            </a:r>
          </a:p>
          <a:p>
            <a:endParaRPr lang="en-CA"/>
          </a:p>
          <a:p>
            <a:r>
              <a:rPr lang="en-CA" err="1"/>
              <a:t>Aom’s</a:t>
            </a:r>
            <a:r>
              <a:rPr lang="en-CA"/>
              <a:t> operate on the 80MHz range and are thus sensitive to the noises produced in this range which can be acoustic noise from pumps or electronic noise in the AOM drivers or even walking causing table vibrations</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8</a:t>
            </a:fld>
            <a:endParaRPr lang="en-CA"/>
          </a:p>
        </p:txBody>
      </p:sp>
    </p:spTree>
    <p:extLst>
      <p:ext uri="{BB962C8B-B14F-4D97-AF65-F5344CB8AC3E}">
        <p14:creationId xmlns:p14="http://schemas.microsoft.com/office/powerpoint/2010/main" val="1673889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Show blocks to the particular pieces of the system you are explaining (like in the circuit diagram)</a:t>
            </a:r>
          </a:p>
          <a:p>
            <a:r>
              <a:rPr lang="en-CA"/>
              <a:t>Maybe show the signal at the photodiodes and how they are being stabilized</a:t>
            </a:r>
          </a:p>
          <a:p>
            <a:endParaRPr lang="en-CA"/>
          </a:p>
          <a:p>
            <a:r>
              <a:rPr lang="en-CA" err="1"/>
              <a:t>Aom’s</a:t>
            </a:r>
            <a:r>
              <a:rPr lang="en-CA"/>
              <a:t> operate on the 80MHz range and are thus sensitive to the noises produced in this range which can be acoustic noise from pumps or electronic noise in the AOM drivers or even walking causing table vibrations</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9</a:t>
            </a:fld>
            <a:endParaRPr lang="en-CA"/>
          </a:p>
        </p:txBody>
      </p:sp>
    </p:spTree>
    <p:extLst>
      <p:ext uri="{BB962C8B-B14F-4D97-AF65-F5344CB8AC3E}">
        <p14:creationId xmlns:p14="http://schemas.microsoft.com/office/powerpoint/2010/main" val="3822561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Show blocks to the particular pieces of the system you are explaining (like in the circuit diagram)</a:t>
            </a:r>
          </a:p>
          <a:p>
            <a:r>
              <a:rPr lang="en-CA"/>
              <a:t>Maybe show the signal at the photodiodes and how they are being stabilized</a:t>
            </a:r>
          </a:p>
          <a:p>
            <a:endParaRPr lang="en-CA"/>
          </a:p>
          <a:p>
            <a:r>
              <a:rPr lang="en-CA" err="1"/>
              <a:t>Aom’s</a:t>
            </a:r>
            <a:r>
              <a:rPr lang="en-CA"/>
              <a:t> operate on the 80MHz range and are thus sensitive to the noises produced in this range which can be acoustic noise from pumps or electronic noise in the AOM drivers or even walking causing table vibrations</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10</a:t>
            </a:fld>
            <a:endParaRPr lang="en-CA"/>
          </a:p>
        </p:txBody>
      </p:sp>
    </p:spTree>
    <p:extLst>
      <p:ext uri="{BB962C8B-B14F-4D97-AF65-F5344CB8AC3E}">
        <p14:creationId xmlns:p14="http://schemas.microsoft.com/office/powerpoint/2010/main" val="1161542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Animate each block to enter in as you explain them and find a way to explain the integrator (sort of like a lowpass filter that produces a correction signal at different time constant)</a:t>
            </a:r>
          </a:p>
          <a:p>
            <a:r>
              <a:rPr lang="en-CA"/>
              <a:t>Slide for analog circuit</a:t>
            </a:r>
          </a:p>
          <a:p>
            <a:r>
              <a:rPr lang="en-CA"/>
              <a:t>Slide for AOM background</a:t>
            </a:r>
          </a:p>
        </p:txBody>
      </p:sp>
      <p:sp>
        <p:nvSpPr>
          <p:cNvPr id="4" name="Slide Number Placeholder 3"/>
          <p:cNvSpPr>
            <a:spLocks noGrp="1"/>
          </p:cNvSpPr>
          <p:nvPr>
            <p:ph type="sldNum" sz="quarter" idx="5"/>
          </p:nvPr>
        </p:nvSpPr>
        <p:spPr/>
        <p:txBody>
          <a:bodyPr/>
          <a:lstStyle/>
          <a:p>
            <a:fld id="{4208A97E-CB71-4369-974C-BEBB5AF1ADE2}" type="slidenum">
              <a:rPr lang="en-CA" smtClean="0"/>
              <a:t>11</a:t>
            </a:fld>
            <a:endParaRPr lang="en-CA"/>
          </a:p>
        </p:txBody>
      </p:sp>
    </p:spTree>
    <p:extLst>
      <p:ext uri="{BB962C8B-B14F-4D97-AF65-F5344CB8AC3E}">
        <p14:creationId xmlns:p14="http://schemas.microsoft.com/office/powerpoint/2010/main" val="1879066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Animate each block to enter in as you explain them and find a way to explain the integrator (sort of like a lowpass filter that produces a correction signal at different time constant)</a:t>
            </a:r>
          </a:p>
          <a:p>
            <a:r>
              <a:rPr lang="en-CA"/>
              <a:t>Slide for analog circuit</a:t>
            </a:r>
          </a:p>
          <a:p>
            <a:r>
              <a:rPr lang="en-CA"/>
              <a:t>Slide for AOM background</a:t>
            </a:r>
          </a:p>
        </p:txBody>
      </p:sp>
      <p:sp>
        <p:nvSpPr>
          <p:cNvPr id="4" name="Slide Number Placeholder 3"/>
          <p:cNvSpPr>
            <a:spLocks noGrp="1"/>
          </p:cNvSpPr>
          <p:nvPr>
            <p:ph type="sldNum" sz="quarter" idx="5"/>
          </p:nvPr>
        </p:nvSpPr>
        <p:spPr/>
        <p:txBody>
          <a:bodyPr/>
          <a:lstStyle/>
          <a:p>
            <a:fld id="{4208A97E-CB71-4369-974C-BEBB5AF1ADE2}" type="slidenum">
              <a:rPr lang="en-CA" smtClean="0"/>
              <a:t>12</a:t>
            </a:fld>
            <a:endParaRPr lang="en-CA"/>
          </a:p>
        </p:txBody>
      </p:sp>
    </p:spTree>
    <p:extLst>
      <p:ext uri="{BB962C8B-B14F-4D97-AF65-F5344CB8AC3E}">
        <p14:creationId xmlns:p14="http://schemas.microsoft.com/office/powerpoint/2010/main" val="907233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Animate each block to enter in as you explain them and find a way to explain the integrator (sort of like a lowpass filter that produces a correction signal at different time constant)</a:t>
            </a:r>
          </a:p>
          <a:p>
            <a:r>
              <a:rPr lang="en-CA"/>
              <a:t>Slide for analog circuit</a:t>
            </a:r>
          </a:p>
          <a:p>
            <a:r>
              <a:rPr lang="en-CA"/>
              <a:t>Slide for AOM background</a:t>
            </a:r>
          </a:p>
        </p:txBody>
      </p:sp>
      <p:sp>
        <p:nvSpPr>
          <p:cNvPr id="4" name="Slide Number Placeholder 3"/>
          <p:cNvSpPr>
            <a:spLocks noGrp="1"/>
          </p:cNvSpPr>
          <p:nvPr>
            <p:ph type="sldNum" sz="quarter" idx="5"/>
          </p:nvPr>
        </p:nvSpPr>
        <p:spPr/>
        <p:txBody>
          <a:bodyPr/>
          <a:lstStyle/>
          <a:p>
            <a:fld id="{4208A97E-CB71-4369-974C-BEBB5AF1ADE2}" type="slidenum">
              <a:rPr lang="en-CA" smtClean="0"/>
              <a:t>13</a:t>
            </a:fld>
            <a:endParaRPr lang="en-CA"/>
          </a:p>
        </p:txBody>
      </p:sp>
    </p:spTree>
    <p:extLst>
      <p:ext uri="{BB962C8B-B14F-4D97-AF65-F5344CB8AC3E}">
        <p14:creationId xmlns:p14="http://schemas.microsoft.com/office/powerpoint/2010/main" val="1411593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Animate each block to enter in as you explain them and find a way to explain the integrator (sort of like a lowpass filter that produces a correction signal at different time constant)</a:t>
            </a:r>
          </a:p>
          <a:p>
            <a:r>
              <a:rPr lang="en-CA"/>
              <a:t>Slide for analog circuit</a:t>
            </a:r>
          </a:p>
          <a:p>
            <a:r>
              <a:rPr lang="en-CA"/>
              <a:t>Slide for AOM background</a:t>
            </a:r>
          </a:p>
        </p:txBody>
      </p:sp>
      <p:sp>
        <p:nvSpPr>
          <p:cNvPr id="4" name="Slide Number Placeholder 3"/>
          <p:cNvSpPr>
            <a:spLocks noGrp="1"/>
          </p:cNvSpPr>
          <p:nvPr>
            <p:ph type="sldNum" sz="quarter" idx="5"/>
          </p:nvPr>
        </p:nvSpPr>
        <p:spPr/>
        <p:txBody>
          <a:bodyPr/>
          <a:lstStyle/>
          <a:p>
            <a:fld id="{4208A97E-CB71-4369-974C-BEBB5AF1ADE2}" type="slidenum">
              <a:rPr lang="en-CA" smtClean="0"/>
              <a:t>14</a:t>
            </a:fld>
            <a:endParaRPr lang="en-CA"/>
          </a:p>
        </p:txBody>
      </p:sp>
    </p:spTree>
    <p:extLst>
      <p:ext uri="{BB962C8B-B14F-4D97-AF65-F5344CB8AC3E}">
        <p14:creationId xmlns:p14="http://schemas.microsoft.com/office/powerpoint/2010/main" val="2764728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Animate each block to enter in as you explain them and find a way to explain the integrator (sort of like a lowpass filter that produces a correction signal at different time constant)</a:t>
            </a:r>
          </a:p>
          <a:p>
            <a:r>
              <a:rPr lang="en-CA"/>
              <a:t>Slide for analog circuit</a:t>
            </a:r>
          </a:p>
          <a:p>
            <a:r>
              <a:rPr lang="en-CA"/>
              <a:t>Slide for AOM background</a:t>
            </a:r>
          </a:p>
        </p:txBody>
      </p:sp>
      <p:sp>
        <p:nvSpPr>
          <p:cNvPr id="4" name="Slide Number Placeholder 3"/>
          <p:cNvSpPr>
            <a:spLocks noGrp="1"/>
          </p:cNvSpPr>
          <p:nvPr>
            <p:ph type="sldNum" sz="quarter" idx="5"/>
          </p:nvPr>
        </p:nvSpPr>
        <p:spPr/>
        <p:txBody>
          <a:bodyPr/>
          <a:lstStyle/>
          <a:p>
            <a:fld id="{4208A97E-CB71-4369-974C-BEBB5AF1ADE2}" type="slidenum">
              <a:rPr lang="en-CA" smtClean="0"/>
              <a:t>15</a:t>
            </a:fld>
            <a:endParaRPr lang="en-CA"/>
          </a:p>
        </p:txBody>
      </p:sp>
    </p:spTree>
    <p:extLst>
      <p:ext uri="{BB962C8B-B14F-4D97-AF65-F5344CB8AC3E}">
        <p14:creationId xmlns:p14="http://schemas.microsoft.com/office/powerpoint/2010/main" val="16048352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Maybe don’t need both PD’s being show and simply assert them to be the same </a:t>
            </a:r>
          </a:p>
        </p:txBody>
      </p:sp>
      <p:sp>
        <p:nvSpPr>
          <p:cNvPr id="4" name="Slide Number Placeholder 3"/>
          <p:cNvSpPr>
            <a:spLocks noGrp="1"/>
          </p:cNvSpPr>
          <p:nvPr>
            <p:ph type="sldNum" sz="quarter" idx="5"/>
          </p:nvPr>
        </p:nvSpPr>
        <p:spPr/>
        <p:txBody>
          <a:bodyPr/>
          <a:lstStyle/>
          <a:p>
            <a:fld id="{4208A97E-CB71-4369-974C-BEBB5AF1ADE2}" type="slidenum">
              <a:rPr lang="en-CA" smtClean="0"/>
              <a:t>16</a:t>
            </a:fld>
            <a:endParaRPr lang="en-CA"/>
          </a:p>
        </p:txBody>
      </p:sp>
    </p:spTree>
    <p:extLst>
      <p:ext uri="{BB962C8B-B14F-4D97-AF65-F5344CB8AC3E}">
        <p14:creationId xmlns:p14="http://schemas.microsoft.com/office/powerpoint/2010/main" val="3175377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Reference back to the signal plots for the Gaussians and mention the intensity stabilization parameter earlier on</a:t>
            </a:r>
          </a:p>
          <a:p>
            <a:r>
              <a:rPr lang="en-CA"/>
              <a:t>Make labels bigger, legend better and change symbols</a:t>
            </a:r>
          </a:p>
          <a:p>
            <a:r>
              <a:rPr lang="en-CA"/>
              <a:t>Label sig1 and sig2 on curve</a:t>
            </a:r>
          </a:p>
          <a:p>
            <a:r>
              <a:rPr lang="en-CA"/>
              <a:t>Acoustic from pumps and such…</a:t>
            </a:r>
          </a:p>
        </p:txBody>
      </p:sp>
      <p:sp>
        <p:nvSpPr>
          <p:cNvPr id="4" name="Slide Number Placeholder 3"/>
          <p:cNvSpPr>
            <a:spLocks noGrp="1"/>
          </p:cNvSpPr>
          <p:nvPr>
            <p:ph type="sldNum" sz="quarter" idx="5"/>
          </p:nvPr>
        </p:nvSpPr>
        <p:spPr/>
        <p:txBody>
          <a:bodyPr/>
          <a:lstStyle/>
          <a:p>
            <a:fld id="{4208A97E-CB71-4369-974C-BEBB5AF1ADE2}" type="slidenum">
              <a:rPr lang="en-CA" smtClean="0"/>
              <a:t>17</a:t>
            </a:fld>
            <a:endParaRPr lang="en-CA"/>
          </a:p>
        </p:txBody>
      </p:sp>
    </p:spTree>
    <p:extLst>
      <p:ext uri="{BB962C8B-B14F-4D97-AF65-F5344CB8AC3E}">
        <p14:creationId xmlns:p14="http://schemas.microsoft.com/office/powerpoint/2010/main" val="2126800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Do without the part diagram for the switch and </a:t>
            </a:r>
            <a:r>
              <a:rPr lang="en-CA" err="1"/>
              <a:t>add..WHAT</a:t>
            </a:r>
            <a:r>
              <a:rPr lang="en-CA"/>
              <a:t> DO I ADD??? </a:t>
            </a:r>
          </a:p>
          <a:p>
            <a:r>
              <a:rPr lang="en-CA"/>
              <a:t>Label the pulse and part where </a:t>
            </a:r>
            <a:r>
              <a:rPr lang="en-CA" err="1"/>
              <a:t>fdbk</a:t>
            </a:r>
            <a:r>
              <a:rPr lang="en-CA"/>
              <a:t> is on/off(hi/low)</a:t>
            </a:r>
          </a:p>
          <a:p>
            <a:r>
              <a:rPr lang="en-CA"/>
              <a:t>Label the TTL input in the circuit diagram</a:t>
            </a:r>
          </a:p>
        </p:txBody>
      </p:sp>
      <p:sp>
        <p:nvSpPr>
          <p:cNvPr id="4" name="Slide Number Placeholder 3"/>
          <p:cNvSpPr>
            <a:spLocks noGrp="1"/>
          </p:cNvSpPr>
          <p:nvPr>
            <p:ph type="sldNum" sz="quarter" idx="5"/>
          </p:nvPr>
        </p:nvSpPr>
        <p:spPr/>
        <p:txBody>
          <a:bodyPr/>
          <a:lstStyle/>
          <a:p>
            <a:fld id="{4208A97E-CB71-4369-974C-BEBB5AF1ADE2}" type="slidenum">
              <a:rPr lang="en-CA" smtClean="0"/>
              <a:t>19</a:t>
            </a:fld>
            <a:endParaRPr lang="en-CA"/>
          </a:p>
        </p:txBody>
      </p:sp>
    </p:spTree>
    <p:extLst>
      <p:ext uri="{BB962C8B-B14F-4D97-AF65-F5344CB8AC3E}">
        <p14:creationId xmlns:p14="http://schemas.microsoft.com/office/powerpoint/2010/main" val="27563622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Tx/>
              <a:buChar char="-"/>
            </a:pPr>
            <a:r>
              <a:rPr lang="en-US" sz="1200" dirty="0"/>
              <a:t>STABILIZE on HI</a:t>
            </a:r>
          </a:p>
          <a:p>
            <a:pPr marL="342900" indent="-342900">
              <a:buFontTx/>
              <a:buChar char="-"/>
            </a:pPr>
            <a:endParaRPr lang="en-US" sz="1200" dirty="0"/>
          </a:p>
          <a:p>
            <a:pPr marL="342900" indent="-342900">
              <a:buFontTx/>
              <a:buChar char="-"/>
            </a:pPr>
            <a:r>
              <a:rPr lang="en-US" sz="1200" dirty="0"/>
              <a:t>When the light turns off, there is no longer intensity noise to stabilize</a:t>
            </a:r>
          </a:p>
          <a:p>
            <a:pPr marL="342900" indent="-342900">
              <a:buFontTx/>
              <a:buChar char="-"/>
            </a:pPr>
            <a:endParaRPr lang="en-US" sz="1200" dirty="0"/>
          </a:p>
          <a:p>
            <a:pPr marL="342900" indent="-342900">
              <a:buFontTx/>
              <a:buChar char="-"/>
            </a:pPr>
            <a:r>
              <a:rPr lang="en-US" sz="1200" dirty="0"/>
              <a:t>To avoid voltage spike, a sample and hold can turn on/off feedback coinciding with light/dark phases</a:t>
            </a:r>
          </a:p>
        </p:txBody>
      </p:sp>
      <p:sp>
        <p:nvSpPr>
          <p:cNvPr id="4" name="Slide Number Placeholder 3"/>
          <p:cNvSpPr>
            <a:spLocks noGrp="1"/>
          </p:cNvSpPr>
          <p:nvPr>
            <p:ph type="sldNum" sz="quarter" idx="5"/>
          </p:nvPr>
        </p:nvSpPr>
        <p:spPr/>
        <p:txBody>
          <a:bodyPr/>
          <a:lstStyle/>
          <a:p>
            <a:fld id="{4208A97E-CB71-4369-974C-BEBB5AF1ADE2}" type="slidenum">
              <a:rPr lang="en-CA" smtClean="0"/>
              <a:t>20</a:t>
            </a:fld>
            <a:endParaRPr lang="en-CA"/>
          </a:p>
        </p:txBody>
      </p:sp>
    </p:spTree>
    <p:extLst>
      <p:ext uri="{BB962C8B-B14F-4D97-AF65-F5344CB8AC3E}">
        <p14:creationId xmlns:p14="http://schemas.microsoft.com/office/powerpoint/2010/main" val="17012868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Eliminate the orange and green </a:t>
            </a:r>
          </a:p>
        </p:txBody>
      </p:sp>
      <p:sp>
        <p:nvSpPr>
          <p:cNvPr id="4" name="Slide Number Placeholder 3"/>
          <p:cNvSpPr>
            <a:spLocks noGrp="1"/>
          </p:cNvSpPr>
          <p:nvPr>
            <p:ph type="sldNum" sz="quarter" idx="5"/>
          </p:nvPr>
        </p:nvSpPr>
        <p:spPr/>
        <p:txBody>
          <a:bodyPr/>
          <a:lstStyle/>
          <a:p>
            <a:fld id="{4208A97E-CB71-4369-974C-BEBB5AF1ADE2}" type="slidenum">
              <a:rPr lang="en-CA" smtClean="0"/>
              <a:t>21</a:t>
            </a:fld>
            <a:endParaRPr lang="en-CA"/>
          </a:p>
        </p:txBody>
      </p:sp>
    </p:spTree>
    <p:extLst>
      <p:ext uri="{BB962C8B-B14F-4D97-AF65-F5344CB8AC3E}">
        <p14:creationId xmlns:p14="http://schemas.microsoft.com/office/powerpoint/2010/main" val="29740502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Less </a:t>
            </a:r>
            <a:r>
              <a:rPr lang="en-CA" dirty="0" err="1"/>
              <a:t>sig.figs</a:t>
            </a:r>
            <a:r>
              <a:rPr lang="en-CA" dirty="0"/>
              <a:t>.</a:t>
            </a:r>
          </a:p>
          <a:p>
            <a:r>
              <a:rPr lang="en-CA" dirty="0"/>
              <a:t>Every other measurement point</a:t>
            </a:r>
          </a:p>
        </p:txBody>
      </p:sp>
      <p:sp>
        <p:nvSpPr>
          <p:cNvPr id="4" name="Slide Number Placeholder 3"/>
          <p:cNvSpPr>
            <a:spLocks noGrp="1"/>
          </p:cNvSpPr>
          <p:nvPr>
            <p:ph type="sldNum" sz="quarter" idx="5"/>
          </p:nvPr>
        </p:nvSpPr>
        <p:spPr/>
        <p:txBody>
          <a:bodyPr/>
          <a:lstStyle/>
          <a:p>
            <a:fld id="{4208A97E-CB71-4369-974C-BEBB5AF1ADE2}" type="slidenum">
              <a:rPr lang="en-CA" smtClean="0"/>
              <a:t>22</a:t>
            </a:fld>
            <a:endParaRPr lang="en-CA"/>
          </a:p>
        </p:txBody>
      </p:sp>
    </p:spTree>
    <p:extLst>
      <p:ext uri="{BB962C8B-B14F-4D97-AF65-F5344CB8AC3E}">
        <p14:creationId xmlns:p14="http://schemas.microsoft.com/office/powerpoint/2010/main" val="21862271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208A97E-CB71-4369-974C-BEBB5AF1ADE2}" type="slidenum">
              <a:rPr lang="en-CA" smtClean="0"/>
              <a:t>23</a:t>
            </a:fld>
            <a:endParaRPr lang="en-CA"/>
          </a:p>
        </p:txBody>
      </p:sp>
    </p:spTree>
    <p:extLst>
      <p:ext uri="{BB962C8B-B14F-4D97-AF65-F5344CB8AC3E}">
        <p14:creationId xmlns:p14="http://schemas.microsoft.com/office/powerpoint/2010/main" val="3201668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Mark the green with sample – mark red with holding</a:t>
            </a:r>
          </a:p>
          <a:p>
            <a:r>
              <a:rPr lang="en-CA" dirty="0"/>
              <a:t>Move legend over</a:t>
            </a:r>
          </a:p>
          <a:p>
            <a:r>
              <a:rPr lang="en-CA" dirty="0"/>
              <a:t>Remove the writing on the plots</a:t>
            </a:r>
          </a:p>
        </p:txBody>
      </p:sp>
      <p:sp>
        <p:nvSpPr>
          <p:cNvPr id="4" name="Slide Number Placeholder 3"/>
          <p:cNvSpPr>
            <a:spLocks noGrp="1"/>
          </p:cNvSpPr>
          <p:nvPr>
            <p:ph type="sldNum" sz="quarter" idx="5"/>
          </p:nvPr>
        </p:nvSpPr>
        <p:spPr/>
        <p:txBody>
          <a:bodyPr/>
          <a:lstStyle/>
          <a:p>
            <a:fld id="{4208A97E-CB71-4369-974C-BEBB5AF1ADE2}" type="slidenum">
              <a:rPr lang="en-CA" smtClean="0"/>
              <a:t>24</a:t>
            </a:fld>
            <a:endParaRPr lang="en-CA"/>
          </a:p>
        </p:txBody>
      </p:sp>
    </p:spTree>
    <p:extLst>
      <p:ext uri="{BB962C8B-B14F-4D97-AF65-F5344CB8AC3E}">
        <p14:creationId xmlns:p14="http://schemas.microsoft.com/office/powerpoint/2010/main" val="31380603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Circuit works in pulsed and </a:t>
            </a:r>
            <a:r>
              <a:rPr lang="en-CA" err="1"/>
              <a:t>Cw</a:t>
            </a:r>
            <a:r>
              <a:rPr lang="en-CA"/>
              <a:t> modes</a:t>
            </a:r>
          </a:p>
          <a:p>
            <a:r>
              <a:rPr lang="en-CA"/>
              <a:t>Established time constants as small as ___ from stabilized to </a:t>
            </a:r>
            <a:r>
              <a:rPr lang="en-CA" err="1"/>
              <a:t>unstblized</a:t>
            </a:r>
            <a:r>
              <a:rPr lang="en-CA"/>
              <a:t> </a:t>
            </a:r>
          </a:p>
          <a:p>
            <a:r>
              <a:rPr lang="en-CA"/>
              <a:t>We plan to apply this experiment to atom trapping </a:t>
            </a:r>
            <a:r>
              <a:rPr lang="en-CA" err="1"/>
              <a:t>experiemtns</a:t>
            </a:r>
            <a:r>
              <a:rPr lang="en-CA"/>
              <a:t> and see results from improved stability </a:t>
            </a:r>
          </a:p>
          <a:p>
            <a:r>
              <a:rPr lang="en-CA"/>
              <a:t>Effect on temperature and number of atoms in the trap </a:t>
            </a:r>
          </a:p>
        </p:txBody>
      </p:sp>
      <p:sp>
        <p:nvSpPr>
          <p:cNvPr id="4" name="Slide Number Placeholder 3"/>
          <p:cNvSpPr>
            <a:spLocks noGrp="1"/>
          </p:cNvSpPr>
          <p:nvPr>
            <p:ph type="sldNum" sz="quarter" idx="5"/>
          </p:nvPr>
        </p:nvSpPr>
        <p:spPr/>
        <p:txBody>
          <a:bodyPr/>
          <a:lstStyle/>
          <a:p>
            <a:fld id="{4208A97E-CB71-4369-974C-BEBB5AF1ADE2}" type="slidenum">
              <a:rPr lang="en-CA" smtClean="0"/>
              <a:t>25</a:t>
            </a:fld>
            <a:endParaRPr lang="en-CA"/>
          </a:p>
        </p:txBody>
      </p:sp>
    </p:spTree>
    <p:extLst>
      <p:ext uri="{BB962C8B-B14F-4D97-AF65-F5344CB8AC3E}">
        <p14:creationId xmlns:p14="http://schemas.microsoft.com/office/powerpoint/2010/main" val="41590748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Error bars underneath the point (very small)</a:t>
            </a:r>
          </a:p>
        </p:txBody>
      </p:sp>
      <p:sp>
        <p:nvSpPr>
          <p:cNvPr id="4" name="Slide Number Placeholder 3"/>
          <p:cNvSpPr>
            <a:spLocks noGrp="1"/>
          </p:cNvSpPr>
          <p:nvPr>
            <p:ph type="sldNum" sz="quarter" idx="5"/>
          </p:nvPr>
        </p:nvSpPr>
        <p:spPr/>
        <p:txBody>
          <a:bodyPr/>
          <a:lstStyle/>
          <a:p>
            <a:fld id="{4208A97E-CB71-4369-974C-BEBB5AF1ADE2}" type="slidenum">
              <a:rPr lang="en-CA" smtClean="0"/>
              <a:t>27</a:t>
            </a:fld>
            <a:endParaRPr lang="en-CA"/>
          </a:p>
        </p:txBody>
      </p:sp>
    </p:spTree>
    <p:extLst>
      <p:ext uri="{BB962C8B-B14F-4D97-AF65-F5344CB8AC3E}">
        <p14:creationId xmlns:p14="http://schemas.microsoft.com/office/powerpoint/2010/main" val="30205704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a:p>
            <a:endParaRPr lang="en-CA"/>
          </a:p>
          <a:p>
            <a:r>
              <a:rPr lang="en-CA"/>
              <a:t>Show baseline for the portion that is stabilized (show last bit of the stabilized plot and show it on the time constant plot)</a:t>
            </a:r>
          </a:p>
          <a:p>
            <a:r>
              <a:rPr lang="en-CA"/>
              <a:t>Transition </a:t>
            </a:r>
            <a:r>
              <a:rPr lang="en-CA" err="1"/>
              <a:t>stabble</a:t>
            </a:r>
            <a:r>
              <a:rPr lang="en-CA"/>
              <a:t> _&gt; unstable</a:t>
            </a:r>
          </a:p>
          <a:p>
            <a:r>
              <a:rPr lang="en-CA"/>
              <a:t>Max Instability time &lt; fastest correction time</a:t>
            </a:r>
          </a:p>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28</a:t>
            </a:fld>
            <a:endParaRPr lang="en-CA"/>
          </a:p>
        </p:txBody>
      </p:sp>
    </p:spTree>
    <p:extLst>
      <p:ext uri="{BB962C8B-B14F-4D97-AF65-F5344CB8AC3E}">
        <p14:creationId xmlns:p14="http://schemas.microsoft.com/office/powerpoint/2010/main" val="41293220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208A97E-CB71-4369-974C-BEBB5AF1ADE2}" type="slidenum">
              <a:rPr lang="en-CA" smtClean="0"/>
              <a:t>29</a:t>
            </a:fld>
            <a:endParaRPr lang="en-CA"/>
          </a:p>
        </p:txBody>
      </p:sp>
    </p:spTree>
    <p:extLst>
      <p:ext uri="{BB962C8B-B14F-4D97-AF65-F5344CB8AC3E}">
        <p14:creationId xmlns:p14="http://schemas.microsoft.com/office/powerpoint/2010/main" val="40289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Maybe swap this instead of the part picture to motivate the need of the S&amp;H module</a:t>
            </a:r>
          </a:p>
          <a:p>
            <a:r>
              <a:rPr lang="en-CA"/>
              <a:t>Push this </a:t>
            </a:r>
          </a:p>
          <a:p>
            <a:r>
              <a:rPr lang="en-CA"/>
              <a:t>Show </a:t>
            </a:r>
            <a:r>
              <a:rPr lang="en-CA" err="1"/>
              <a:t>ttl</a:t>
            </a:r>
            <a:r>
              <a:rPr lang="en-CA"/>
              <a:t> pulse, effective window and show the signal in the effective window with and without the feedback</a:t>
            </a:r>
          </a:p>
          <a:p>
            <a:r>
              <a:rPr lang="en-CA"/>
              <a:t>Show whether you are holding on high/low</a:t>
            </a:r>
          </a:p>
          <a:p>
            <a:r>
              <a:rPr lang="en-CA"/>
              <a:t>Axis labels bigger, number on axis bigger, etc.</a:t>
            </a:r>
          </a:p>
        </p:txBody>
      </p:sp>
      <p:sp>
        <p:nvSpPr>
          <p:cNvPr id="4" name="Slide Number Placeholder 3"/>
          <p:cNvSpPr>
            <a:spLocks noGrp="1"/>
          </p:cNvSpPr>
          <p:nvPr>
            <p:ph type="sldNum" sz="quarter" idx="5"/>
          </p:nvPr>
        </p:nvSpPr>
        <p:spPr/>
        <p:txBody>
          <a:bodyPr/>
          <a:lstStyle/>
          <a:p>
            <a:fld id="{4208A97E-CB71-4369-974C-BEBB5AF1ADE2}" type="slidenum">
              <a:rPr lang="en-CA" smtClean="0"/>
              <a:t>30</a:t>
            </a:fld>
            <a:endParaRPr lang="en-CA"/>
          </a:p>
        </p:txBody>
      </p:sp>
    </p:spTree>
    <p:extLst>
      <p:ext uri="{BB962C8B-B14F-4D97-AF65-F5344CB8AC3E}">
        <p14:creationId xmlns:p14="http://schemas.microsoft.com/office/powerpoint/2010/main" val="36474593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208A97E-CB71-4369-974C-BEBB5AF1ADE2}" type="slidenum">
              <a:rPr lang="en-CA" smtClean="0"/>
              <a:t>31</a:t>
            </a:fld>
            <a:endParaRPr lang="en-CA"/>
          </a:p>
        </p:txBody>
      </p:sp>
    </p:spTree>
    <p:extLst>
      <p:ext uri="{BB962C8B-B14F-4D97-AF65-F5344CB8AC3E}">
        <p14:creationId xmlns:p14="http://schemas.microsoft.com/office/powerpoint/2010/main" val="902840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600" b="0" i="0">
                <a:solidFill>
                  <a:srgbClr val="D1282E"/>
                </a:solidFill>
                <a:latin typeface="Arial Black"/>
                <a:cs typeface="Arial Black"/>
              </a:defRPr>
            </a:lvl1pPr>
          </a:lstStyle>
          <a:p>
            <a:r>
              <a:rPr lang="en-US"/>
              <a:t>Click to edit Master title style</a:t>
            </a:r>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000" b="1" i="0">
                <a:solidFill>
                  <a:schemeClr val="tx1"/>
                </a:solidFill>
                <a:latin typeface="Arial"/>
                <a:cs typeface="Arial"/>
              </a:defRPr>
            </a:lvl1pPr>
          </a:lstStyle>
          <a:p>
            <a:r>
              <a:rPr lang="en-US"/>
              <a:t>Click to edit Master subtitle style</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D1282E"/>
                </a:solidFill>
                <a:latin typeface="Arial Black"/>
                <a:cs typeface="Arial Black"/>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sz="2000" b="1" i="0">
                <a:solidFill>
                  <a:schemeClr val="tx1"/>
                </a:solidFill>
                <a:latin typeface="Arial"/>
                <a:cs typeface="Arial"/>
              </a:defRPr>
            </a:lvl1pPr>
          </a:lstStyle>
          <a:p>
            <a:pPr lvl="0"/>
            <a:r>
              <a:rPr lang="en-US"/>
              <a:t>Click to edit Master text styles</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D1282E"/>
                </a:solidFill>
                <a:latin typeface="Arial Black"/>
                <a:cs typeface="Arial Black"/>
              </a:defRPr>
            </a:lvl1pPr>
          </a:lstStyle>
          <a:p>
            <a:r>
              <a:rPr lang="en-US"/>
              <a:t>Click to edit Master title style</a:t>
            </a:r>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pPr lvl="0"/>
            <a:r>
              <a:rPr lang="en-US"/>
              <a:t>Click to edit Master text styles</a:t>
            </a: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pPr lvl="0"/>
            <a:r>
              <a:rPr lang="en-US"/>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D1282E"/>
                </a:solidFill>
                <a:latin typeface="Arial Black"/>
                <a:cs typeface="Arial Black"/>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001122" y="1"/>
            <a:ext cx="142875" cy="1371600"/>
          </a:xfrm>
          <a:custGeom>
            <a:avLst/>
            <a:gdLst/>
            <a:ahLst/>
            <a:cxnLst/>
            <a:rect l="l" t="t" r="r" b="b"/>
            <a:pathLst>
              <a:path w="142875" h="1371600">
                <a:moveTo>
                  <a:pt x="142876" y="0"/>
                </a:moveTo>
                <a:lnTo>
                  <a:pt x="0" y="0"/>
                </a:lnTo>
                <a:lnTo>
                  <a:pt x="0" y="1371598"/>
                </a:lnTo>
                <a:lnTo>
                  <a:pt x="142876" y="1371598"/>
                </a:lnTo>
                <a:lnTo>
                  <a:pt x="142876" y="0"/>
                </a:lnTo>
                <a:close/>
              </a:path>
            </a:pathLst>
          </a:custGeom>
          <a:solidFill>
            <a:srgbClr val="DC3E3C"/>
          </a:solidFill>
        </p:spPr>
        <p:txBody>
          <a:bodyPr wrap="square" lIns="0" tIns="0" rIns="0" bIns="0" rtlCol="0"/>
          <a:lstStyle/>
          <a:p>
            <a:endParaRPr/>
          </a:p>
        </p:txBody>
      </p:sp>
      <p:sp>
        <p:nvSpPr>
          <p:cNvPr id="17" name="bg object 17"/>
          <p:cNvSpPr/>
          <p:nvPr/>
        </p:nvSpPr>
        <p:spPr>
          <a:xfrm>
            <a:off x="9001122" y="1371601"/>
            <a:ext cx="142875" cy="5486400"/>
          </a:xfrm>
          <a:custGeom>
            <a:avLst/>
            <a:gdLst/>
            <a:ahLst/>
            <a:cxnLst/>
            <a:rect l="l" t="t" r="r" b="b"/>
            <a:pathLst>
              <a:path w="142875" h="5486400">
                <a:moveTo>
                  <a:pt x="142876" y="0"/>
                </a:moveTo>
                <a:lnTo>
                  <a:pt x="0" y="0"/>
                </a:lnTo>
                <a:lnTo>
                  <a:pt x="0" y="5486398"/>
                </a:lnTo>
                <a:lnTo>
                  <a:pt x="142876" y="5486398"/>
                </a:lnTo>
                <a:lnTo>
                  <a:pt x="142876" y="0"/>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a:xfrm>
            <a:off x="274213" y="224108"/>
            <a:ext cx="7098030" cy="939800"/>
          </a:xfrm>
          <a:prstGeom prst="rect">
            <a:avLst/>
          </a:prstGeom>
        </p:spPr>
        <p:txBody>
          <a:bodyPr wrap="square" lIns="0" tIns="0" rIns="0" bIns="0">
            <a:spAutoFit/>
          </a:bodyPr>
          <a:lstStyle>
            <a:lvl1pPr>
              <a:defRPr sz="3600" b="0" i="0">
                <a:solidFill>
                  <a:srgbClr val="D1282E"/>
                </a:solidFill>
                <a:latin typeface="Arial Black"/>
                <a:cs typeface="Arial Black"/>
              </a:defRPr>
            </a:lvl1pPr>
          </a:lstStyle>
          <a:p>
            <a:endParaRPr/>
          </a:p>
        </p:txBody>
      </p:sp>
      <p:sp>
        <p:nvSpPr>
          <p:cNvPr id="3" name="Holder 3"/>
          <p:cNvSpPr>
            <a:spLocks noGrp="1"/>
          </p:cNvSpPr>
          <p:nvPr>
            <p:ph type="body" idx="1"/>
          </p:nvPr>
        </p:nvSpPr>
        <p:spPr>
          <a:xfrm>
            <a:off x="298068" y="1378317"/>
            <a:ext cx="8110855" cy="4241800"/>
          </a:xfrm>
          <a:prstGeom prst="rect">
            <a:avLst/>
          </a:prstGeom>
        </p:spPr>
        <p:txBody>
          <a:bodyPr wrap="square" lIns="0" tIns="0" rIns="0" bIns="0">
            <a:spAutoFit/>
          </a:bodyPr>
          <a:lstStyle>
            <a:lvl1pPr>
              <a:defRPr sz="2000" b="1"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12/29/2025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jpeg"/><Relationship Id="rId5"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jpe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png"/><Relationship Id="rId7"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9.jpe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26.jpe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0.jpeg"/><Relationship Id="rId5" Type="http://schemas.openxmlformats.org/officeDocument/2006/relationships/image" Target="../media/image28.jpe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2.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2.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36.png"/><Relationship Id="rId4" Type="http://schemas.openxmlformats.org/officeDocument/2006/relationships/image" Target="../media/image300.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90.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jpe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001122" y="1"/>
            <a:ext cx="142875" cy="6858000"/>
            <a:chOff x="9001122" y="1"/>
            <a:chExt cx="142875" cy="6858000"/>
          </a:xfrm>
        </p:grpSpPr>
        <p:sp>
          <p:nvSpPr>
            <p:cNvPr id="3" name="object 3"/>
            <p:cNvSpPr/>
            <p:nvPr/>
          </p:nvSpPr>
          <p:spPr>
            <a:xfrm>
              <a:off x="9001122" y="4846320"/>
              <a:ext cx="142875" cy="2011680"/>
            </a:xfrm>
            <a:custGeom>
              <a:avLst/>
              <a:gdLst/>
              <a:ahLst/>
              <a:cxnLst/>
              <a:rect l="l" t="t" r="r" b="b"/>
              <a:pathLst>
                <a:path w="142875" h="2011679">
                  <a:moveTo>
                    <a:pt x="142876" y="0"/>
                  </a:moveTo>
                  <a:lnTo>
                    <a:pt x="0" y="0"/>
                  </a:lnTo>
                  <a:lnTo>
                    <a:pt x="0" y="2011679"/>
                  </a:lnTo>
                  <a:lnTo>
                    <a:pt x="142876" y="2011679"/>
                  </a:lnTo>
                  <a:lnTo>
                    <a:pt x="142876" y="0"/>
                  </a:lnTo>
                  <a:close/>
                </a:path>
              </a:pathLst>
            </a:custGeom>
            <a:solidFill>
              <a:srgbClr val="DC3E3C"/>
            </a:solidFill>
          </p:spPr>
          <p:txBody>
            <a:bodyPr wrap="square" lIns="0" tIns="0" rIns="0" bIns="0" rtlCol="0"/>
            <a:lstStyle/>
            <a:p>
              <a:endParaRPr/>
            </a:p>
          </p:txBody>
        </p:sp>
        <p:sp>
          <p:nvSpPr>
            <p:cNvPr id="4" name="object 4"/>
            <p:cNvSpPr/>
            <p:nvPr/>
          </p:nvSpPr>
          <p:spPr>
            <a:xfrm>
              <a:off x="9001122" y="1"/>
              <a:ext cx="142875" cy="4846320"/>
            </a:xfrm>
            <a:custGeom>
              <a:avLst/>
              <a:gdLst/>
              <a:ahLst/>
              <a:cxnLst/>
              <a:rect l="l" t="t" r="r" b="b"/>
              <a:pathLst>
                <a:path w="142875" h="4846320">
                  <a:moveTo>
                    <a:pt x="142876" y="0"/>
                  </a:moveTo>
                  <a:lnTo>
                    <a:pt x="0" y="0"/>
                  </a:lnTo>
                  <a:lnTo>
                    <a:pt x="0" y="4846318"/>
                  </a:lnTo>
                  <a:lnTo>
                    <a:pt x="142876" y="4846318"/>
                  </a:lnTo>
                  <a:lnTo>
                    <a:pt x="142876" y="0"/>
                  </a:lnTo>
                  <a:close/>
                </a:path>
              </a:pathLst>
            </a:custGeom>
            <a:solidFill>
              <a:srgbClr val="000000"/>
            </a:solidFill>
          </p:spPr>
          <p:txBody>
            <a:bodyPr wrap="square" lIns="0" tIns="0" rIns="0" bIns="0" rtlCol="0"/>
            <a:lstStyle/>
            <a:p>
              <a:endParaRPr/>
            </a:p>
          </p:txBody>
        </p:sp>
      </p:grpSp>
      <p:sp>
        <p:nvSpPr>
          <p:cNvPr id="5" name="object 5"/>
          <p:cNvSpPr txBox="1">
            <a:spLocks noGrp="1"/>
          </p:cNvSpPr>
          <p:nvPr>
            <p:ph type="title"/>
          </p:nvPr>
        </p:nvSpPr>
        <p:spPr>
          <a:xfrm>
            <a:off x="539552" y="908720"/>
            <a:ext cx="6196330" cy="2230738"/>
          </a:xfrm>
          <a:prstGeom prst="rect">
            <a:avLst/>
          </a:prstGeom>
        </p:spPr>
        <p:txBody>
          <a:bodyPr vert="horz" wrap="square" lIns="0" tIns="14604" rIns="0" bIns="0" rtlCol="0">
            <a:spAutoFit/>
          </a:bodyPr>
          <a:lstStyle/>
          <a:p>
            <a:pPr marL="12700" marR="5080">
              <a:lnSpc>
                <a:spcPct val="99700"/>
              </a:lnSpc>
              <a:spcBef>
                <a:spcPts val="114"/>
              </a:spcBef>
            </a:pPr>
            <a:r>
              <a:rPr lang="en-US" sz="4800" dirty="0">
                <a:solidFill>
                  <a:schemeClr val="tx1"/>
                </a:solidFill>
              </a:rPr>
              <a:t>Feedback System for Laser Intensity Stabilization</a:t>
            </a:r>
            <a:endParaRPr lang="en-US" sz="4400" dirty="0">
              <a:solidFill>
                <a:schemeClr val="tx1"/>
              </a:solidFill>
            </a:endParaRPr>
          </a:p>
        </p:txBody>
      </p:sp>
      <p:sp>
        <p:nvSpPr>
          <p:cNvPr id="6" name="object 6"/>
          <p:cNvSpPr txBox="1"/>
          <p:nvPr/>
        </p:nvSpPr>
        <p:spPr>
          <a:xfrm>
            <a:off x="-72457" y="3791453"/>
            <a:ext cx="9145016" cy="1138132"/>
          </a:xfrm>
          <a:prstGeom prst="rect">
            <a:avLst/>
          </a:prstGeom>
        </p:spPr>
        <p:txBody>
          <a:bodyPr vert="horz" wrap="square" lIns="0" tIns="83185" rIns="0" bIns="0" rtlCol="0">
            <a:spAutoFit/>
          </a:bodyPr>
          <a:lstStyle/>
          <a:p>
            <a:pPr marL="77470" algn="ctr">
              <a:lnSpc>
                <a:spcPct val="100000"/>
              </a:lnSpc>
              <a:spcBef>
                <a:spcPts val="655"/>
              </a:spcBef>
            </a:pPr>
            <a:r>
              <a:rPr lang="en-CA" sz="1400" spc="100" dirty="0">
                <a:solidFill>
                  <a:srgbClr val="D1282E"/>
                </a:solidFill>
                <a:latin typeface="Arial Black"/>
                <a:cs typeface="Arial Black"/>
              </a:rPr>
              <a:t>Joseph Cuzzupoli (Presenter), Jaskaran Randhawa, Gehrig </a:t>
            </a:r>
            <a:r>
              <a:rPr lang="en-CA" sz="1400" spc="100" dirty="0" err="1">
                <a:solidFill>
                  <a:srgbClr val="D1282E"/>
                </a:solidFill>
                <a:latin typeface="Arial Black"/>
                <a:cs typeface="Arial Black"/>
              </a:rPr>
              <a:t>Carlse</a:t>
            </a:r>
            <a:r>
              <a:rPr lang="en-CA" sz="1400" spc="100" dirty="0">
                <a:solidFill>
                  <a:srgbClr val="D1282E"/>
                </a:solidFill>
                <a:latin typeface="Arial Black"/>
                <a:cs typeface="Arial Black"/>
              </a:rPr>
              <a:t>, Eduardo Ramos, Thomas </a:t>
            </a:r>
            <a:r>
              <a:rPr lang="en-CA" sz="1400" spc="100" dirty="0" err="1">
                <a:solidFill>
                  <a:srgbClr val="D1282E"/>
                </a:solidFill>
                <a:latin typeface="Arial Black"/>
                <a:cs typeface="Arial Black"/>
              </a:rPr>
              <a:t>Vacheresse</a:t>
            </a:r>
            <a:r>
              <a:rPr lang="en-CA" sz="1400" spc="100" dirty="0">
                <a:solidFill>
                  <a:srgbClr val="D1282E"/>
                </a:solidFill>
                <a:latin typeface="Arial Black"/>
                <a:cs typeface="Arial Black"/>
              </a:rPr>
              <a:t>, Alex </a:t>
            </a:r>
            <a:r>
              <a:rPr lang="en-CA" sz="1400" spc="100" dirty="0" err="1">
                <a:solidFill>
                  <a:srgbClr val="D1282E"/>
                </a:solidFill>
                <a:latin typeface="Arial Black"/>
                <a:cs typeface="Arial Black"/>
              </a:rPr>
              <a:t>Pouliot</a:t>
            </a:r>
            <a:r>
              <a:rPr lang="en-CA" sz="1400" spc="100" dirty="0">
                <a:solidFill>
                  <a:srgbClr val="D1282E"/>
                </a:solidFill>
                <a:latin typeface="Arial Black"/>
                <a:cs typeface="Arial Black"/>
              </a:rPr>
              <a:t> and A. </a:t>
            </a:r>
            <a:r>
              <a:rPr lang="en-CA" sz="1400" spc="100" dirty="0" err="1">
                <a:solidFill>
                  <a:srgbClr val="D1282E"/>
                </a:solidFill>
                <a:latin typeface="Arial Black"/>
                <a:cs typeface="Arial Black"/>
              </a:rPr>
              <a:t>Kumarakrishnan</a:t>
            </a:r>
            <a:r>
              <a:rPr lang="en-CA" sz="1400" spc="100" dirty="0">
                <a:solidFill>
                  <a:srgbClr val="D1282E"/>
                </a:solidFill>
                <a:latin typeface="Arial Black"/>
                <a:cs typeface="Arial Black"/>
              </a:rPr>
              <a:t> (Supervisor)</a:t>
            </a:r>
          </a:p>
          <a:p>
            <a:pPr>
              <a:lnSpc>
                <a:spcPct val="100000"/>
              </a:lnSpc>
              <a:spcBef>
                <a:spcPts val="1525"/>
              </a:spcBef>
            </a:pPr>
            <a:endParaRPr lang="en-CA" sz="1400" dirty="0">
              <a:latin typeface="Arial Black"/>
              <a:cs typeface="Arial Black"/>
            </a:endParaRPr>
          </a:p>
          <a:p>
            <a:pPr marL="12700" algn="ctr">
              <a:lnSpc>
                <a:spcPct val="100000"/>
              </a:lnSpc>
            </a:pPr>
            <a:r>
              <a:rPr sz="1400" i="1" spc="85" dirty="0">
                <a:solidFill>
                  <a:srgbClr val="D1282E"/>
                </a:solidFill>
                <a:latin typeface="Arial"/>
                <a:cs typeface="Arial"/>
              </a:rPr>
              <a:t>DEPARTMENT</a:t>
            </a:r>
            <a:r>
              <a:rPr sz="1400" i="1" spc="254" dirty="0">
                <a:solidFill>
                  <a:srgbClr val="D1282E"/>
                </a:solidFill>
                <a:latin typeface="Arial"/>
                <a:cs typeface="Arial"/>
              </a:rPr>
              <a:t> </a:t>
            </a:r>
            <a:r>
              <a:rPr sz="1400" i="1" spc="60" dirty="0">
                <a:solidFill>
                  <a:srgbClr val="D1282E"/>
                </a:solidFill>
                <a:latin typeface="Arial"/>
                <a:cs typeface="Arial"/>
              </a:rPr>
              <a:t>OF</a:t>
            </a:r>
            <a:r>
              <a:rPr sz="1400" i="1" spc="225" dirty="0">
                <a:solidFill>
                  <a:srgbClr val="D1282E"/>
                </a:solidFill>
                <a:latin typeface="Arial"/>
                <a:cs typeface="Arial"/>
              </a:rPr>
              <a:t> </a:t>
            </a:r>
            <a:r>
              <a:rPr sz="1400" i="1" spc="90" dirty="0">
                <a:solidFill>
                  <a:srgbClr val="D1282E"/>
                </a:solidFill>
                <a:latin typeface="Arial"/>
                <a:cs typeface="Arial"/>
              </a:rPr>
              <a:t>PHYSICS</a:t>
            </a:r>
            <a:r>
              <a:rPr sz="1400" i="1" spc="204" dirty="0">
                <a:solidFill>
                  <a:srgbClr val="D1282E"/>
                </a:solidFill>
                <a:latin typeface="Arial"/>
                <a:cs typeface="Arial"/>
              </a:rPr>
              <a:t> </a:t>
            </a:r>
            <a:r>
              <a:rPr sz="1400" i="1" spc="70" dirty="0">
                <a:solidFill>
                  <a:srgbClr val="D1282E"/>
                </a:solidFill>
                <a:latin typeface="Arial"/>
                <a:cs typeface="Arial"/>
              </a:rPr>
              <a:t>AND</a:t>
            </a:r>
            <a:r>
              <a:rPr sz="1400" i="1" spc="204" dirty="0">
                <a:solidFill>
                  <a:srgbClr val="D1282E"/>
                </a:solidFill>
                <a:latin typeface="Arial"/>
                <a:cs typeface="Arial"/>
              </a:rPr>
              <a:t> </a:t>
            </a:r>
            <a:r>
              <a:rPr sz="1400" i="1" spc="90" dirty="0">
                <a:solidFill>
                  <a:srgbClr val="D1282E"/>
                </a:solidFill>
                <a:latin typeface="Arial"/>
                <a:cs typeface="Arial"/>
              </a:rPr>
              <a:t>ASTRONOMY,</a:t>
            </a:r>
            <a:r>
              <a:rPr sz="1400" i="1" spc="229" dirty="0">
                <a:solidFill>
                  <a:srgbClr val="D1282E"/>
                </a:solidFill>
                <a:latin typeface="Arial"/>
                <a:cs typeface="Arial"/>
              </a:rPr>
              <a:t> </a:t>
            </a:r>
            <a:r>
              <a:rPr sz="1400" i="1" spc="80" dirty="0">
                <a:solidFill>
                  <a:srgbClr val="D1282E"/>
                </a:solidFill>
                <a:latin typeface="Arial"/>
                <a:cs typeface="Arial"/>
              </a:rPr>
              <a:t>YORK</a:t>
            </a:r>
            <a:r>
              <a:rPr sz="1400" i="1" spc="254" dirty="0">
                <a:solidFill>
                  <a:srgbClr val="D1282E"/>
                </a:solidFill>
                <a:latin typeface="Arial"/>
                <a:cs typeface="Arial"/>
              </a:rPr>
              <a:t> </a:t>
            </a:r>
            <a:r>
              <a:rPr sz="1400" i="1" spc="100" dirty="0">
                <a:solidFill>
                  <a:srgbClr val="D1282E"/>
                </a:solidFill>
                <a:latin typeface="Arial"/>
                <a:cs typeface="Arial"/>
              </a:rPr>
              <a:t>UNIVERSITY</a:t>
            </a:r>
            <a:endParaRPr sz="1400" dirty="0">
              <a:latin typeface="Arial"/>
              <a:cs typeface="Arial"/>
            </a:endParaRPr>
          </a:p>
        </p:txBody>
      </p:sp>
      <p:pic>
        <p:nvPicPr>
          <p:cNvPr id="7" name="object 7"/>
          <p:cNvPicPr/>
          <p:nvPr/>
        </p:nvPicPr>
        <p:blipFill>
          <a:blip r:embed="rId2" cstate="print"/>
          <a:stretch>
            <a:fillRect/>
          </a:stretch>
        </p:blipFill>
        <p:spPr>
          <a:xfrm>
            <a:off x="280741" y="5581581"/>
            <a:ext cx="8527717" cy="611452"/>
          </a:xfrm>
          <a:prstGeom prst="rect">
            <a:avLst/>
          </a:prstGeom>
        </p:spPr>
      </p:pic>
      <p:pic>
        <p:nvPicPr>
          <p:cNvPr id="8" name="object 8"/>
          <p:cNvPicPr/>
          <p:nvPr/>
        </p:nvPicPr>
        <p:blipFill>
          <a:blip r:embed="rId3" cstate="print"/>
          <a:stretch>
            <a:fillRect/>
          </a:stretch>
        </p:blipFill>
        <p:spPr>
          <a:xfrm>
            <a:off x="7698812" y="228601"/>
            <a:ext cx="1145391" cy="16905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D1ED9-942E-F663-BA9A-A6F2E94835DE}"/>
              </a:ext>
            </a:extLst>
          </p:cNvPr>
          <p:cNvSpPr>
            <a:spLocks noGrp="1"/>
          </p:cNvSpPr>
          <p:nvPr>
            <p:ph type="title"/>
          </p:nvPr>
        </p:nvSpPr>
        <p:spPr>
          <a:xfrm>
            <a:off x="539552" y="400968"/>
            <a:ext cx="7098030" cy="939800"/>
          </a:xfrm>
        </p:spPr>
        <p:txBody>
          <a:bodyPr wrap="square">
            <a:normAutofit/>
          </a:bodyPr>
          <a:lstStyle/>
          <a:p>
            <a:pPr>
              <a:lnSpc>
                <a:spcPct val="90000"/>
              </a:lnSpc>
            </a:pPr>
            <a:r>
              <a:rPr lang="en-CA" sz="3300" dirty="0"/>
              <a:t>What Is The Problem We Want to Solve?</a:t>
            </a:r>
          </a:p>
        </p:txBody>
      </p:sp>
      <p:sp>
        <p:nvSpPr>
          <p:cNvPr id="8" name="Content Placeholder 2">
            <a:extLst>
              <a:ext uri="{FF2B5EF4-FFF2-40B4-BE49-F238E27FC236}">
                <a16:creationId xmlns:a16="http://schemas.microsoft.com/office/drawing/2014/main" id="{3FA0D250-AFB5-B9F5-4894-EACB705751C4}"/>
              </a:ext>
            </a:extLst>
          </p:cNvPr>
          <p:cNvSpPr>
            <a:spLocks noGrp="1"/>
          </p:cNvSpPr>
          <p:nvPr>
            <p:ph sz="half" idx="2"/>
          </p:nvPr>
        </p:nvSpPr>
        <p:spPr>
          <a:xfrm>
            <a:off x="262513" y="2064957"/>
            <a:ext cx="4186808" cy="3447098"/>
          </a:xfrm>
        </p:spPr>
        <p:txBody>
          <a:bodyPr/>
          <a:lstStyle/>
          <a:p>
            <a:pPr marL="285750" indent="-285750" algn="ctr">
              <a:buFontTx/>
              <a:buChar char="-"/>
            </a:pPr>
            <a:r>
              <a:rPr lang="en-US" sz="1600" dirty="0"/>
              <a:t>Experiments involve precision metrology using atom traps</a:t>
            </a:r>
          </a:p>
          <a:p>
            <a:pPr algn="ctr"/>
            <a:endParaRPr lang="en-US" sz="1600" dirty="0"/>
          </a:p>
          <a:p>
            <a:pPr marL="285750" indent="-285750" algn="ctr">
              <a:buFontTx/>
              <a:buChar char="-"/>
            </a:pPr>
            <a:endParaRPr lang="en-US" sz="1600" dirty="0"/>
          </a:p>
          <a:p>
            <a:pPr marL="285750" indent="-285750" algn="ctr">
              <a:buFontTx/>
              <a:buChar char="-"/>
            </a:pPr>
            <a:r>
              <a:rPr lang="en-US" sz="1600" dirty="0"/>
              <a:t>Laser intensity fluctuations cause variations in atom number</a:t>
            </a:r>
          </a:p>
          <a:p>
            <a:pPr marL="285750" indent="-285750" algn="ctr">
              <a:buFontTx/>
              <a:buChar char="-"/>
            </a:pPr>
            <a:endParaRPr lang="en-US" sz="1600" dirty="0"/>
          </a:p>
          <a:p>
            <a:pPr marL="285750" indent="-285750" algn="ctr">
              <a:buFontTx/>
              <a:buChar char="-"/>
            </a:pPr>
            <a:endParaRPr lang="en-US" sz="1600" dirty="0"/>
          </a:p>
          <a:p>
            <a:pPr marL="285750" indent="-285750" algn="ctr">
              <a:buFontTx/>
              <a:buChar char="-"/>
            </a:pPr>
            <a:r>
              <a:rPr lang="en-US" sz="1600" dirty="0"/>
              <a:t>Results in unstable fluorescence from the trap</a:t>
            </a:r>
            <a:endParaRPr lang="fr-FR" sz="1600" dirty="0"/>
          </a:p>
          <a:p>
            <a:pPr marL="285750" indent="-285750" algn="ctr">
              <a:buFontTx/>
              <a:buChar char="-"/>
            </a:pPr>
            <a:endParaRPr lang="en-US" sz="1600" dirty="0"/>
          </a:p>
          <a:p>
            <a:pPr marL="285750" indent="-285750" algn="ctr">
              <a:buFontTx/>
              <a:buChar char="-"/>
            </a:pPr>
            <a:endParaRPr lang="en-US" sz="1600" dirty="0"/>
          </a:p>
          <a:p>
            <a:pPr algn="ctr"/>
            <a:r>
              <a:rPr lang="en-US" sz="1600" dirty="0">
                <a:highlight>
                  <a:srgbClr val="FFFF00"/>
                </a:highlight>
              </a:rPr>
              <a:t>Solution: Acousto-Optic Modulator (AOM)-based Laser Intensity Feedback System</a:t>
            </a:r>
          </a:p>
        </p:txBody>
      </p:sp>
      <p:pic>
        <p:nvPicPr>
          <p:cNvPr id="5" name="Picture 4" descr="A close-up of a machine&#10;&#10;Description automatically generated">
            <a:extLst>
              <a:ext uri="{FF2B5EF4-FFF2-40B4-BE49-F238E27FC236}">
                <a16:creationId xmlns:a16="http://schemas.microsoft.com/office/drawing/2014/main" id="{A50AFC9F-0859-81B5-DE48-08348D9BFE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4179379" y="1949413"/>
            <a:ext cx="4869160" cy="3651870"/>
          </a:xfrm>
          <a:prstGeom prst="rect">
            <a:avLst/>
          </a:prstGeom>
        </p:spPr>
      </p:pic>
      <p:sp>
        <p:nvSpPr>
          <p:cNvPr id="6" name="TextBox 5">
            <a:extLst>
              <a:ext uri="{FF2B5EF4-FFF2-40B4-BE49-F238E27FC236}">
                <a16:creationId xmlns:a16="http://schemas.microsoft.com/office/drawing/2014/main" id="{DF91F753-D03F-8B8C-E108-1575DBFEF41B}"/>
              </a:ext>
            </a:extLst>
          </p:cNvPr>
          <p:cNvSpPr txBox="1"/>
          <p:nvPr/>
        </p:nvSpPr>
        <p:spPr>
          <a:xfrm>
            <a:off x="4788024" y="6236245"/>
            <a:ext cx="3651870" cy="307777"/>
          </a:xfrm>
          <a:prstGeom prst="rect">
            <a:avLst/>
          </a:prstGeom>
          <a:noFill/>
        </p:spPr>
        <p:txBody>
          <a:bodyPr wrap="square" rtlCol="0">
            <a:spAutoFit/>
          </a:bodyPr>
          <a:lstStyle/>
          <a:p>
            <a:pPr algn="ctr"/>
            <a:r>
              <a:rPr lang="en-CA" sz="1400"/>
              <a:t>Fluorescing Rb atoms from trap</a:t>
            </a:r>
          </a:p>
        </p:txBody>
      </p:sp>
      <p:pic>
        <p:nvPicPr>
          <p:cNvPr id="3" name="object 8">
            <a:extLst>
              <a:ext uri="{FF2B5EF4-FFF2-40B4-BE49-F238E27FC236}">
                <a16:creationId xmlns:a16="http://schemas.microsoft.com/office/drawing/2014/main" id="{D617A653-2900-166A-A612-8AB7E9862F67}"/>
              </a:ext>
            </a:extLst>
          </p:cNvPr>
          <p:cNvPicPr/>
          <p:nvPr/>
        </p:nvPicPr>
        <p:blipFill>
          <a:blip r:embed="rId4" cstate="print"/>
          <a:stretch>
            <a:fillRect/>
          </a:stretch>
        </p:blipFill>
        <p:spPr>
          <a:xfrm>
            <a:off x="8100392" y="0"/>
            <a:ext cx="815819" cy="1226414"/>
          </a:xfrm>
          <a:prstGeom prst="rect">
            <a:avLst/>
          </a:prstGeom>
        </p:spPr>
      </p:pic>
    </p:spTree>
    <p:extLst>
      <p:ext uri="{BB962C8B-B14F-4D97-AF65-F5344CB8AC3E}">
        <p14:creationId xmlns:p14="http://schemas.microsoft.com/office/powerpoint/2010/main" val="3208020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4FF53-F91F-1BA7-C9AF-EBE322E0F032}"/>
              </a:ext>
            </a:extLst>
          </p:cNvPr>
          <p:cNvSpPr>
            <a:spLocks noGrp="1"/>
          </p:cNvSpPr>
          <p:nvPr>
            <p:ph type="title"/>
          </p:nvPr>
        </p:nvSpPr>
        <p:spPr>
          <a:xfrm>
            <a:off x="810103" y="151566"/>
            <a:ext cx="7098030" cy="553998"/>
          </a:xfrm>
        </p:spPr>
        <p:txBody>
          <a:bodyPr/>
          <a:lstStyle/>
          <a:p>
            <a:pPr algn="ctr"/>
            <a:r>
              <a:rPr lang="en-CA" dirty="0"/>
              <a:t>Background</a:t>
            </a:r>
          </a:p>
        </p:txBody>
      </p:sp>
      <p:sp>
        <p:nvSpPr>
          <p:cNvPr id="3" name="Text Placeholder 2">
            <a:extLst>
              <a:ext uri="{FF2B5EF4-FFF2-40B4-BE49-F238E27FC236}">
                <a16:creationId xmlns:a16="http://schemas.microsoft.com/office/drawing/2014/main" id="{D6F042D6-36D8-ADC1-9B10-22C1D8118BBF}"/>
              </a:ext>
            </a:extLst>
          </p:cNvPr>
          <p:cNvSpPr>
            <a:spLocks noGrp="1"/>
          </p:cNvSpPr>
          <p:nvPr>
            <p:ph type="body" idx="1"/>
          </p:nvPr>
        </p:nvSpPr>
        <p:spPr>
          <a:xfrm>
            <a:off x="267628" y="1237240"/>
            <a:ext cx="4824536" cy="1723549"/>
          </a:xfrm>
        </p:spPr>
        <p:txBody>
          <a:bodyPr/>
          <a:lstStyle/>
          <a:p>
            <a:endParaRPr lang="en-CA" sz="1600" dirty="0"/>
          </a:p>
          <a:p>
            <a:r>
              <a:rPr lang="en-CA" sz="1600" dirty="0"/>
              <a:t>Intensity Modulation - Variances in output laser power</a:t>
            </a:r>
          </a:p>
          <a:p>
            <a:pPr algn="ctr"/>
            <a:endParaRPr lang="en-CA" sz="1600" dirty="0">
              <a:highlight>
                <a:srgbClr val="FFFF00"/>
              </a:highlight>
            </a:endParaRPr>
          </a:p>
          <a:p>
            <a:pPr algn="ctr"/>
            <a:r>
              <a:rPr lang="en-CA" sz="1600" dirty="0">
                <a:highlight>
                  <a:srgbClr val="FFFF00"/>
                </a:highlight>
              </a:rPr>
              <a:t>Stabilizing intensity modulations improves experimental outcomes</a:t>
            </a:r>
          </a:p>
          <a:p>
            <a:endParaRPr lang="en-CA" sz="1600" dirty="0"/>
          </a:p>
        </p:txBody>
      </p:sp>
      <p:sp>
        <p:nvSpPr>
          <p:cNvPr id="9" name="TextBox 8">
            <a:extLst>
              <a:ext uri="{FF2B5EF4-FFF2-40B4-BE49-F238E27FC236}">
                <a16:creationId xmlns:a16="http://schemas.microsoft.com/office/drawing/2014/main" id="{A2F3B349-2C67-188B-C488-78E87DF625A6}"/>
              </a:ext>
            </a:extLst>
          </p:cNvPr>
          <p:cNvSpPr txBox="1"/>
          <p:nvPr/>
        </p:nvSpPr>
        <p:spPr>
          <a:xfrm>
            <a:off x="5022113" y="2699179"/>
            <a:ext cx="4011203" cy="523220"/>
          </a:xfrm>
          <a:prstGeom prst="rect">
            <a:avLst/>
          </a:prstGeom>
          <a:noFill/>
        </p:spPr>
        <p:txBody>
          <a:bodyPr wrap="square" rtlCol="0">
            <a:spAutoFit/>
          </a:bodyPr>
          <a:lstStyle/>
          <a:p>
            <a:pPr algn="ctr"/>
            <a:r>
              <a:rPr lang="en-CA" sz="1400" dirty="0"/>
              <a:t>Electronically adjusting amplitude of an audio signal to achieve constant intensity</a:t>
            </a:r>
          </a:p>
        </p:txBody>
      </p:sp>
      <p:pic>
        <p:nvPicPr>
          <p:cNvPr id="11" name="Picture 10" descr="Close-up of black soundboard dials">
            <a:extLst>
              <a:ext uri="{FF2B5EF4-FFF2-40B4-BE49-F238E27FC236}">
                <a16:creationId xmlns:a16="http://schemas.microsoft.com/office/drawing/2014/main" id="{14B1F929-41E4-A445-B974-8576A10836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3853" y="703900"/>
            <a:ext cx="3547722" cy="1995279"/>
          </a:xfrm>
          <a:prstGeom prst="rect">
            <a:avLst/>
          </a:prstGeom>
          <a:effectLst>
            <a:reflection stA="0" endPos="65000" dist="50800" dir="5400000" sy="-100000" algn="bl" rotWithShape="0"/>
          </a:effectLst>
        </p:spPr>
      </p:pic>
      <p:pic>
        <p:nvPicPr>
          <p:cNvPr id="7" name="object 8">
            <a:extLst>
              <a:ext uri="{FF2B5EF4-FFF2-40B4-BE49-F238E27FC236}">
                <a16:creationId xmlns:a16="http://schemas.microsoft.com/office/drawing/2014/main" id="{AD32A61D-EB22-50D8-32A9-8F4D2AE0E063}"/>
              </a:ext>
            </a:extLst>
          </p:cNvPr>
          <p:cNvPicPr/>
          <p:nvPr/>
        </p:nvPicPr>
        <p:blipFill>
          <a:blip r:embed="rId4" cstate="print"/>
          <a:stretch>
            <a:fillRect/>
          </a:stretch>
        </p:blipFill>
        <p:spPr>
          <a:xfrm>
            <a:off x="-1" y="49607"/>
            <a:ext cx="858129" cy="1108633"/>
          </a:xfrm>
          <a:prstGeom prst="rect">
            <a:avLst/>
          </a:prstGeom>
        </p:spPr>
      </p:pic>
      <p:pic>
        <p:nvPicPr>
          <p:cNvPr id="1026" name="Picture 2">
            <a:extLst>
              <a:ext uri="{FF2B5EF4-FFF2-40B4-BE49-F238E27FC236}">
                <a16:creationId xmlns:a16="http://schemas.microsoft.com/office/drawing/2014/main" id="{CB6CDA1B-7308-BFC5-3961-865F3E43AF2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2" t="5094" r="1522" b="663"/>
          <a:stretch/>
        </p:blipFill>
        <p:spPr bwMode="auto">
          <a:xfrm>
            <a:off x="919536" y="3222399"/>
            <a:ext cx="6228092" cy="359392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6007EA0-0747-49B9-BDAA-FAB7528A14D1}"/>
              </a:ext>
            </a:extLst>
          </p:cNvPr>
          <p:cNvSpPr/>
          <p:nvPr/>
        </p:nvSpPr>
        <p:spPr>
          <a:xfrm>
            <a:off x="3708047" y="3579880"/>
            <a:ext cx="651071" cy="13274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905A259E-5039-F49D-63AA-71D796A5210F}"/>
              </a:ext>
            </a:extLst>
          </p:cNvPr>
          <p:cNvSpPr/>
          <p:nvPr/>
        </p:nvSpPr>
        <p:spPr>
          <a:xfrm>
            <a:off x="3926839" y="3604741"/>
            <a:ext cx="651071" cy="13274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52761051-F7B8-6E1C-B252-95A4C73B495C}"/>
              </a:ext>
            </a:extLst>
          </p:cNvPr>
          <p:cNvSpPr/>
          <p:nvPr/>
        </p:nvSpPr>
        <p:spPr>
          <a:xfrm>
            <a:off x="4078762" y="3676867"/>
            <a:ext cx="651071" cy="13274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73499C72-2BB7-B386-F23D-8FD016D2F35A}"/>
              </a:ext>
            </a:extLst>
          </p:cNvPr>
          <p:cNvSpPr/>
          <p:nvPr/>
        </p:nvSpPr>
        <p:spPr>
          <a:xfrm>
            <a:off x="2931330" y="3049240"/>
            <a:ext cx="2489421" cy="22631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Laser Power</a:t>
            </a:r>
          </a:p>
        </p:txBody>
      </p:sp>
      <p:sp>
        <p:nvSpPr>
          <p:cNvPr id="6" name="Rectangle 5">
            <a:extLst>
              <a:ext uri="{FF2B5EF4-FFF2-40B4-BE49-F238E27FC236}">
                <a16:creationId xmlns:a16="http://schemas.microsoft.com/office/drawing/2014/main" id="{6E32AAC1-1B17-AC34-DEB7-E08D383BF016}"/>
              </a:ext>
            </a:extLst>
          </p:cNvPr>
          <p:cNvSpPr/>
          <p:nvPr/>
        </p:nvSpPr>
        <p:spPr>
          <a:xfrm>
            <a:off x="1688124" y="5991732"/>
            <a:ext cx="1983544" cy="22631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400" dirty="0">
                <a:solidFill>
                  <a:schemeClr val="tx1"/>
                </a:solidFill>
              </a:rPr>
              <a:t>SD/AVG ~ 1%</a:t>
            </a:r>
          </a:p>
        </p:txBody>
      </p:sp>
    </p:spTree>
    <p:extLst>
      <p:ext uri="{BB962C8B-B14F-4D97-AF65-F5344CB8AC3E}">
        <p14:creationId xmlns:p14="http://schemas.microsoft.com/office/powerpoint/2010/main" val="2075437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Diagram of a radio frequency diagram&#10;&#10;Description automatically generated">
            <a:extLst>
              <a:ext uri="{FF2B5EF4-FFF2-40B4-BE49-F238E27FC236}">
                <a16:creationId xmlns:a16="http://schemas.microsoft.com/office/drawing/2014/main" id="{D44BA945-0CA0-0E0E-FFAC-B9717747D8EF}"/>
              </a:ext>
            </a:extLst>
          </p:cNvPr>
          <p:cNvPicPr>
            <a:picLocks noChangeAspect="1"/>
          </p:cNvPicPr>
          <p:nvPr/>
        </p:nvPicPr>
        <p:blipFill rotWithShape="1">
          <a:blip r:embed="rId3">
            <a:extLst>
              <a:ext uri="{28A0092B-C50C-407E-A947-70E740481C1C}">
                <a14:useLocalDpi xmlns:a14="http://schemas.microsoft.com/office/drawing/2010/main" val="0"/>
              </a:ext>
            </a:extLst>
          </a:blip>
          <a:srcRect l="-399" t="3404" r="17325" b="22700"/>
          <a:stretch/>
        </p:blipFill>
        <p:spPr>
          <a:xfrm>
            <a:off x="3873363" y="851145"/>
            <a:ext cx="5073060" cy="3384376"/>
          </a:xfrm>
          <a:prstGeom prst="rect">
            <a:avLst/>
          </a:prstGeom>
        </p:spPr>
      </p:pic>
      <p:sp>
        <p:nvSpPr>
          <p:cNvPr id="2" name="Title 1">
            <a:extLst>
              <a:ext uri="{FF2B5EF4-FFF2-40B4-BE49-F238E27FC236}">
                <a16:creationId xmlns:a16="http://schemas.microsoft.com/office/drawing/2014/main" id="{B745657A-171D-E621-8500-C21C68769522}"/>
              </a:ext>
            </a:extLst>
          </p:cNvPr>
          <p:cNvSpPr>
            <a:spLocks noGrp="1"/>
          </p:cNvSpPr>
          <p:nvPr>
            <p:ph type="title"/>
          </p:nvPr>
        </p:nvSpPr>
        <p:spPr>
          <a:xfrm>
            <a:off x="274213" y="224108"/>
            <a:ext cx="7098030" cy="939800"/>
          </a:xfrm>
        </p:spPr>
        <p:txBody>
          <a:bodyPr wrap="square">
            <a:normAutofit fontScale="90000"/>
          </a:bodyPr>
          <a:lstStyle/>
          <a:p>
            <a:r>
              <a:rPr lang="en-CA" sz="3300" dirty="0"/>
              <a:t>Acousto-Optic Modulator (AOM)</a:t>
            </a:r>
          </a:p>
        </p:txBody>
      </p:sp>
      <p:sp>
        <p:nvSpPr>
          <p:cNvPr id="9" name="Content Placeholder 2">
            <a:extLst>
              <a:ext uri="{FF2B5EF4-FFF2-40B4-BE49-F238E27FC236}">
                <a16:creationId xmlns:a16="http://schemas.microsoft.com/office/drawing/2014/main" id="{B959FAD0-C316-BBCB-6038-E603CE43309A}"/>
              </a:ext>
            </a:extLst>
          </p:cNvPr>
          <p:cNvSpPr>
            <a:spLocks noGrp="1"/>
          </p:cNvSpPr>
          <p:nvPr>
            <p:ph sz="half" idx="2"/>
          </p:nvPr>
        </p:nvSpPr>
        <p:spPr>
          <a:xfrm>
            <a:off x="9065" y="1531238"/>
            <a:ext cx="3914863" cy="3693319"/>
          </a:xfrm>
        </p:spPr>
        <p:txBody>
          <a:bodyPr/>
          <a:lstStyle/>
          <a:p>
            <a:pPr marL="342900" indent="-342900" algn="ctr">
              <a:buFont typeface="Arial" panose="020B0604020202020204" pitchFamily="34" charset="0"/>
              <a:buChar char="•"/>
            </a:pPr>
            <a:r>
              <a:rPr lang="en-CA" sz="1600" dirty="0"/>
              <a:t>Used to frequency shift and intensity-modulate laser light</a:t>
            </a:r>
          </a:p>
          <a:p>
            <a:pPr marL="342900" indent="-342900" algn="ctr">
              <a:buFont typeface="Arial" panose="020B0604020202020204" pitchFamily="34" charset="0"/>
              <a:buChar char="•"/>
            </a:pPr>
            <a:endParaRPr lang="en-CA" sz="1600" dirty="0"/>
          </a:p>
          <a:p>
            <a:pPr marL="342900" indent="-342900" algn="ctr">
              <a:buFont typeface="Arial" panose="020B0604020202020204" pitchFamily="34" charset="0"/>
              <a:buChar char="•"/>
            </a:pPr>
            <a:r>
              <a:rPr lang="en-CA" sz="1600" dirty="0"/>
              <a:t>Voltage Controlled RF Oscillator (VCO) changes AOM drive frequency in response to a tuning voltage</a:t>
            </a:r>
          </a:p>
          <a:p>
            <a:pPr marL="342900" indent="-342900" algn="ctr">
              <a:buFont typeface="Arial" panose="020B0604020202020204" pitchFamily="34" charset="0"/>
              <a:buChar char="•"/>
            </a:pPr>
            <a:endParaRPr lang="en-CA" sz="1600" dirty="0"/>
          </a:p>
          <a:p>
            <a:pPr marL="342900" indent="-342900" algn="ctr">
              <a:buFont typeface="Arial" panose="020B0604020202020204" pitchFamily="34" charset="0"/>
              <a:buChar char="•"/>
            </a:pPr>
            <a:r>
              <a:rPr lang="en-CA" sz="1600" dirty="0"/>
              <a:t>Amplified RF produces sound waves in crystal to create a diffraction grating</a:t>
            </a:r>
          </a:p>
          <a:p>
            <a:pPr marL="342900" indent="-342900" algn="ctr">
              <a:buFont typeface="Arial" panose="020B0604020202020204" pitchFamily="34" charset="0"/>
              <a:buChar char="•"/>
            </a:pPr>
            <a:endParaRPr lang="en-CA" sz="1600" dirty="0"/>
          </a:p>
          <a:p>
            <a:pPr marL="342900" indent="-342900" algn="ctr">
              <a:buFont typeface="Arial" panose="020B0604020202020204" pitchFamily="34" charset="0"/>
              <a:buChar char="•"/>
            </a:pPr>
            <a:r>
              <a:rPr lang="en-CA" sz="1600" dirty="0"/>
              <a:t>Used as an optical switch for turning light on/off</a:t>
            </a:r>
          </a:p>
          <a:p>
            <a:pPr marL="342900" indent="-342900" algn="ctr">
              <a:buFont typeface="Arial" panose="020B0604020202020204" pitchFamily="34" charset="0"/>
              <a:buChar char="•"/>
            </a:pPr>
            <a:endParaRPr lang="en-CA" sz="1600" dirty="0"/>
          </a:p>
          <a:p>
            <a:endParaRPr lang="en-US" sz="1600" dirty="0"/>
          </a:p>
        </p:txBody>
      </p:sp>
      <p:sp>
        <p:nvSpPr>
          <p:cNvPr id="8" name="TextBox 7">
            <a:extLst>
              <a:ext uri="{FF2B5EF4-FFF2-40B4-BE49-F238E27FC236}">
                <a16:creationId xmlns:a16="http://schemas.microsoft.com/office/drawing/2014/main" id="{45F42ECF-8996-ECEE-435C-FC9590636F1B}"/>
              </a:ext>
            </a:extLst>
          </p:cNvPr>
          <p:cNvSpPr txBox="1"/>
          <p:nvPr/>
        </p:nvSpPr>
        <p:spPr>
          <a:xfrm>
            <a:off x="4499992" y="4293096"/>
            <a:ext cx="3651870" cy="307777"/>
          </a:xfrm>
          <a:prstGeom prst="rect">
            <a:avLst/>
          </a:prstGeom>
          <a:noFill/>
        </p:spPr>
        <p:txBody>
          <a:bodyPr wrap="square" rtlCol="0">
            <a:spAutoFit/>
          </a:bodyPr>
          <a:lstStyle/>
          <a:p>
            <a:pPr algn="ctr"/>
            <a:r>
              <a:rPr lang="en-CA" sz="1400"/>
              <a:t>Acousto-Optic Modulator (AOM)</a:t>
            </a:r>
          </a:p>
        </p:txBody>
      </p:sp>
      <p:pic>
        <p:nvPicPr>
          <p:cNvPr id="11" name="object 8">
            <a:extLst>
              <a:ext uri="{FF2B5EF4-FFF2-40B4-BE49-F238E27FC236}">
                <a16:creationId xmlns:a16="http://schemas.microsoft.com/office/drawing/2014/main" id="{1A76707D-8D88-98A4-148C-B3AA7711D08B}"/>
              </a:ext>
            </a:extLst>
          </p:cNvPr>
          <p:cNvPicPr/>
          <p:nvPr/>
        </p:nvPicPr>
        <p:blipFill>
          <a:blip r:embed="rId4" cstate="print"/>
          <a:stretch>
            <a:fillRect/>
          </a:stretch>
        </p:blipFill>
        <p:spPr>
          <a:xfrm>
            <a:off x="8130604" y="0"/>
            <a:ext cx="815819" cy="1226414"/>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BCF7812-EB9E-78BC-2879-E9C696736872}"/>
                  </a:ext>
                </a:extLst>
              </p:cNvPr>
              <p:cNvSpPr txBox="1"/>
              <p:nvPr/>
            </p:nvSpPr>
            <p:spPr>
              <a:xfrm>
                <a:off x="6488874" y="4685069"/>
                <a:ext cx="2232248"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CA" sz="2400" i="1" smtClean="0">
                          <a:latin typeface="Cambria Math" panose="02040503050406030204" pitchFamily="18" charset="0"/>
                        </a:rPr>
                        <m:t>𝑚</m:t>
                      </m:r>
                      <m:r>
                        <a:rPr lang="en-CA" sz="2400" i="1" smtClean="0">
                          <a:latin typeface="Cambria Math" panose="02040503050406030204" pitchFamily="18" charset="0"/>
                        </a:rPr>
                        <m:t>𝜆</m:t>
                      </m:r>
                      <m:r>
                        <a:rPr lang="en-CA" sz="2400" i="0">
                          <a:latin typeface="Cambria Math" panose="02040503050406030204" pitchFamily="18" charset="0"/>
                        </a:rPr>
                        <m:t>=2ⅆ</m:t>
                      </m:r>
                      <m:func>
                        <m:funcPr>
                          <m:ctrlPr>
                            <a:rPr lang="en-CA" sz="2400" i="1">
                              <a:latin typeface="Cambria Math" panose="02040503050406030204" pitchFamily="18" charset="0"/>
                            </a:rPr>
                          </m:ctrlPr>
                        </m:funcPr>
                        <m:fName>
                          <m:r>
                            <m:rPr>
                              <m:sty m:val="p"/>
                            </m:rPr>
                            <a:rPr lang="en-CA" sz="2400" i="0">
                              <a:latin typeface="Cambria Math" panose="02040503050406030204" pitchFamily="18" charset="0"/>
                            </a:rPr>
                            <m:t>sin</m:t>
                          </m:r>
                        </m:fName>
                        <m:e>
                          <m:r>
                            <a:rPr lang="en-CA" sz="2400" i="1">
                              <a:latin typeface="Cambria Math" panose="02040503050406030204" pitchFamily="18" charset="0"/>
                            </a:rPr>
                            <m:t>𝜃</m:t>
                          </m:r>
                        </m:e>
                      </m:func>
                    </m:oMath>
                  </m:oMathPara>
                </a14:m>
                <a:endParaRPr lang="en-CA" sz="2400"/>
              </a:p>
            </p:txBody>
          </p:sp>
        </mc:Choice>
        <mc:Fallback xmlns="">
          <p:sp>
            <p:nvSpPr>
              <p:cNvPr id="23" name="TextBox 22">
                <a:extLst>
                  <a:ext uri="{FF2B5EF4-FFF2-40B4-BE49-F238E27FC236}">
                    <a16:creationId xmlns:a16="http://schemas.microsoft.com/office/drawing/2014/main" id="{EBCF7812-EB9E-78BC-2879-E9C696736872}"/>
                  </a:ext>
                </a:extLst>
              </p:cNvPr>
              <p:cNvSpPr txBox="1">
                <a:spLocks noRot="1" noChangeAspect="1" noMove="1" noResize="1" noEditPoints="1" noAdjustHandles="1" noChangeArrowheads="1" noChangeShapeType="1" noTextEdit="1"/>
              </p:cNvSpPr>
              <p:nvPr/>
            </p:nvSpPr>
            <p:spPr>
              <a:xfrm>
                <a:off x="6488874" y="4685069"/>
                <a:ext cx="2232248" cy="369332"/>
              </a:xfrm>
              <a:prstGeom prst="rect">
                <a:avLst/>
              </a:prstGeom>
              <a:blipFill>
                <a:blip r:embed="rId5"/>
                <a:stretch>
                  <a:fillRect b="-11667"/>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7C658178-FBC1-5626-62DD-E0F6931436E5}"/>
              </a:ext>
            </a:extLst>
          </p:cNvPr>
          <p:cNvSpPr txBox="1"/>
          <p:nvPr/>
        </p:nvSpPr>
        <p:spPr>
          <a:xfrm>
            <a:off x="3571010" y="4757077"/>
            <a:ext cx="3651870" cy="307777"/>
          </a:xfrm>
          <a:prstGeom prst="rect">
            <a:avLst/>
          </a:prstGeom>
          <a:noFill/>
        </p:spPr>
        <p:txBody>
          <a:bodyPr wrap="square" rtlCol="0">
            <a:spAutoFit/>
          </a:bodyPr>
          <a:lstStyle/>
          <a:p>
            <a:pPr algn="ctr"/>
            <a:r>
              <a:rPr lang="en-CA" sz="1400"/>
              <a:t>Bragg Scattering Condition:</a:t>
            </a:r>
          </a:p>
        </p:txBody>
      </p:sp>
      <p:cxnSp>
        <p:nvCxnSpPr>
          <p:cNvPr id="26" name="Straight Arrow Connector 25">
            <a:extLst>
              <a:ext uri="{FF2B5EF4-FFF2-40B4-BE49-F238E27FC236}">
                <a16:creationId xmlns:a16="http://schemas.microsoft.com/office/drawing/2014/main" id="{5D003BF6-C74B-EE97-4E01-DA02E29161C4}"/>
              </a:ext>
            </a:extLst>
          </p:cNvPr>
          <p:cNvCxnSpPr>
            <a:cxnSpLocks/>
          </p:cNvCxnSpPr>
          <p:nvPr/>
        </p:nvCxnSpPr>
        <p:spPr>
          <a:xfrm>
            <a:off x="5520062" y="3515441"/>
            <a:ext cx="0" cy="28803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0AD72F8-FA4D-4F9C-4CAA-A662CA442EA4}"/>
              </a:ext>
            </a:extLst>
          </p:cNvPr>
          <p:cNvSpPr txBox="1"/>
          <p:nvPr/>
        </p:nvSpPr>
        <p:spPr>
          <a:xfrm>
            <a:off x="5195767" y="3515441"/>
            <a:ext cx="275878" cy="307777"/>
          </a:xfrm>
          <a:prstGeom prst="rect">
            <a:avLst/>
          </a:prstGeom>
          <a:noFill/>
        </p:spPr>
        <p:txBody>
          <a:bodyPr wrap="square" rtlCol="0">
            <a:spAutoFit/>
          </a:bodyPr>
          <a:lstStyle/>
          <a:p>
            <a:pPr algn="ctr"/>
            <a:r>
              <a:rPr lang="en-CA" sz="1400"/>
              <a:t>d</a:t>
            </a:r>
          </a:p>
        </p:txBody>
      </p:sp>
      <p:pic>
        <p:nvPicPr>
          <p:cNvPr id="30" name="Picture 29" descr="A close-up of a machine&#10;&#10;Description automatically generated">
            <a:extLst>
              <a:ext uri="{FF2B5EF4-FFF2-40B4-BE49-F238E27FC236}">
                <a16:creationId xmlns:a16="http://schemas.microsoft.com/office/drawing/2014/main" id="{52DB80B8-3760-4969-CFF2-2C9E2D1BEA3D}"/>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8281" r="35470"/>
          <a:stretch/>
        </p:blipFill>
        <p:spPr>
          <a:xfrm rot="5400000">
            <a:off x="1957250" y="4157771"/>
            <a:ext cx="1241674" cy="3317019"/>
          </a:xfrm>
          <a:prstGeom prst="rect">
            <a:avLst/>
          </a:prstGeom>
        </p:spPr>
      </p:pic>
      <p:pic>
        <p:nvPicPr>
          <p:cNvPr id="31" name="Picture 30" descr="A close-up of a device&#10;&#10;Description automatically generated">
            <a:extLst>
              <a:ext uri="{FF2B5EF4-FFF2-40B4-BE49-F238E27FC236}">
                <a16:creationId xmlns:a16="http://schemas.microsoft.com/office/drawing/2014/main" id="{FB8BA4DB-3E18-5046-7483-6B19328D758F}"/>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31801" b="22990"/>
          <a:stretch/>
        </p:blipFill>
        <p:spPr>
          <a:xfrm rot="10800000">
            <a:off x="4716016" y="5180004"/>
            <a:ext cx="3317025" cy="1241676"/>
          </a:xfrm>
          <a:prstGeom prst="rect">
            <a:avLst/>
          </a:prstGeom>
        </p:spPr>
      </p:pic>
      <p:sp>
        <p:nvSpPr>
          <p:cNvPr id="32" name="TextBox 31">
            <a:extLst>
              <a:ext uri="{FF2B5EF4-FFF2-40B4-BE49-F238E27FC236}">
                <a16:creationId xmlns:a16="http://schemas.microsoft.com/office/drawing/2014/main" id="{6DC3CA43-7FDC-02CA-604A-903313E80272}"/>
              </a:ext>
            </a:extLst>
          </p:cNvPr>
          <p:cNvSpPr txBox="1"/>
          <p:nvPr/>
        </p:nvSpPr>
        <p:spPr>
          <a:xfrm>
            <a:off x="1024704" y="6480003"/>
            <a:ext cx="3192780" cy="307777"/>
          </a:xfrm>
          <a:prstGeom prst="rect">
            <a:avLst/>
          </a:prstGeom>
          <a:noFill/>
        </p:spPr>
        <p:txBody>
          <a:bodyPr wrap="square" rtlCol="0">
            <a:spAutoFit/>
          </a:bodyPr>
          <a:lstStyle/>
          <a:p>
            <a:pPr algn="ctr"/>
            <a:r>
              <a:rPr lang="en-CA" sz="1400"/>
              <a:t>Acousto-Optic Modulator (AOM)</a:t>
            </a:r>
          </a:p>
        </p:txBody>
      </p:sp>
      <p:sp>
        <p:nvSpPr>
          <p:cNvPr id="33" name="TextBox 32">
            <a:extLst>
              <a:ext uri="{FF2B5EF4-FFF2-40B4-BE49-F238E27FC236}">
                <a16:creationId xmlns:a16="http://schemas.microsoft.com/office/drawing/2014/main" id="{B36C11FD-C43A-E57E-C7B5-E407146715D4}"/>
              </a:ext>
            </a:extLst>
          </p:cNvPr>
          <p:cNvSpPr txBox="1"/>
          <p:nvPr/>
        </p:nvSpPr>
        <p:spPr>
          <a:xfrm>
            <a:off x="4778138" y="6477121"/>
            <a:ext cx="3192780" cy="307777"/>
          </a:xfrm>
          <a:prstGeom prst="rect">
            <a:avLst/>
          </a:prstGeom>
          <a:noFill/>
        </p:spPr>
        <p:txBody>
          <a:bodyPr wrap="square" rtlCol="0">
            <a:spAutoFit/>
          </a:bodyPr>
          <a:lstStyle/>
          <a:p>
            <a:pPr algn="ctr"/>
            <a:r>
              <a:rPr lang="en-CA" sz="1400"/>
              <a:t>Voltage Controlled Oscillator (VCO)</a:t>
            </a:r>
          </a:p>
        </p:txBody>
      </p:sp>
    </p:spTree>
    <p:extLst>
      <p:ext uri="{BB962C8B-B14F-4D97-AF65-F5344CB8AC3E}">
        <p14:creationId xmlns:p14="http://schemas.microsoft.com/office/powerpoint/2010/main" val="437204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light source&#10;&#10;Description automatically generated">
            <a:extLst>
              <a:ext uri="{FF2B5EF4-FFF2-40B4-BE49-F238E27FC236}">
                <a16:creationId xmlns:a16="http://schemas.microsoft.com/office/drawing/2014/main" id="{AA968461-7B16-478F-4071-3F717000D274}"/>
              </a:ext>
            </a:extLst>
          </p:cNvPr>
          <p:cNvPicPr>
            <a:picLocks noChangeAspect="1"/>
          </p:cNvPicPr>
          <p:nvPr/>
        </p:nvPicPr>
        <p:blipFill rotWithShape="1">
          <a:blip r:embed="rId3">
            <a:extLst>
              <a:ext uri="{28A0092B-C50C-407E-A947-70E740481C1C}">
                <a14:useLocalDpi xmlns:a14="http://schemas.microsoft.com/office/drawing/2010/main" val="0"/>
              </a:ext>
            </a:extLst>
          </a:blip>
          <a:srcRect l="8650" t="1924" r="4064" b="12388"/>
          <a:stretch/>
        </p:blipFill>
        <p:spPr>
          <a:xfrm>
            <a:off x="108088" y="1065209"/>
            <a:ext cx="6411302" cy="4720386"/>
          </a:xfrm>
          <a:prstGeom prst="rect">
            <a:avLst/>
          </a:prstGeom>
        </p:spPr>
      </p:pic>
      <p:sp>
        <p:nvSpPr>
          <p:cNvPr id="2" name="Title 1">
            <a:extLst>
              <a:ext uri="{FF2B5EF4-FFF2-40B4-BE49-F238E27FC236}">
                <a16:creationId xmlns:a16="http://schemas.microsoft.com/office/drawing/2014/main" id="{E9C11184-D055-E978-107B-CE1B3B356C1B}"/>
              </a:ext>
            </a:extLst>
          </p:cNvPr>
          <p:cNvSpPr>
            <a:spLocks noGrp="1"/>
          </p:cNvSpPr>
          <p:nvPr>
            <p:ph type="title"/>
          </p:nvPr>
        </p:nvSpPr>
        <p:spPr>
          <a:xfrm>
            <a:off x="251520" y="167982"/>
            <a:ext cx="7921926" cy="553998"/>
          </a:xfrm>
        </p:spPr>
        <p:txBody>
          <a:bodyPr/>
          <a:lstStyle/>
          <a:p>
            <a:pPr algn="l"/>
            <a:r>
              <a:rPr lang="en-CA"/>
              <a:t>Methodology - The Feedback System</a:t>
            </a:r>
          </a:p>
        </p:txBody>
      </p:sp>
      <p:sp>
        <p:nvSpPr>
          <p:cNvPr id="3" name="Text Placeholder 2">
            <a:extLst>
              <a:ext uri="{FF2B5EF4-FFF2-40B4-BE49-F238E27FC236}">
                <a16:creationId xmlns:a16="http://schemas.microsoft.com/office/drawing/2014/main" id="{C26B6196-9550-1831-AE0F-A7401B56C4E7}"/>
              </a:ext>
            </a:extLst>
          </p:cNvPr>
          <p:cNvSpPr>
            <a:spLocks noGrp="1"/>
          </p:cNvSpPr>
          <p:nvPr>
            <p:ph type="body" idx="1"/>
          </p:nvPr>
        </p:nvSpPr>
        <p:spPr>
          <a:xfrm>
            <a:off x="5325948" y="3209898"/>
            <a:ext cx="3638539" cy="1569660"/>
          </a:xfrm>
        </p:spPr>
        <p:txBody>
          <a:bodyPr/>
          <a:lstStyle/>
          <a:p>
            <a:pPr algn="ct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algn="ctr"/>
            <a:endParaRPr lang="en-CA" sz="1800"/>
          </a:p>
        </p:txBody>
      </p:sp>
      <p:pic>
        <p:nvPicPr>
          <p:cNvPr id="5" name="object 8">
            <a:extLst>
              <a:ext uri="{FF2B5EF4-FFF2-40B4-BE49-F238E27FC236}">
                <a16:creationId xmlns:a16="http://schemas.microsoft.com/office/drawing/2014/main" id="{0776274A-D1DF-3EC4-783B-71CA3641AF56}"/>
              </a:ext>
            </a:extLst>
          </p:cNvPr>
          <p:cNvPicPr/>
          <p:nvPr/>
        </p:nvPicPr>
        <p:blipFill>
          <a:blip r:embed="rId4" cstate="print"/>
          <a:stretch>
            <a:fillRect/>
          </a:stretch>
        </p:blipFill>
        <p:spPr>
          <a:xfrm>
            <a:off x="8214856" y="41698"/>
            <a:ext cx="746989" cy="1083046"/>
          </a:xfrm>
          <a:prstGeom prst="rect">
            <a:avLst/>
          </a:prstGeom>
        </p:spPr>
      </p:pic>
      <p:sp>
        <p:nvSpPr>
          <p:cNvPr id="17" name="TextBox 16">
            <a:extLst>
              <a:ext uri="{FF2B5EF4-FFF2-40B4-BE49-F238E27FC236}">
                <a16:creationId xmlns:a16="http://schemas.microsoft.com/office/drawing/2014/main" id="{422756BB-AB77-1C00-665D-CF6B64306D85}"/>
              </a:ext>
            </a:extLst>
          </p:cNvPr>
          <p:cNvSpPr txBox="1"/>
          <p:nvPr/>
        </p:nvSpPr>
        <p:spPr>
          <a:xfrm>
            <a:off x="3224380" y="1628800"/>
            <a:ext cx="1368152" cy="276999"/>
          </a:xfrm>
          <a:prstGeom prst="rect">
            <a:avLst/>
          </a:prstGeom>
          <a:noFill/>
        </p:spPr>
        <p:txBody>
          <a:bodyPr wrap="square" rtlCol="0">
            <a:spAutoFit/>
          </a:bodyPr>
          <a:lstStyle/>
          <a:p>
            <a:r>
              <a:rPr lang="en-CA" sz="1200"/>
              <a:t>Beam Splitter</a:t>
            </a:r>
          </a:p>
        </p:txBody>
      </p:sp>
      <p:sp>
        <p:nvSpPr>
          <p:cNvPr id="10" name="Rectangle 9">
            <a:extLst>
              <a:ext uri="{FF2B5EF4-FFF2-40B4-BE49-F238E27FC236}">
                <a16:creationId xmlns:a16="http://schemas.microsoft.com/office/drawing/2014/main" id="{F496AB84-0380-ED7F-CBE1-6C0E4E6D2F1F}"/>
              </a:ext>
            </a:extLst>
          </p:cNvPr>
          <p:cNvSpPr/>
          <p:nvPr/>
        </p:nvSpPr>
        <p:spPr>
          <a:xfrm>
            <a:off x="395536" y="2364259"/>
            <a:ext cx="1154843" cy="16589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997DAF7-FFDA-F9AD-4F50-ACB9567F5884}"/>
              </a:ext>
            </a:extLst>
          </p:cNvPr>
          <p:cNvSpPr txBox="1"/>
          <p:nvPr/>
        </p:nvSpPr>
        <p:spPr>
          <a:xfrm>
            <a:off x="395536" y="2222379"/>
            <a:ext cx="1231379" cy="276999"/>
          </a:xfrm>
          <a:prstGeom prst="rect">
            <a:avLst/>
          </a:prstGeom>
          <a:solidFill>
            <a:schemeClr val="bg1"/>
          </a:solidFill>
        </p:spPr>
        <p:txBody>
          <a:bodyPr wrap="square" rtlCol="0">
            <a:spAutoFit/>
          </a:bodyPr>
          <a:lstStyle/>
          <a:p>
            <a:pPr algn="ctr"/>
            <a:r>
              <a:rPr lang="en-CA" sz="1200"/>
              <a:t>Laser Light</a:t>
            </a:r>
          </a:p>
        </p:txBody>
      </p:sp>
      <p:sp>
        <p:nvSpPr>
          <p:cNvPr id="43" name="Text Placeholder 2">
            <a:extLst>
              <a:ext uri="{FF2B5EF4-FFF2-40B4-BE49-F238E27FC236}">
                <a16:creationId xmlns:a16="http://schemas.microsoft.com/office/drawing/2014/main" id="{88E3F4D9-8E7A-3235-2C81-1CA921C41D9F}"/>
              </a:ext>
            </a:extLst>
          </p:cNvPr>
          <p:cNvSpPr txBox="1">
            <a:spLocks/>
          </p:cNvSpPr>
          <p:nvPr/>
        </p:nvSpPr>
        <p:spPr>
          <a:xfrm>
            <a:off x="3059832" y="5281550"/>
            <a:ext cx="5673841" cy="2646878"/>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lgn="ctr">
              <a:buFont typeface="Arial" panose="020B0604020202020204" pitchFamily="34" charset="0"/>
              <a:buChar char="•"/>
            </a:pPr>
            <a:r>
              <a:rPr lang="en-US" sz="1400" dirty="0"/>
              <a:t>Monitoring the laser intensity and obtain feedback signal</a:t>
            </a:r>
          </a:p>
          <a:p>
            <a:pPr marL="342900" indent="-342900" algn="ctr">
              <a:buFont typeface="Arial" panose="020B0604020202020204" pitchFamily="34" charset="0"/>
              <a:buChar char="•"/>
            </a:pPr>
            <a:endParaRPr lang="en-US" sz="1400" dirty="0"/>
          </a:p>
          <a:p>
            <a:pPr marL="342900" indent="-342900" algn="ctr">
              <a:buFont typeface="Arial" panose="020B0604020202020204" pitchFamily="34" charset="0"/>
              <a:buChar char="•"/>
            </a:pPr>
            <a:r>
              <a:rPr lang="en-US" sz="1400" dirty="0"/>
              <a:t>Feedback signal sent to a variable RF attenuator</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r>
              <a:rPr lang="en-US" sz="1400" dirty="0"/>
              <a:t>Correction changes the RF power to AOM 1 to cancel intensity variations</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pic>
        <p:nvPicPr>
          <p:cNvPr id="4" name="Picture 3" descr="A diagram of a laser beam&#10;&#10;Description automatically generated">
            <a:extLst>
              <a:ext uri="{FF2B5EF4-FFF2-40B4-BE49-F238E27FC236}">
                <a16:creationId xmlns:a16="http://schemas.microsoft.com/office/drawing/2014/main" id="{CD7FD483-12B5-85B4-05CA-E3EA28BF1FA7}"/>
              </a:ext>
            </a:extLst>
          </p:cNvPr>
          <p:cNvPicPr>
            <a:picLocks noChangeAspect="1"/>
          </p:cNvPicPr>
          <p:nvPr/>
        </p:nvPicPr>
        <p:blipFill rotWithShape="1">
          <a:blip r:embed="rId5">
            <a:extLst>
              <a:ext uri="{28A0092B-C50C-407E-A947-70E740481C1C}">
                <a14:useLocalDpi xmlns:a14="http://schemas.microsoft.com/office/drawing/2010/main" val="0"/>
              </a:ext>
            </a:extLst>
          </a:blip>
          <a:srcRect l="35038" t="34250" r="54725" b="60500"/>
          <a:stretch/>
        </p:blipFill>
        <p:spPr>
          <a:xfrm>
            <a:off x="2006208" y="2852936"/>
            <a:ext cx="827422" cy="290826"/>
          </a:xfrm>
          <a:prstGeom prst="rect">
            <a:avLst/>
          </a:prstGeom>
        </p:spPr>
      </p:pic>
      <p:sp>
        <p:nvSpPr>
          <p:cNvPr id="6" name="Rectangle 5">
            <a:extLst>
              <a:ext uri="{FF2B5EF4-FFF2-40B4-BE49-F238E27FC236}">
                <a16:creationId xmlns:a16="http://schemas.microsoft.com/office/drawing/2014/main" id="{1BC5CC03-68A7-4D02-BF53-2BF122863824}"/>
              </a:ext>
            </a:extLst>
          </p:cNvPr>
          <p:cNvSpPr/>
          <p:nvPr/>
        </p:nvSpPr>
        <p:spPr>
          <a:xfrm>
            <a:off x="62590" y="2447207"/>
            <a:ext cx="1845113" cy="54974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1" name="Straight Connector 10">
            <a:extLst>
              <a:ext uri="{FF2B5EF4-FFF2-40B4-BE49-F238E27FC236}">
                <a16:creationId xmlns:a16="http://schemas.microsoft.com/office/drawing/2014/main" id="{7644E17F-854F-0A9B-1C64-05939C952F9C}"/>
              </a:ext>
            </a:extLst>
          </p:cNvPr>
          <p:cNvCxnSpPr/>
          <p:nvPr/>
        </p:nvCxnSpPr>
        <p:spPr>
          <a:xfrm flipH="1" flipV="1">
            <a:off x="544986" y="2527559"/>
            <a:ext cx="1368152" cy="3947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72641B63-1D7F-219C-FA6F-43B7F67E6CBA}"/>
              </a:ext>
            </a:extLst>
          </p:cNvPr>
          <p:cNvPicPr>
            <a:picLocks noChangeAspect="1"/>
          </p:cNvPicPr>
          <p:nvPr/>
        </p:nvPicPr>
        <p:blipFill>
          <a:blip r:embed="rId6"/>
          <a:stretch>
            <a:fillRect/>
          </a:stretch>
        </p:blipFill>
        <p:spPr>
          <a:xfrm>
            <a:off x="4877085" y="4395429"/>
            <a:ext cx="1075752" cy="523773"/>
          </a:xfrm>
          <a:prstGeom prst="rect">
            <a:avLst/>
          </a:prstGeom>
        </p:spPr>
      </p:pic>
      <p:cxnSp>
        <p:nvCxnSpPr>
          <p:cNvPr id="9" name="Straight Arrow Connector 8">
            <a:extLst>
              <a:ext uri="{FF2B5EF4-FFF2-40B4-BE49-F238E27FC236}">
                <a16:creationId xmlns:a16="http://schemas.microsoft.com/office/drawing/2014/main" id="{278438DD-797C-FD8E-B71F-CA416A47DE24}"/>
              </a:ext>
            </a:extLst>
          </p:cNvPr>
          <p:cNvCxnSpPr/>
          <p:nvPr/>
        </p:nvCxnSpPr>
        <p:spPr>
          <a:xfrm>
            <a:off x="544986" y="2527559"/>
            <a:ext cx="1461222" cy="4163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8C33712-C56D-EED8-E0B6-3165CE3DF5B7}"/>
              </a:ext>
            </a:extLst>
          </p:cNvPr>
          <p:cNvCxnSpPr>
            <a:cxnSpLocks/>
          </p:cNvCxnSpPr>
          <p:nvPr/>
        </p:nvCxnSpPr>
        <p:spPr>
          <a:xfrm>
            <a:off x="2793816" y="3138717"/>
            <a:ext cx="1504472" cy="383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38BEDA1-8E7C-4C3D-B588-56C0615A9F07}"/>
              </a:ext>
            </a:extLst>
          </p:cNvPr>
          <p:cNvCxnSpPr>
            <a:cxnSpLocks/>
          </p:cNvCxnSpPr>
          <p:nvPr/>
        </p:nvCxnSpPr>
        <p:spPr>
          <a:xfrm flipV="1">
            <a:off x="2813723" y="2922347"/>
            <a:ext cx="1598105" cy="967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9BE5E8C-F8F7-2CBB-D29A-81D798D240FC}"/>
              </a:ext>
            </a:extLst>
          </p:cNvPr>
          <p:cNvCxnSpPr>
            <a:cxnSpLocks/>
          </p:cNvCxnSpPr>
          <p:nvPr/>
        </p:nvCxnSpPr>
        <p:spPr>
          <a:xfrm flipV="1">
            <a:off x="4430075" y="1885570"/>
            <a:ext cx="0" cy="10124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907CD59-73AA-73D0-2558-81EDDC01E1BC}"/>
              </a:ext>
            </a:extLst>
          </p:cNvPr>
          <p:cNvCxnSpPr>
            <a:cxnSpLocks/>
          </p:cNvCxnSpPr>
          <p:nvPr/>
        </p:nvCxnSpPr>
        <p:spPr>
          <a:xfrm flipV="1">
            <a:off x="4419116" y="1210866"/>
            <a:ext cx="0" cy="5022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7123242-ACC3-1A38-0740-7DA9803780CA}"/>
              </a:ext>
            </a:extLst>
          </p:cNvPr>
          <p:cNvCxnSpPr>
            <a:cxnSpLocks/>
          </p:cNvCxnSpPr>
          <p:nvPr/>
        </p:nvCxnSpPr>
        <p:spPr>
          <a:xfrm flipV="1">
            <a:off x="4507222" y="1790700"/>
            <a:ext cx="495784" cy="93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81C01FA-B7E7-28A6-3CE4-DBABB818CF80}"/>
              </a:ext>
            </a:extLst>
          </p:cNvPr>
          <p:cNvCxnSpPr>
            <a:cxnSpLocks/>
          </p:cNvCxnSpPr>
          <p:nvPr/>
        </p:nvCxnSpPr>
        <p:spPr>
          <a:xfrm>
            <a:off x="4430075" y="1182099"/>
            <a:ext cx="572931" cy="111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1467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light source&#10;&#10;Description automatically generated">
            <a:extLst>
              <a:ext uri="{FF2B5EF4-FFF2-40B4-BE49-F238E27FC236}">
                <a16:creationId xmlns:a16="http://schemas.microsoft.com/office/drawing/2014/main" id="{AA968461-7B16-478F-4071-3F717000D274}"/>
              </a:ext>
            </a:extLst>
          </p:cNvPr>
          <p:cNvPicPr>
            <a:picLocks noChangeAspect="1"/>
          </p:cNvPicPr>
          <p:nvPr/>
        </p:nvPicPr>
        <p:blipFill rotWithShape="1">
          <a:blip r:embed="rId3">
            <a:extLst>
              <a:ext uri="{28A0092B-C50C-407E-A947-70E740481C1C}">
                <a14:useLocalDpi xmlns:a14="http://schemas.microsoft.com/office/drawing/2010/main" val="0"/>
              </a:ext>
            </a:extLst>
          </a:blip>
          <a:srcRect l="8650" t="1924" r="4064" b="12388"/>
          <a:stretch/>
        </p:blipFill>
        <p:spPr>
          <a:xfrm>
            <a:off x="108088" y="1065209"/>
            <a:ext cx="6411302" cy="4720386"/>
          </a:xfrm>
          <a:prstGeom prst="rect">
            <a:avLst/>
          </a:prstGeom>
        </p:spPr>
      </p:pic>
      <p:sp>
        <p:nvSpPr>
          <p:cNvPr id="2" name="Title 1">
            <a:extLst>
              <a:ext uri="{FF2B5EF4-FFF2-40B4-BE49-F238E27FC236}">
                <a16:creationId xmlns:a16="http://schemas.microsoft.com/office/drawing/2014/main" id="{E9C11184-D055-E978-107B-CE1B3B356C1B}"/>
              </a:ext>
            </a:extLst>
          </p:cNvPr>
          <p:cNvSpPr>
            <a:spLocks noGrp="1"/>
          </p:cNvSpPr>
          <p:nvPr>
            <p:ph type="title"/>
          </p:nvPr>
        </p:nvSpPr>
        <p:spPr>
          <a:xfrm>
            <a:off x="251520" y="167982"/>
            <a:ext cx="7921926" cy="553998"/>
          </a:xfrm>
        </p:spPr>
        <p:txBody>
          <a:bodyPr/>
          <a:lstStyle/>
          <a:p>
            <a:pPr algn="l"/>
            <a:r>
              <a:rPr lang="en-CA"/>
              <a:t>Methodology - The Feedback System</a:t>
            </a:r>
          </a:p>
        </p:txBody>
      </p:sp>
      <p:sp>
        <p:nvSpPr>
          <p:cNvPr id="3" name="Text Placeholder 2">
            <a:extLst>
              <a:ext uri="{FF2B5EF4-FFF2-40B4-BE49-F238E27FC236}">
                <a16:creationId xmlns:a16="http://schemas.microsoft.com/office/drawing/2014/main" id="{C26B6196-9550-1831-AE0F-A7401B56C4E7}"/>
              </a:ext>
            </a:extLst>
          </p:cNvPr>
          <p:cNvSpPr>
            <a:spLocks noGrp="1"/>
          </p:cNvSpPr>
          <p:nvPr>
            <p:ph type="body" idx="1"/>
          </p:nvPr>
        </p:nvSpPr>
        <p:spPr>
          <a:xfrm>
            <a:off x="5325948" y="3209898"/>
            <a:ext cx="3638539" cy="1569660"/>
          </a:xfrm>
        </p:spPr>
        <p:txBody>
          <a:bodyPr/>
          <a:lstStyle/>
          <a:p>
            <a:pPr algn="ct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algn="ctr"/>
            <a:endParaRPr lang="en-CA" sz="1800"/>
          </a:p>
        </p:txBody>
      </p:sp>
      <p:pic>
        <p:nvPicPr>
          <p:cNvPr id="5" name="object 8">
            <a:extLst>
              <a:ext uri="{FF2B5EF4-FFF2-40B4-BE49-F238E27FC236}">
                <a16:creationId xmlns:a16="http://schemas.microsoft.com/office/drawing/2014/main" id="{0776274A-D1DF-3EC4-783B-71CA3641AF56}"/>
              </a:ext>
            </a:extLst>
          </p:cNvPr>
          <p:cNvPicPr/>
          <p:nvPr/>
        </p:nvPicPr>
        <p:blipFill>
          <a:blip r:embed="rId4" cstate="print"/>
          <a:stretch>
            <a:fillRect/>
          </a:stretch>
        </p:blipFill>
        <p:spPr>
          <a:xfrm>
            <a:off x="8214856" y="41698"/>
            <a:ext cx="746989" cy="1083046"/>
          </a:xfrm>
          <a:prstGeom prst="rect">
            <a:avLst/>
          </a:prstGeom>
        </p:spPr>
      </p:pic>
      <p:sp>
        <p:nvSpPr>
          <p:cNvPr id="17" name="TextBox 16">
            <a:extLst>
              <a:ext uri="{FF2B5EF4-FFF2-40B4-BE49-F238E27FC236}">
                <a16:creationId xmlns:a16="http://schemas.microsoft.com/office/drawing/2014/main" id="{422756BB-AB77-1C00-665D-CF6B64306D85}"/>
              </a:ext>
            </a:extLst>
          </p:cNvPr>
          <p:cNvSpPr txBox="1"/>
          <p:nvPr/>
        </p:nvSpPr>
        <p:spPr>
          <a:xfrm>
            <a:off x="3224380" y="1628800"/>
            <a:ext cx="1368152" cy="276999"/>
          </a:xfrm>
          <a:prstGeom prst="rect">
            <a:avLst/>
          </a:prstGeom>
          <a:noFill/>
        </p:spPr>
        <p:txBody>
          <a:bodyPr wrap="square" rtlCol="0">
            <a:spAutoFit/>
          </a:bodyPr>
          <a:lstStyle/>
          <a:p>
            <a:r>
              <a:rPr lang="en-CA" sz="1200"/>
              <a:t>Beam Splitter</a:t>
            </a:r>
          </a:p>
        </p:txBody>
      </p:sp>
      <p:sp>
        <p:nvSpPr>
          <p:cNvPr id="10" name="Rectangle 9">
            <a:extLst>
              <a:ext uri="{FF2B5EF4-FFF2-40B4-BE49-F238E27FC236}">
                <a16:creationId xmlns:a16="http://schemas.microsoft.com/office/drawing/2014/main" id="{F496AB84-0380-ED7F-CBE1-6C0E4E6D2F1F}"/>
              </a:ext>
            </a:extLst>
          </p:cNvPr>
          <p:cNvSpPr/>
          <p:nvPr/>
        </p:nvSpPr>
        <p:spPr>
          <a:xfrm>
            <a:off x="395536" y="2364259"/>
            <a:ext cx="1154843" cy="16589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997DAF7-FFDA-F9AD-4F50-ACB9567F5884}"/>
              </a:ext>
            </a:extLst>
          </p:cNvPr>
          <p:cNvSpPr txBox="1"/>
          <p:nvPr/>
        </p:nvSpPr>
        <p:spPr>
          <a:xfrm>
            <a:off x="395536" y="2222379"/>
            <a:ext cx="1231379" cy="276999"/>
          </a:xfrm>
          <a:prstGeom prst="rect">
            <a:avLst/>
          </a:prstGeom>
          <a:solidFill>
            <a:schemeClr val="bg1"/>
          </a:solidFill>
        </p:spPr>
        <p:txBody>
          <a:bodyPr wrap="square" rtlCol="0">
            <a:spAutoFit/>
          </a:bodyPr>
          <a:lstStyle/>
          <a:p>
            <a:pPr algn="ctr"/>
            <a:r>
              <a:rPr lang="en-CA" sz="1200"/>
              <a:t>Laser Light</a:t>
            </a:r>
          </a:p>
        </p:txBody>
      </p:sp>
      <p:pic>
        <p:nvPicPr>
          <p:cNvPr id="6" name="Picture 5" descr="A diagram of a laser beam&#10;&#10;Description automatically generated">
            <a:extLst>
              <a:ext uri="{FF2B5EF4-FFF2-40B4-BE49-F238E27FC236}">
                <a16:creationId xmlns:a16="http://schemas.microsoft.com/office/drawing/2014/main" id="{77B296AE-2EA4-A3A7-904F-BD6A2EDD7BE3}"/>
              </a:ext>
            </a:extLst>
          </p:cNvPr>
          <p:cNvPicPr>
            <a:picLocks noChangeAspect="1"/>
          </p:cNvPicPr>
          <p:nvPr/>
        </p:nvPicPr>
        <p:blipFill rotWithShape="1">
          <a:blip r:embed="rId5">
            <a:extLst>
              <a:ext uri="{28A0092B-C50C-407E-A947-70E740481C1C}">
                <a14:useLocalDpi xmlns:a14="http://schemas.microsoft.com/office/drawing/2010/main" val="0"/>
              </a:ext>
            </a:extLst>
          </a:blip>
          <a:srcRect l="35038" t="34250" r="54725" b="60500"/>
          <a:stretch/>
        </p:blipFill>
        <p:spPr>
          <a:xfrm>
            <a:off x="2006208" y="2852936"/>
            <a:ext cx="827422" cy="290826"/>
          </a:xfrm>
          <a:prstGeom prst="rect">
            <a:avLst/>
          </a:prstGeom>
        </p:spPr>
      </p:pic>
      <p:sp>
        <p:nvSpPr>
          <p:cNvPr id="8" name="Rectangle 7">
            <a:extLst>
              <a:ext uri="{FF2B5EF4-FFF2-40B4-BE49-F238E27FC236}">
                <a16:creationId xmlns:a16="http://schemas.microsoft.com/office/drawing/2014/main" id="{65764D4E-3561-1ACE-F2F3-052FDECB6550}"/>
              </a:ext>
            </a:extLst>
          </p:cNvPr>
          <p:cNvSpPr/>
          <p:nvPr/>
        </p:nvSpPr>
        <p:spPr>
          <a:xfrm>
            <a:off x="62590" y="2447207"/>
            <a:ext cx="1845113" cy="54974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Connector 8">
            <a:extLst>
              <a:ext uri="{FF2B5EF4-FFF2-40B4-BE49-F238E27FC236}">
                <a16:creationId xmlns:a16="http://schemas.microsoft.com/office/drawing/2014/main" id="{44FA7E56-D91E-A6EC-B3AC-A27FB51DA6EB}"/>
              </a:ext>
            </a:extLst>
          </p:cNvPr>
          <p:cNvCxnSpPr/>
          <p:nvPr/>
        </p:nvCxnSpPr>
        <p:spPr>
          <a:xfrm flipH="1" flipV="1">
            <a:off x="544986" y="2527559"/>
            <a:ext cx="1368152" cy="3947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6ECE7656-2C91-C663-7250-B817E53E1C56}"/>
              </a:ext>
            </a:extLst>
          </p:cNvPr>
          <p:cNvSpPr/>
          <p:nvPr/>
        </p:nvSpPr>
        <p:spPr>
          <a:xfrm>
            <a:off x="1907703" y="2815110"/>
            <a:ext cx="973148" cy="394788"/>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 Placeholder 2">
            <a:extLst>
              <a:ext uri="{FF2B5EF4-FFF2-40B4-BE49-F238E27FC236}">
                <a16:creationId xmlns:a16="http://schemas.microsoft.com/office/drawing/2014/main" id="{663C74ED-D5EF-CD3C-1C78-17CB251C7249}"/>
              </a:ext>
            </a:extLst>
          </p:cNvPr>
          <p:cNvSpPr txBox="1">
            <a:spLocks/>
          </p:cNvSpPr>
          <p:nvPr/>
        </p:nvSpPr>
        <p:spPr>
          <a:xfrm>
            <a:off x="3059832" y="5281550"/>
            <a:ext cx="5673841" cy="2646878"/>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lgn="ctr">
              <a:buFont typeface="Arial" panose="020B0604020202020204" pitchFamily="34" charset="0"/>
              <a:buChar char="•"/>
            </a:pPr>
            <a:r>
              <a:rPr lang="en-US" sz="1400" dirty="0"/>
              <a:t>Monitoring the laser intensity and obtain feedback signal</a:t>
            </a:r>
          </a:p>
          <a:p>
            <a:pPr marL="342900" indent="-342900" algn="ctr">
              <a:buFont typeface="Arial" panose="020B0604020202020204" pitchFamily="34" charset="0"/>
              <a:buChar char="•"/>
            </a:pPr>
            <a:endParaRPr lang="en-US" sz="1400" dirty="0"/>
          </a:p>
          <a:p>
            <a:pPr marL="342900" indent="-342900" algn="ctr">
              <a:buFont typeface="Arial" panose="020B0604020202020204" pitchFamily="34" charset="0"/>
              <a:buChar char="•"/>
            </a:pPr>
            <a:r>
              <a:rPr lang="en-US" sz="1400" dirty="0"/>
              <a:t>Feedback signal sent to a variable RF attenuator</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r>
              <a:rPr lang="en-US" sz="1400" dirty="0"/>
              <a:t>Correction changes the RF power to AOM 1 to cancel intensity variations</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pic>
        <p:nvPicPr>
          <p:cNvPr id="11" name="Picture 10">
            <a:extLst>
              <a:ext uri="{FF2B5EF4-FFF2-40B4-BE49-F238E27FC236}">
                <a16:creationId xmlns:a16="http://schemas.microsoft.com/office/drawing/2014/main" id="{10241F29-7D24-2D3F-B3B0-000565FEF6FD}"/>
              </a:ext>
            </a:extLst>
          </p:cNvPr>
          <p:cNvPicPr>
            <a:picLocks noChangeAspect="1"/>
          </p:cNvPicPr>
          <p:nvPr/>
        </p:nvPicPr>
        <p:blipFill>
          <a:blip r:embed="rId6"/>
          <a:stretch>
            <a:fillRect/>
          </a:stretch>
        </p:blipFill>
        <p:spPr>
          <a:xfrm>
            <a:off x="4877085" y="4395429"/>
            <a:ext cx="1075752" cy="523773"/>
          </a:xfrm>
          <a:prstGeom prst="rect">
            <a:avLst/>
          </a:prstGeom>
        </p:spPr>
      </p:pic>
      <p:cxnSp>
        <p:nvCxnSpPr>
          <p:cNvPr id="14" name="Straight Arrow Connector 13">
            <a:extLst>
              <a:ext uri="{FF2B5EF4-FFF2-40B4-BE49-F238E27FC236}">
                <a16:creationId xmlns:a16="http://schemas.microsoft.com/office/drawing/2014/main" id="{0DD10487-0A8E-69F8-7B13-B9FD1ACCD397}"/>
              </a:ext>
            </a:extLst>
          </p:cNvPr>
          <p:cNvCxnSpPr/>
          <p:nvPr/>
        </p:nvCxnSpPr>
        <p:spPr>
          <a:xfrm>
            <a:off x="544986" y="2527559"/>
            <a:ext cx="1461222" cy="4163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DAA7851-73E9-F120-6FA2-6D7E34BCF270}"/>
              </a:ext>
            </a:extLst>
          </p:cNvPr>
          <p:cNvCxnSpPr>
            <a:cxnSpLocks/>
          </p:cNvCxnSpPr>
          <p:nvPr/>
        </p:nvCxnSpPr>
        <p:spPr>
          <a:xfrm>
            <a:off x="2793816" y="3138717"/>
            <a:ext cx="1504472" cy="383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142EA04-A804-AF5A-79F9-BF14E16B9848}"/>
              </a:ext>
            </a:extLst>
          </p:cNvPr>
          <p:cNvCxnSpPr>
            <a:cxnSpLocks/>
          </p:cNvCxnSpPr>
          <p:nvPr/>
        </p:nvCxnSpPr>
        <p:spPr>
          <a:xfrm flipV="1">
            <a:off x="2813723" y="2922347"/>
            <a:ext cx="1598105" cy="967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EABA26A-D53E-F751-5E24-F98D45C242C4}"/>
              </a:ext>
            </a:extLst>
          </p:cNvPr>
          <p:cNvCxnSpPr>
            <a:cxnSpLocks/>
          </p:cNvCxnSpPr>
          <p:nvPr/>
        </p:nvCxnSpPr>
        <p:spPr>
          <a:xfrm flipV="1">
            <a:off x="4430075" y="1885570"/>
            <a:ext cx="0" cy="10124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4E9876A-4955-F8FF-6245-8AE4E9C1B587}"/>
              </a:ext>
            </a:extLst>
          </p:cNvPr>
          <p:cNvCxnSpPr>
            <a:cxnSpLocks/>
          </p:cNvCxnSpPr>
          <p:nvPr/>
        </p:nvCxnSpPr>
        <p:spPr>
          <a:xfrm flipV="1">
            <a:off x="4419116" y="1210866"/>
            <a:ext cx="0" cy="5022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FBDBCB7-B33D-56F0-ED00-D4628BF6051F}"/>
              </a:ext>
            </a:extLst>
          </p:cNvPr>
          <p:cNvCxnSpPr>
            <a:cxnSpLocks/>
          </p:cNvCxnSpPr>
          <p:nvPr/>
        </p:nvCxnSpPr>
        <p:spPr>
          <a:xfrm flipV="1">
            <a:off x="4507222" y="1790700"/>
            <a:ext cx="495784" cy="93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CEE79B2-84BB-DCFA-729B-7F5E94726504}"/>
              </a:ext>
            </a:extLst>
          </p:cNvPr>
          <p:cNvCxnSpPr>
            <a:cxnSpLocks/>
          </p:cNvCxnSpPr>
          <p:nvPr/>
        </p:nvCxnSpPr>
        <p:spPr>
          <a:xfrm>
            <a:off x="4430075" y="1182099"/>
            <a:ext cx="572931" cy="111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8342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8C984D9E-C58A-3C32-55DA-FECC6AC4CC28}"/>
              </a:ext>
            </a:extLst>
          </p:cNvPr>
          <p:cNvSpPr/>
          <p:nvPr/>
        </p:nvSpPr>
        <p:spPr>
          <a:xfrm>
            <a:off x="7115787" y="3627775"/>
            <a:ext cx="771161" cy="922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2" name="Picture 11" descr="A diagram of a light source&#10;&#10;Description automatically generated">
            <a:extLst>
              <a:ext uri="{FF2B5EF4-FFF2-40B4-BE49-F238E27FC236}">
                <a16:creationId xmlns:a16="http://schemas.microsoft.com/office/drawing/2014/main" id="{AA968461-7B16-478F-4071-3F717000D274}"/>
              </a:ext>
            </a:extLst>
          </p:cNvPr>
          <p:cNvPicPr>
            <a:picLocks noChangeAspect="1"/>
          </p:cNvPicPr>
          <p:nvPr/>
        </p:nvPicPr>
        <p:blipFill rotWithShape="1">
          <a:blip r:embed="rId3">
            <a:extLst>
              <a:ext uri="{28A0092B-C50C-407E-A947-70E740481C1C}">
                <a14:useLocalDpi xmlns:a14="http://schemas.microsoft.com/office/drawing/2010/main" val="0"/>
              </a:ext>
            </a:extLst>
          </a:blip>
          <a:srcRect l="8650" t="1924" r="4064" b="12388"/>
          <a:stretch/>
        </p:blipFill>
        <p:spPr>
          <a:xfrm>
            <a:off x="108088" y="1070819"/>
            <a:ext cx="6411302" cy="4720386"/>
          </a:xfrm>
          <a:prstGeom prst="rect">
            <a:avLst/>
          </a:prstGeom>
        </p:spPr>
      </p:pic>
      <p:sp>
        <p:nvSpPr>
          <p:cNvPr id="2" name="Title 1">
            <a:extLst>
              <a:ext uri="{FF2B5EF4-FFF2-40B4-BE49-F238E27FC236}">
                <a16:creationId xmlns:a16="http://schemas.microsoft.com/office/drawing/2014/main" id="{E9C11184-D055-E978-107B-CE1B3B356C1B}"/>
              </a:ext>
            </a:extLst>
          </p:cNvPr>
          <p:cNvSpPr>
            <a:spLocks noGrp="1"/>
          </p:cNvSpPr>
          <p:nvPr>
            <p:ph type="title"/>
          </p:nvPr>
        </p:nvSpPr>
        <p:spPr>
          <a:xfrm>
            <a:off x="251520" y="167982"/>
            <a:ext cx="7921926" cy="553998"/>
          </a:xfrm>
        </p:spPr>
        <p:txBody>
          <a:bodyPr/>
          <a:lstStyle/>
          <a:p>
            <a:pPr algn="l"/>
            <a:r>
              <a:rPr lang="en-CA"/>
              <a:t>Methodology - The Feedback System</a:t>
            </a:r>
          </a:p>
        </p:txBody>
      </p:sp>
      <p:sp>
        <p:nvSpPr>
          <p:cNvPr id="3" name="Text Placeholder 2">
            <a:extLst>
              <a:ext uri="{FF2B5EF4-FFF2-40B4-BE49-F238E27FC236}">
                <a16:creationId xmlns:a16="http://schemas.microsoft.com/office/drawing/2014/main" id="{C26B6196-9550-1831-AE0F-A7401B56C4E7}"/>
              </a:ext>
            </a:extLst>
          </p:cNvPr>
          <p:cNvSpPr>
            <a:spLocks noGrp="1"/>
          </p:cNvSpPr>
          <p:nvPr>
            <p:ph type="body" idx="1"/>
          </p:nvPr>
        </p:nvSpPr>
        <p:spPr>
          <a:xfrm>
            <a:off x="5325948" y="3209898"/>
            <a:ext cx="3638539" cy="1569660"/>
          </a:xfrm>
        </p:spPr>
        <p:txBody>
          <a:bodyPr/>
          <a:lstStyle/>
          <a:p>
            <a:pPr algn="ct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pic>
        <p:nvPicPr>
          <p:cNvPr id="5" name="object 8">
            <a:extLst>
              <a:ext uri="{FF2B5EF4-FFF2-40B4-BE49-F238E27FC236}">
                <a16:creationId xmlns:a16="http://schemas.microsoft.com/office/drawing/2014/main" id="{0776274A-D1DF-3EC4-783B-71CA3641AF56}"/>
              </a:ext>
            </a:extLst>
          </p:cNvPr>
          <p:cNvPicPr/>
          <p:nvPr/>
        </p:nvPicPr>
        <p:blipFill>
          <a:blip r:embed="rId4" cstate="print"/>
          <a:stretch>
            <a:fillRect/>
          </a:stretch>
        </p:blipFill>
        <p:spPr>
          <a:xfrm>
            <a:off x="8214856" y="41698"/>
            <a:ext cx="746989" cy="1083046"/>
          </a:xfrm>
          <a:prstGeom prst="rect">
            <a:avLst/>
          </a:prstGeom>
        </p:spPr>
      </p:pic>
      <p:sp>
        <p:nvSpPr>
          <p:cNvPr id="17" name="TextBox 16">
            <a:extLst>
              <a:ext uri="{FF2B5EF4-FFF2-40B4-BE49-F238E27FC236}">
                <a16:creationId xmlns:a16="http://schemas.microsoft.com/office/drawing/2014/main" id="{422756BB-AB77-1C00-665D-CF6B64306D85}"/>
              </a:ext>
            </a:extLst>
          </p:cNvPr>
          <p:cNvSpPr txBox="1"/>
          <p:nvPr/>
        </p:nvSpPr>
        <p:spPr>
          <a:xfrm>
            <a:off x="3224380" y="1628800"/>
            <a:ext cx="1368152" cy="276999"/>
          </a:xfrm>
          <a:prstGeom prst="rect">
            <a:avLst/>
          </a:prstGeom>
          <a:noFill/>
        </p:spPr>
        <p:txBody>
          <a:bodyPr wrap="square" rtlCol="0">
            <a:spAutoFit/>
          </a:bodyPr>
          <a:lstStyle/>
          <a:p>
            <a:r>
              <a:rPr lang="en-CA" sz="1200"/>
              <a:t>Beam Splitter</a:t>
            </a:r>
          </a:p>
        </p:txBody>
      </p:sp>
      <p:sp>
        <p:nvSpPr>
          <p:cNvPr id="10" name="Rectangle 9">
            <a:extLst>
              <a:ext uri="{FF2B5EF4-FFF2-40B4-BE49-F238E27FC236}">
                <a16:creationId xmlns:a16="http://schemas.microsoft.com/office/drawing/2014/main" id="{F496AB84-0380-ED7F-CBE1-6C0E4E6D2F1F}"/>
              </a:ext>
            </a:extLst>
          </p:cNvPr>
          <p:cNvSpPr/>
          <p:nvPr/>
        </p:nvSpPr>
        <p:spPr>
          <a:xfrm>
            <a:off x="395536" y="2364259"/>
            <a:ext cx="1154843" cy="16589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997DAF7-FFDA-F9AD-4F50-ACB9567F5884}"/>
              </a:ext>
            </a:extLst>
          </p:cNvPr>
          <p:cNvSpPr txBox="1"/>
          <p:nvPr/>
        </p:nvSpPr>
        <p:spPr>
          <a:xfrm>
            <a:off x="395536" y="2222379"/>
            <a:ext cx="1231379" cy="276999"/>
          </a:xfrm>
          <a:prstGeom prst="rect">
            <a:avLst/>
          </a:prstGeom>
          <a:solidFill>
            <a:schemeClr val="bg1"/>
          </a:solidFill>
        </p:spPr>
        <p:txBody>
          <a:bodyPr wrap="square" rtlCol="0">
            <a:spAutoFit/>
          </a:bodyPr>
          <a:lstStyle/>
          <a:p>
            <a:pPr algn="ctr"/>
            <a:r>
              <a:rPr lang="en-CA" sz="1200"/>
              <a:t>Laser Light</a:t>
            </a:r>
          </a:p>
        </p:txBody>
      </p:sp>
      <p:cxnSp>
        <p:nvCxnSpPr>
          <p:cNvPr id="37" name="Straight Connector 36">
            <a:extLst>
              <a:ext uri="{FF2B5EF4-FFF2-40B4-BE49-F238E27FC236}">
                <a16:creationId xmlns:a16="http://schemas.microsoft.com/office/drawing/2014/main" id="{522D432A-78B0-C76A-34FF-B9B8D9AE2A62}"/>
              </a:ext>
            </a:extLst>
          </p:cNvPr>
          <p:cNvCxnSpPr/>
          <p:nvPr/>
        </p:nvCxnSpPr>
        <p:spPr>
          <a:xfrm flipV="1">
            <a:off x="5076056" y="836712"/>
            <a:ext cx="0" cy="228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D2D50A-48A5-2088-1C47-8C6B191117A9}"/>
              </a:ext>
            </a:extLst>
          </p:cNvPr>
          <p:cNvCxnSpPr>
            <a:cxnSpLocks/>
          </p:cNvCxnSpPr>
          <p:nvPr/>
        </p:nvCxnSpPr>
        <p:spPr>
          <a:xfrm flipV="1">
            <a:off x="5076056" y="1556792"/>
            <a:ext cx="0" cy="1516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E1E0455-187B-6DE5-63D4-803C80847A8D}"/>
              </a:ext>
            </a:extLst>
          </p:cNvPr>
          <p:cNvCxnSpPr>
            <a:cxnSpLocks/>
          </p:cNvCxnSpPr>
          <p:nvPr/>
        </p:nvCxnSpPr>
        <p:spPr>
          <a:xfrm>
            <a:off x="7452320" y="836712"/>
            <a:ext cx="0" cy="1024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7A3572B-882B-C554-E557-6404976C7F4B}"/>
              </a:ext>
            </a:extLst>
          </p:cNvPr>
          <p:cNvCxnSpPr>
            <a:cxnSpLocks/>
          </p:cNvCxnSpPr>
          <p:nvPr/>
        </p:nvCxnSpPr>
        <p:spPr>
          <a:xfrm>
            <a:off x="5076056" y="1556792"/>
            <a:ext cx="23762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E23F91D-4A46-97B3-C1ED-E2AEDE2665F9}"/>
              </a:ext>
            </a:extLst>
          </p:cNvPr>
          <p:cNvCxnSpPr>
            <a:cxnSpLocks/>
          </p:cNvCxnSpPr>
          <p:nvPr/>
        </p:nvCxnSpPr>
        <p:spPr>
          <a:xfrm>
            <a:off x="5076056" y="836712"/>
            <a:ext cx="2376264" cy="0"/>
          </a:xfrm>
          <a:prstGeom prst="line">
            <a:avLst/>
          </a:prstGeom>
        </p:spPr>
        <p:style>
          <a:lnRef idx="1">
            <a:schemeClr val="accent1"/>
          </a:lnRef>
          <a:fillRef idx="0">
            <a:schemeClr val="accent1"/>
          </a:fillRef>
          <a:effectRef idx="0">
            <a:schemeClr val="accent1"/>
          </a:effectRef>
          <a:fontRef idx="minor">
            <a:schemeClr val="tx1"/>
          </a:fontRef>
        </p:style>
      </p:cxnSp>
      <p:sp>
        <p:nvSpPr>
          <p:cNvPr id="53" name="Rectangle: Rounded Corners 52">
            <a:extLst>
              <a:ext uri="{FF2B5EF4-FFF2-40B4-BE49-F238E27FC236}">
                <a16:creationId xmlns:a16="http://schemas.microsoft.com/office/drawing/2014/main" id="{4837EDBF-14C3-989D-EF80-2301592992CF}"/>
              </a:ext>
            </a:extLst>
          </p:cNvPr>
          <p:cNvSpPr/>
          <p:nvPr/>
        </p:nvSpPr>
        <p:spPr>
          <a:xfrm>
            <a:off x="4933128" y="1054833"/>
            <a:ext cx="285854" cy="850966"/>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54" name="Picture 53" descr="A diagram of a laser beam&#10;&#10;Description automatically generated">
            <a:extLst>
              <a:ext uri="{FF2B5EF4-FFF2-40B4-BE49-F238E27FC236}">
                <a16:creationId xmlns:a16="http://schemas.microsoft.com/office/drawing/2014/main" id="{F9F9D93C-4038-3AEA-4BBA-4853514A8680}"/>
              </a:ext>
            </a:extLst>
          </p:cNvPr>
          <p:cNvPicPr>
            <a:picLocks noChangeAspect="1"/>
          </p:cNvPicPr>
          <p:nvPr/>
        </p:nvPicPr>
        <p:blipFill rotWithShape="1">
          <a:blip r:embed="rId5">
            <a:extLst>
              <a:ext uri="{28A0092B-C50C-407E-A947-70E740481C1C}">
                <a14:useLocalDpi xmlns:a14="http://schemas.microsoft.com/office/drawing/2010/main" val="0"/>
              </a:ext>
            </a:extLst>
          </a:blip>
          <a:srcRect l="35038" t="34250" r="54725" b="60500"/>
          <a:stretch/>
        </p:blipFill>
        <p:spPr>
          <a:xfrm>
            <a:off x="2006208" y="2852936"/>
            <a:ext cx="827422" cy="290826"/>
          </a:xfrm>
          <a:prstGeom prst="rect">
            <a:avLst/>
          </a:prstGeom>
        </p:spPr>
      </p:pic>
      <p:sp>
        <p:nvSpPr>
          <p:cNvPr id="55" name="Rectangle 54">
            <a:extLst>
              <a:ext uri="{FF2B5EF4-FFF2-40B4-BE49-F238E27FC236}">
                <a16:creationId xmlns:a16="http://schemas.microsoft.com/office/drawing/2014/main" id="{B27A3E9F-EF02-07E9-5284-118934F40DBE}"/>
              </a:ext>
            </a:extLst>
          </p:cNvPr>
          <p:cNvSpPr/>
          <p:nvPr/>
        </p:nvSpPr>
        <p:spPr>
          <a:xfrm>
            <a:off x="62590" y="2447207"/>
            <a:ext cx="1845113" cy="54974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56" name="Straight Connector 55">
            <a:extLst>
              <a:ext uri="{FF2B5EF4-FFF2-40B4-BE49-F238E27FC236}">
                <a16:creationId xmlns:a16="http://schemas.microsoft.com/office/drawing/2014/main" id="{49174E92-E971-7A03-CEAD-543A402857DB}"/>
              </a:ext>
            </a:extLst>
          </p:cNvPr>
          <p:cNvCxnSpPr/>
          <p:nvPr/>
        </p:nvCxnSpPr>
        <p:spPr>
          <a:xfrm flipH="1" flipV="1">
            <a:off x="544986" y="2527559"/>
            <a:ext cx="1368152" cy="3947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1F74E460-26C0-F189-9C2C-902C254A6308}"/>
              </a:ext>
            </a:extLst>
          </p:cNvPr>
          <p:cNvSpPr txBox="1">
            <a:spLocks/>
          </p:cNvSpPr>
          <p:nvPr/>
        </p:nvSpPr>
        <p:spPr>
          <a:xfrm>
            <a:off x="2914509" y="5467679"/>
            <a:ext cx="5673841" cy="2646878"/>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lgn="ctr">
              <a:buFont typeface="Arial" panose="020B0604020202020204" pitchFamily="34" charset="0"/>
              <a:buChar char="•"/>
            </a:pPr>
            <a:r>
              <a:rPr lang="en-US" sz="1400" dirty="0"/>
              <a:t>Monitoring the laser intensity and obtain feedback signal</a:t>
            </a:r>
          </a:p>
          <a:p>
            <a:pPr marL="342900" indent="-342900" algn="ctr">
              <a:buFont typeface="Arial" panose="020B0604020202020204" pitchFamily="34" charset="0"/>
              <a:buChar char="•"/>
            </a:pPr>
            <a:endParaRPr lang="en-US" sz="1400" dirty="0"/>
          </a:p>
          <a:p>
            <a:pPr marL="342900" indent="-342900" algn="ctr">
              <a:buFont typeface="Arial" panose="020B0604020202020204" pitchFamily="34" charset="0"/>
              <a:buChar char="•"/>
            </a:pPr>
            <a:r>
              <a:rPr lang="en-US" sz="1400" dirty="0"/>
              <a:t>Feedback signal sent to a variable RF attenuator</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r>
              <a:rPr lang="en-US" sz="1400" dirty="0"/>
              <a:t>Correction changes the RF power to AOM 1 to cancel intensity variations</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sp>
        <p:nvSpPr>
          <p:cNvPr id="16" name="TextBox 15">
            <a:extLst>
              <a:ext uri="{FF2B5EF4-FFF2-40B4-BE49-F238E27FC236}">
                <a16:creationId xmlns:a16="http://schemas.microsoft.com/office/drawing/2014/main" id="{23B686A0-EB4C-2A21-A9E8-E0214DC45E15}"/>
              </a:ext>
            </a:extLst>
          </p:cNvPr>
          <p:cNvSpPr txBox="1"/>
          <p:nvPr/>
        </p:nvSpPr>
        <p:spPr>
          <a:xfrm>
            <a:off x="6230020" y="5081051"/>
            <a:ext cx="1572535" cy="230832"/>
          </a:xfrm>
          <a:prstGeom prst="rect">
            <a:avLst/>
          </a:prstGeom>
          <a:noFill/>
        </p:spPr>
        <p:txBody>
          <a:bodyPr wrap="square" rtlCol="0">
            <a:spAutoFit/>
          </a:bodyPr>
          <a:lstStyle/>
          <a:p>
            <a:pPr algn="r"/>
            <a:r>
              <a:rPr lang="en-CA" sz="900" dirty="0">
                <a:highlight>
                  <a:srgbClr val="FFFFFF"/>
                </a:highlight>
              </a:rPr>
              <a:t>Time(ms)</a:t>
            </a:r>
          </a:p>
        </p:txBody>
      </p:sp>
      <p:sp>
        <p:nvSpPr>
          <p:cNvPr id="18" name="TextBox 17">
            <a:extLst>
              <a:ext uri="{FF2B5EF4-FFF2-40B4-BE49-F238E27FC236}">
                <a16:creationId xmlns:a16="http://schemas.microsoft.com/office/drawing/2014/main" id="{C7B79A49-6794-B1E7-551E-F67653B199E7}"/>
              </a:ext>
            </a:extLst>
          </p:cNvPr>
          <p:cNvSpPr txBox="1"/>
          <p:nvPr/>
        </p:nvSpPr>
        <p:spPr>
          <a:xfrm rot="16200000">
            <a:off x="5503602" y="3138962"/>
            <a:ext cx="1572535" cy="230832"/>
          </a:xfrm>
          <a:prstGeom prst="rect">
            <a:avLst/>
          </a:prstGeom>
          <a:noFill/>
        </p:spPr>
        <p:txBody>
          <a:bodyPr wrap="square" rtlCol="0">
            <a:spAutoFit/>
          </a:bodyPr>
          <a:lstStyle/>
          <a:p>
            <a:pPr algn="r"/>
            <a:r>
              <a:rPr lang="en-CA" sz="900" dirty="0">
                <a:highlight>
                  <a:srgbClr val="FFFFFF"/>
                </a:highlight>
              </a:rPr>
              <a:t>Power(</a:t>
            </a:r>
            <a:r>
              <a:rPr lang="el-GR" sz="900" dirty="0">
                <a:highlight>
                  <a:srgbClr val="FFFFFF"/>
                </a:highlight>
                <a:latin typeface="Arial" panose="020B0604020202020204" pitchFamily="34" charset="0"/>
                <a:cs typeface="Arial" panose="020B0604020202020204" pitchFamily="34" charset="0"/>
              </a:rPr>
              <a:t>μ</a:t>
            </a:r>
            <a:r>
              <a:rPr lang="en-CA" sz="900" dirty="0">
                <a:highlight>
                  <a:srgbClr val="FFFFFF"/>
                </a:highlight>
              </a:rPr>
              <a:t>W)</a:t>
            </a:r>
          </a:p>
        </p:txBody>
      </p:sp>
      <p:sp>
        <p:nvSpPr>
          <p:cNvPr id="19" name="TextBox 18">
            <a:extLst>
              <a:ext uri="{FF2B5EF4-FFF2-40B4-BE49-F238E27FC236}">
                <a16:creationId xmlns:a16="http://schemas.microsoft.com/office/drawing/2014/main" id="{435E0030-2573-FAA5-658D-F8C8EFCCBABF}"/>
              </a:ext>
            </a:extLst>
          </p:cNvPr>
          <p:cNvSpPr txBox="1"/>
          <p:nvPr/>
        </p:nvSpPr>
        <p:spPr>
          <a:xfrm rot="16200000">
            <a:off x="5477921" y="4740485"/>
            <a:ext cx="1572535" cy="230832"/>
          </a:xfrm>
          <a:prstGeom prst="rect">
            <a:avLst/>
          </a:prstGeom>
          <a:noFill/>
        </p:spPr>
        <p:txBody>
          <a:bodyPr wrap="square" rtlCol="0">
            <a:spAutoFit/>
          </a:bodyPr>
          <a:lstStyle/>
          <a:p>
            <a:pPr algn="r"/>
            <a:r>
              <a:rPr lang="en-CA" sz="900" dirty="0">
                <a:highlight>
                  <a:srgbClr val="FFFFFF"/>
                </a:highlight>
              </a:rPr>
              <a:t>Power(</a:t>
            </a:r>
            <a:r>
              <a:rPr lang="el-GR" sz="900" dirty="0">
                <a:highlight>
                  <a:srgbClr val="FFFFFF"/>
                </a:highlight>
                <a:latin typeface="Arial" panose="020B0604020202020204" pitchFamily="34" charset="0"/>
                <a:cs typeface="Arial" panose="020B0604020202020204" pitchFamily="34" charset="0"/>
              </a:rPr>
              <a:t>μ</a:t>
            </a:r>
            <a:r>
              <a:rPr lang="en-CA" sz="900" dirty="0">
                <a:highlight>
                  <a:srgbClr val="FFFFFF"/>
                </a:highlight>
              </a:rPr>
              <a:t>W)</a:t>
            </a:r>
          </a:p>
        </p:txBody>
      </p:sp>
      <p:pic>
        <p:nvPicPr>
          <p:cNvPr id="21" name="Picture 20">
            <a:extLst>
              <a:ext uri="{FF2B5EF4-FFF2-40B4-BE49-F238E27FC236}">
                <a16:creationId xmlns:a16="http://schemas.microsoft.com/office/drawing/2014/main" id="{787A7FA1-FC53-BC82-7659-55CBABEA1A8C}"/>
              </a:ext>
            </a:extLst>
          </p:cNvPr>
          <p:cNvPicPr>
            <a:picLocks noChangeAspect="1"/>
          </p:cNvPicPr>
          <p:nvPr/>
        </p:nvPicPr>
        <p:blipFill>
          <a:blip r:embed="rId6"/>
          <a:stretch>
            <a:fillRect/>
          </a:stretch>
        </p:blipFill>
        <p:spPr>
          <a:xfrm>
            <a:off x="4877085" y="4395429"/>
            <a:ext cx="1075752" cy="523773"/>
          </a:xfrm>
          <a:prstGeom prst="rect">
            <a:avLst/>
          </a:prstGeom>
        </p:spPr>
      </p:pic>
      <p:sp>
        <p:nvSpPr>
          <p:cNvPr id="20" name="Rectangle 19">
            <a:extLst>
              <a:ext uri="{FF2B5EF4-FFF2-40B4-BE49-F238E27FC236}">
                <a16:creationId xmlns:a16="http://schemas.microsoft.com/office/drawing/2014/main" id="{839C99B2-C00C-FAEE-DF4C-4355956743B4}"/>
              </a:ext>
            </a:extLst>
          </p:cNvPr>
          <p:cNvSpPr/>
          <p:nvPr/>
        </p:nvSpPr>
        <p:spPr>
          <a:xfrm>
            <a:off x="7212555" y="1995482"/>
            <a:ext cx="605444" cy="86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E4A42579-1BAB-D836-B182-5E1741C79911}"/>
              </a:ext>
            </a:extLst>
          </p:cNvPr>
          <p:cNvSpPr/>
          <p:nvPr/>
        </p:nvSpPr>
        <p:spPr>
          <a:xfrm>
            <a:off x="7222873" y="3829109"/>
            <a:ext cx="242161" cy="512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Rectangle 28">
            <a:extLst>
              <a:ext uri="{FF2B5EF4-FFF2-40B4-BE49-F238E27FC236}">
                <a16:creationId xmlns:a16="http://schemas.microsoft.com/office/drawing/2014/main" id="{418C8F7C-F9E6-C824-F119-E0827F0DCA1F}"/>
              </a:ext>
            </a:extLst>
          </p:cNvPr>
          <p:cNvSpPr/>
          <p:nvPr/>
        </p:nvSpPr>
        <p:spPr>
          <a:xfrm>
            <a:off x="7144928" y="2005013"/>
            <a:ext cx="712881" cy="783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1" name="Straight Arrow Connector 10">
            <a:extLst>
              <a:ext uri="{FF2B5EF4-FFF2-40B4-BE49-F238E27FC236}">
                <a16:creationId xmlns:a16="http://schemas.microsoft.com/office/drawing/2014/main" id="{F8E817EE-71D3-E7AA-C1D4-FC9EED7D8428}"/>
              </a:ext>
            </a:extLst>
          </p:cNvPr>
          <p:cNvCxnSpPr/>
          <p:nvPr/>
        </p:nvCxnSpPr>
        <p:spPr>
          <a:xfrm>
            <a:off x="544986" y="2527559"/>
            <a:ext cx="1461222" cy="4163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EE2AFC7-BA3F-3AB0-CA42-7534857B9C2F}"/>
              </a:ext>
            </a:extLst>
          </p:cNvPr>
          <p:cNvCxnSpPr>
            <a:cxnSpLocks/>
          </p:cNvCxnSpPr>
          <p:nvPr/>
        </p:nvCxnSpPr>
        <p:spPr>
          <a:xfrm>
            <a:off x="2793816" y="3138717"/>
            <a:ext cx="1504472" cy="383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6CBAF50-9382-1F73-D519-4D30B1142738}"/>
              </a:ext>
            </a:extLst>
          </p:cNvPr>
          <p:cNvCxnSpPr>
            <a:cxnSpLocks/>
          </p:cNvCxnSpPr>
          <p:nvPr/>
        </p:nvCxnSpPr>
        <p:spPr>
          <a:xfrm flipV="1">
            <a:off x="2813723" y="2922347"/>
            <a:ext cx="1598105" cy="967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8752D7F-1489-7DB0-A65C-C0CFDF4419E8}"/>
              </a:ext>
            </a:extLst>
          </p:cNvPr>
          <p:cNvCxnSpPr>
            <a:cxnSpLocks/>
          </p:cNvCxnSpPr>
          <p:nvPr/>
        </p:nvCxnSpPr>
        <p:spPr>
          <a:xfrm flipV="1">
            <a:off x="4430075" y="1885570"/>
            <a:ext cx="0" cy="10124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AA4E56F-9705-4134-7B58-95A8A8138C57}"/>
              </a:ext>
            </a:extLst>
          </p:cNvPr>
          <p:cNvCxnSpPr>
            <a:cxnSpLocks/>
          </p:cNvCxnSpPr>
          <p:nvPr/>
        </p:nvCxnSpPr>
        <p:spPr>
          <a:xfrm flipV="1">
            <a:off x="4419116" y="1210866"/>
            <a:ext cx="0" cy="5022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1CDD007-DD07-6474-3729-BCA22554318B}"/>
              </a:ext>
            </a:extLst>
          </p:cNvPr>
          <p:cNvCxnSpPr>
            <a:cxnSpLocks/>
          </p:cNvCxnSpPr>
          <p:nvPr/>
        </p:nvCxnSpPr>
        <p:spPr>
          <a:xfrm flipV="1">
            <a:off x="4507222" y="1790700"/>
            <a:ext cx="495784" cy="93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662FBCD-DC8B-2D25-7613-0DE06FC203C2}"/>
              </a:ext>
            </a:extLst>
          </p:cNvPr>
          <p:cNvCxnSpPr>
            <a:cxnSpLocks/>
          </p:cNvCxnSpPr>
          <p:nvPr/>
        </p:nvCxnSpPr>
        <p:spPr>
          <a:xfrm>
            <a:off x="4430075" y="1182099"/>
            <a:ext cx="572931" cy="111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1" name="Picture 2">
            <a:extLst>
              <a:ext uri="{FF2B5EF4-FFF2-40B4-BE49-F238E27FC236}">
                <a16:creationId xmlns:a16="http://schemas.microsoft.com/office/drawing/2014/main" id="{6E3D0DFE-5FAF-4B43-D752-DB24A99E1F5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5455" r="1085" b="7490"/>
          <a:stretch/>
        </p:blipFill>
        <p:spPr bwMode="auto">
          <a:xfrm>
            <a:off x="6379051" y="1961614"/>
            <a:ext cx="2079614" cy="1621368"/>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9396C954-87E2-AD9B-5F08-D80F05E4AD80}"/>
              </a:ext>
            </a:extLst>
          </p:cNvPr>
          <p:cNvSpPr/>
          <p:nvPr/>
        </p:nvSpPr>
        <p:spPr>
          <a:xfrm>
            <a:off x="7154080" y="1995482"/>
            <a:ext cx="669895" cy="783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3" name="Picture 4">
            <a:extLst>
              <a:ext uri="{FF2B5EF4-FFF2-40B4-BE49-F238E27FC236}">
                <a16:creationId xmlns:a16="http://schemas.microsoft.com/office/drawing/2014/main" id="{76800997-D261-5CF7-F3CB-0E17F8FE810C}"/>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5892" r="968" b="7428"/>
          <a:stretch/>
        </p:blipFill>
        <p:spPr bwMode="auto">
          <a:xfrm>
            <a:off x="6394080" y="3610578"/>
            <a:ext cx="2036269" cy="1535884"/>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58FAF4AE-45B6-34CE-080F-1AF4C31D4560}"/>
              </a:ext>
            </a:extLst>
          </p:cNvPr>
          <p:cNvSpPr/>
          <p:nvPr/>
        </p:nvSpPr>
        <p:spPr>
          <a:xfrm>
            <a:off x="7132660" y="3625426"/>
            <a:ext cx="725149" cy="922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74647D04-7932-A562-3D05-2D4F6258CB32}"/>
              </a:ext>
            </a:extLst>
          </p:cNvPr>
          <p:cNvSpPr txBox="1"/>
          <p:nvPr/>
        </p:nvSpPr>
        <p:spPr>
          <a:xfrm>
            <a:off x="6224016" y="3537388"/>
            <a:ext cx="1572535" cy="230832"/>
          </a:xfrm>
          <a:prstGeom prst="rect">
            <a:avLst/>
          </a:prstGeom>
          <a:noFill/>
        </p:spPr>
        <p:txBody>
          <a:bodyPr wrap="square" rtlCol="0">
            <a:spAutoFit/>
          </a:bodyPr>
          <a:lstStyle/>
          <a:p>
            <a:pPr algn="r"/>
            <a:r>
              <a:rPr lang="en-CA" sz="900" dirty="0">
                <a:highlight>
                  <a:srgbClr val="FFFFFF"/>
                </a:highlight>
              </a:rPr>
              <a:t>Time(ms)</a:t>
            </a:r>
          </a:p>
        </p:txBody>
      </p:sp>
      <p:sp>
        <p:nvSpPr>
          <p:cNvPr id="14" name="Rectangle: Rounded Corners 13">
            <a:extLst>
              <a:ext uri="{FF2B5EF4-FFF2-40B4-BE49-F238E27FC236}">
                <a16:creationId xmlns:a16="http://schemas.microsoft.com/office/drawing/2014/main" id="{A96282F8-DFEE-3149-DD09-27BB29CA142A}"/>
              </a:ext>
            </a:extLst>
          </p:cNvPr>
          <p:cNvSpPr/>
          <p:nvPr/>
        </p:nvSpPr>
        <p:spPr>
          <a:xfrm>
            <a:off x="6134297" y="1951302"/>
            <a:ext cx="2528860" cy="3349895"/>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TextBox 34">
            <a:extLst>
              <a:ext uri="{FF2B5EF4-FFF2-40B4-BE49-F238E27FC236}">
                <a16:creationId xmlns:a16="http://schemas.microsoft.com/office/drawing/2014/main" id="{C66FD32D-F6A9-59EC-400F-E8C8CF69BB54}"/>
              </a:ext>
            </a:extLst>
          </p:cNvPr>
          <p:cNvSpPr txBox="1"/>
          <p:nvPr/>
        </p:nvSpPr>
        <p:spPr>
          <a:xfrm>
            <a:off x="7568619" y="3253361"/>
            <a:ext cx="975429" cy="446276"/>
          </a:xfrm>
          <a:prstGeom prst="rect">
            <a:avLst/>
          </a:prstGeom>
          <a:noFill/>
        </p:spPr>
        <p:txBody>
          <a:bodyPr wrap="square" rtlCol="0">
            <a:spAutoFit/>
          </a:bodyPr>
          <a:lstStyle/>
          <a:p>
            <a:r>
              <a:rPr lang="en-US" sz="800" dirty="0">
                <a:highlight>
                  <a:srgbClr val="FFFFFF"/>
                </a:highlight>
              </a:rPr>
              <a:t>SD/AVG ~ 1%</a:t>
            </a:r>
          </a:p>
          <a:p>
            <a:endParaRPr lang="en-CA" sz="1400" dirty="0"/>
          </a:p>
        </p:txBody>
      </p:sp>
      <p:sp>
        <p:nvSpPr>
          <p:cNvPr id="36" name="TextBox 35">
            <a:extLst>
              <a:ext uri="{FF2B5EF4-FFF2-40B4-BE49-F238E27FC236}">
                <a16:creationId xmlns:a16="http://schemas.microsoft.com/office/drawing/2014/main" id="{44A45D2C-C232-248D-DF57-B014D325A2CD}"/>
              </a:ext>
            </a:extLst>
          </p:cNvPr>
          <p:cNvSpPr txBox="1"/>
          <p:nvPr/>
        </p:nvSpPr>
        <p:spPr>
          <a:xfrm>
            <a:off x="7481181" y="4817239"/>
            <a:ext cx="975429" cy="446276"/>
          </a:xfrm>
          <a:prstGeom prst="rect">
            <a:avLst/>
          </a:prstGeom>
          <a:noFill/>
        </p:spPr>
        <p:txBody>
          <a:bodyPr wrap="square" rtlCol="0">
            <a:spAutoFit/>
          </a:bodyPr>
          <a:lstStyle/>
          <a:p>
            <a:r>
              <a:rPr lang="en-US" sz="800" dirty="0">
                <a:highlight>
                  <a:srgbClr val="FFFFFF"/>
                </a:highlight>
              </a:rPr>
              <a:t>SD/AVG ~ 1%</a:t>
            </a:r>
          </a:p>
          <a:p>
            <a:endParaRPr lang="en-CA" sz="1400" dirty="0"/>
          </a:p>
        </p:txBody>
      </p:sp>
    </p:spTree>
    <p:extLst>
      <p:ext uri="{BB962C8B-B14F-4D97-AF65-F5344CB8AC3E}">
        <p14:creationId xmlns:p14="http://schemas.microsoft.com/office/powerpoint/2010/main" val="878755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light source&#10;&#10;Description automatically generated">
            <a:extLst>
              <a:ext uri="{FF2B5EF4-FFF2-40B4-BE49-F238E27FC236}">
                <a16:creationId xmlns:a16="http://schemas.microsoft.com/office/drawing/2014/main" id="{AA968461-7B16-478F-4071-3F717000D274}"/>
              </a:ext>
            </a:extLst>
          </p:cNvPr>
          <p:cNvPicPr>
            <a:picLocks noChangeAspect="1"/>
          </p:cNvPicPr>
          <p:nvPr/>
        </p:nvPicPr>
        <p:blipFill rotWithShape="1">
          <a:blip r:embed="rId3">
            <a:extLst>
              <a:ext uri="{28A0092B-C50C-407E-A947-70E740481C1C}">
                <a14:useLocalDpi xmlns:a14="http://schemas.microsoft.com/office/drawing/2010/main" val="0"/>
              </a:ext>
            </a:extLst>
          </a:blip>
          <a:srcRect l="8650" t="1924" r="4064" b="12388"/>
          <a:stretch/>
        </p:blipFill>
        <p:spPr>
          <a:xfrm>
            <a:off x="108088" y="1065209"/>
            <a:ext cx="6411302" cy="4720386"/>
          </a:xfrm>
          <a:prstGeom prst="rect">
            <a:avLst/>
          </a:prstGeom>
        </p:spPr>
      </p:pic>
      <p:sp>
        <p:nvSpPr>
          <p:cNvPr id="2" name="Title 1">
            <a:extLst>
              <a:ext uri="{FF2B5EF4-FFF2-40B4-BE49-F238E27FC236}">
                <a16:creationId xmlns:a16="http://schemas.microsoft.com/office/drawing/2014/main" id="{E9C11184-D055-E978-107B-CE1B3B356C1B}"/>
              </a:ext>
            </a:extLst>
          </p:cNvPr>
          <p:cNvSpPr>
            <a:spLocks noGrp="1"/>
          </p:cNvSpPr>
          <p:nvPr>
            <p:ph type="title"/>
          </p:nvPr>
        </p:nvSpPr>
        <p:spPr>
          <a:xfrm>
            <a:off x="251520" y="167982"/>
            <a:ext cx="7921926" cy="553998"/>
          </a:xfrm>
        </p:spPr>
        <p:txBody>
          <a:bodyPr/>
          <a:lstStyle/>
          <a:p>
            <a:pPr algn="l"/>
            <a:r>
              <a:rPr lang="en-CA"/>
              <a:t>Methodology - The Feedback System</a:t>
            </a:r>
          </a:p>
        </p:txBody>
      </p:sp>
      <p:sp>
        <p:nvSpPr>
          <p:cNvPr id="3" name="Text Placeholder 2">
            <a:extLst>
              <a:ext uri="{FF2B5EF4-FFF2-40B4-BE49-F238E27FC236}">
                <a16:creationId xmlns:a16="http://schemas.microsoft.com/office/drawing/2014/main" id="{C26B6196-9550-1831-AE0F-A7401B56C4E7}"/>
              </a:ext>
            </a:extLst>
          </p:cNvPr>
          <p:cNvSpPr>
            <a:spLocks noGrp="1"/>
          </p:cNvSpPr>
          <p:nvPr>
            <p:ph type="body" idx="1"/>
          </p:nvPr>
        </p:nvSpPr>
        <p:spPr>
          <a:xfrm>
            <a:off x="5325948" y="3209898"/>
            <a:ext cx="3638539" cy="1569660"/>
          </a:xfrm>
        </p:spPr>
        <p:txBody>
          <a:bodyPr/>
          <a:lstStyle/>
          <a:p>
            <a:pPr algn="ct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algn="ctr"/>
            <a:endParaRPr lang="en-CA" sz="1800"/>
          </a:p>
        </p:txBody>
      </p:sp>
      <p:pic>
        <p:nvPicPr>
          <p:cNvPr id="5" name="object 8">
            <a:extLst>
              <a:ext uri="{FF2B5EF4-FFF2-40B4-BE49-F238E27FC236}">
                <a16:creationId xmlns:a16="http://schemas.microsoft.com/office/drawing/2014/main" id="{0776274A-D1DF-3EC4-783B-71CA3641AF56}"/>
              </a:ext>
            </a:extLst>
          </p:cNvPr>
          <p:cNvPicPr/>
          <p:nvPr/>
        </p:nvPicPr>
        <p:blipFill>
          <a:blip r:embed="rId4" cstate="print"/>
          <a:stretch>
            <a:fillRect/>
          </a:stretch>
        </p:blipFill>
        <p:spPr>
          <a:xfrm>
            <a:off x="8214856" y="41698"/>
            <a:ext cx="746989" cy="1083046"/>
          </a:xfrm>
          <a:prstGeom prst="rect">
            <a:avLst/>
          </a:prstGeom>
        </p:spPr>
      </p:pic>
      <p:sp>
        <p:nvSpPr>
          <p:cNvPr id="17" name="TextBox 16">
            <a:extLst>
              <a:ext uri="{FF2B5EF4-FFF2-40B4-BE49-F238E27FC236}">
                <a16:creationId xmlns:a16="http://schemas.microsoft.com/office/drawing/2014/main" id="{422756BB-AB77-1C00-665D-CF6B64306D85}"/>
              </a:ext>
            </a:extLst>
          </p:cNvPr>
          <p:cNvSpPr txBox="1"/>
          <p:nvPr/>
        </p:nvSpPr>
        <p:spPr>
          <a:xfrm>
            <a:off x="3224380" y="1628800"/>
            <a:ext cx="1368152" cy="276999"/>
          </a:xfrm>
          <a:prstGeom prst="rect">
            <a:avLst/>
          </a:prstGeom>
          <a:noFill/>
        </p:spPr>
        <p:txBody>
          <a:bodyPr wrap="square" rtlCol="0">
            <a:spAutoFit/>
          </a:bodyPr>
          <a:lstStyle/>
          <a:p>
            <a:r>
              <a:rPr lang="en-CA" sz="1200"/>
              <a:t>Beam Splitter</a:t>
            </a:r>
          </a:p>
        </p:txBody>
      </p:sp>
      <p:sp>
        <p:nvSpPr>
          <p:cNvPr id="10" name="Rectangle 9">
            <a:extLst>
              <a:ext uri="{FF2B5EF4-FFF2-40B4-BE49-F238E27FC236}">
                <a16:creationId xmlns:a16="http://schemas.microsoft.com/office/drawing/2014/main" id="{F496AB84-0380-ED7F-CBE1-6C0E4E6D2F1F}"/>
              </a:ext>
            </a:extLst>
          </p:cNvPr>
          <p:cNvSpPr/>
          <p:nvPr/>
        </p:nvSpPr>
        <p:spPr>
          <a:xfrm>
            <a:off x="395536" y="2364259"/>
            <a:ext cx="1154843" cy="16589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997DAF7-FFDA-F9AD-4F50-ACB9567F5884}"/>
              </a:ext>
            </a:extLst>
          </p:cNvPr>
          <p:cNvSpPr txBox="1"/>
          <p:nvPr/>
        </p:nvSpPr>
        <p:spPr>
          <a:xfrm>
            <a:off x="395536" y="2222379"/>
            <a:ext cx="1231379" cy="276999"/>
          </a:xfrm>
          <a:prstGeom prst="rect">
            <a:avLst/>
          </a:prstGeom>
          <a:solidFill>
            <a:schemeClr val="bg1"/>
          </a:solidFill>
        </p:spPr>
        <p:txBody>
          <a:bodyPr wrap="square" rtlCol="0">
            <a:spAutoFit/>
          </a:bodyPr>
          <a:lstStyle/>
          <a:p>
            <a:pPr algn="ctr"/>
            <a:r>
              <a:rPr lang="en-CA" sz="1200"/>
              <a:t>Laser Light</a:t>
            </a:r>
          </a:p>
        </p:txBody>
      </p:sp>
      <p:sp>
        <p:nvSpPr>
          <p:cNvPr id="9" name="Rectangle: Rounded Corners 8">
            <a:extLst>
              <a:ext uri="{FF2B5EF4-FFF2-40B4-BE49-F238E27FC236}">
                <a16:creationId xmlns:a16="http://schemas.microsoft.com/office/drawing/2014/main" id="{B2DE7C27-6AAC-1223-AE06-B199FFB0FEAF}"/>
              </a:ext>
            </a:extLst>
          </p:cNvPr>
          <p:cNvSpPr/>
          <p:nvPr/>
        </p:nvSpPr>
        <p:spPr>
          <a:xfrm>
            <a:off x="4788024" y="4293097"/>
            <a:ext cx="1223861" cy="737458"/>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5" name="Picture 14" descr="A diagram of a laser beam&#10;&#10;Description automatically generated">
            <a:extLst>
              <a:ext uri="{FF2B5EF4-FFF2-40B4-BE49-F238E27FC236}">
                <a16:creationId xmlns:a16="http://schemas.microsoft.com/office/drawing/2014/main" id="{37AD9615-7795-8E60-75EE-FB416A374B03}"/>
              </a:ext>
            </a:extLst>
          </p:cNvPr>
          <p:cNvPicPr>
            <a:picLocks noChangeAspect="1"/>
          </p:cNvPicPr>
          <p:nvPr/>
        </p:nvPicPr>
        <p:blipFill rotWithShape="1">
          <a:blip r:embed="rId5">
            <a:extLst>
              <a:ext uri="{28A0092B-C50C-407E-A947-70E740481C1C}">
                <a14:useLocalDpi xmlns:a14="http://schemas.microsoft.com/office/drawing/2010/main" val="0"/>
              </a:ext>
            </a:extLst>
          </a:blip>
          <a:srcRect l="35038" t="34250" r="54725" b="60500"/>
          <a:stretch/>
        </p:blipFill>
        <p:spPr>
          <a:xfrm>
            <a:off x="2006208" y="2852936"/>
            <a:ext cx="827422" cy="290826"/>
          </a:xfrm>
          <a:prstGeom prst="rect">
            <a:avLst/>
          </a:prstGeom>
        </p:spPr>
      </p:pic>
      <p:sp>
        <p:nvSpPr>
          <p:cNvPr id="16" name="Rectangle 15">
            <a:extLst>
              <a:ext uri="{FF2B5EF4-FFF2-40B4-BE49-F238E27FC236}">
                <a16:creationId xmlns:a16="http://schemas.microsoft.com/office/drawing/2014/main" id="{CE6BDC40-69BC-187B-A0FD-D4AA1EA15165}"/>
              </a:ext>
            </a:extLst>
          </p:cNvPr>
          <p:cNvSpPr/>
          <p:nvPr/>
        </p:nvSpPr>
        <p:spPr>
          <a:xfrm>
            <a:off x="62590" y="2447207"/>
            <a:ext cx="1845113" cy="54974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8" name="Straight Connector 17">
            <a:extLst>
              <a:ext uri="{FF2B5EF4-FFF2-40B4-BE49-F238E27FC236}">
                <a16:creationId xmlns:a16="http://schemas.microsoft.com/office/drawing/2014/main" id="{D79491EB-8417-24F1-3E6A-3FF582D1011C}"/>
              </a:ext>
            </a:extLst>
          </p:cNvPr>
          <p:cNvCxnSpPr/>
          <p:nvPr/>
        </p:nvCxnSpPr>
        <p:spPr>
          <a:xfrm flipH="1" flipV="1">
            <a:off x="544986" y="2527559"/>
            <a:ext cx="1368152" cy="3947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5B32B819-26D1-2EAF-F40C-0FC7E5592A86}"/>
              </a:ext>
            </a:extLst>
          </p:cNvPr>
          <p:cNvSpPr txBox="1">
            <a:spLocks/>
          </p:cNvSpPr>
          <p:nvPr/>
        </p:nvSpPr>
        <p:spPr>
          <a:xfrm>
            <a:off x="3059832" y="5281550"/>
            <a:ext cx="5673841" cy="2646878"/>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lgn="ctr">
              <a:buFont typeface="Arial" panose="020B0604020202020204" pitchFamily="34" charset="0"/>
              <a:buChar char="•"/>
            </a:pPr>
            <a:r>
              <a:rPr lang="en-US" sz="1400" dirty="0"/>
              <a:t>Monitoring the laser intensity and obtain feedback signal</a:t>
            </a:r>
          </a:p>
          <a:p>
            <a:pPr marL="342900" indent="-342900" algn="ctr">
              <a:buFont typeface="Arial" panose="020B0604020202020204" pitchFamily="34" charset="0"/>
              <a:buChar char="•"/>
            </a:pPr>
            <a:endParaRPr lang="en-US" sz="1400" dirty="0"/>
          </a:p>
          <a:p>
            <a:pPr marL="342900" indent="-342900" algn="ctr">
              <a:buFont typeface="Arial" panose="020B0604020202020204" pitchFamily="34" charset="0"/>
              <a:buChar char="•"/>
            </a:pPr>
            <a:r>
              <a:rPr lang="en-US" sz="1400" dirty="0"/>
              <a:t>Feedback signal sent to a variable RF attenuator</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r>
              <a:rPr lang="en-US" sz="1400" dirty="0"/>
              <a:t>Correction changes the RF power to AOM 1 to cancel intensity variations</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pic>
        <p:nvPicPr>
          <p:cNvPr id="6" name="Picture 5">
            <a:extLst>
              <a:ext uri="{FF2B5EF4-FFF2-40B4-BE49-F238E27FC236}">
                <a16:creationId xmlns:a16="http://schemas.microsoft.com/office/drawing/2014/main" id="{857BAD5C-F483-6E4C-748C-964C5E1DB83A}"/>
              </a:ext>
            </a:extLst>
          </p:cNvPr>
          <p:cNvPicPr>
            <a:picLocks noChangeAspect="1"/>
          </p:cNvPicPr>
          <p:nvPr/>
        </p:nvPicPr>
        <p:blipFill>
          <a:blip r:embed="rId6"/>
          <a:stretch>
            <a:fillRect/>
          </a:stretch>
        </p:blipFill>
        <p:spPr>
          <a:xfrm>
            <a:off x="4877085" y="4395429"/>
            <a:ext cx="1075752" cy="523773"/>
          </a:xfrm>
          <a:prstGeom prst="rect">
            <a:avLst/>
          </a:prstGeom>
        </p:spPr>
      </p:pic>
      <p:cxnSp>
        <p:nvCxnSpPr>
          <p:cNvPr id="8" name="Straight Arrow Connector 7">
            <a:extLst>
              <a:ext uri="{FF2B5EF4-FFF2-40B4-BE49-F238E27FC236}">
                <a16:creationId xmlns:a16="http://schemas.microsoft.com/office/drawing/2014/main" id="{BE044D5F-6B5D-50F1-C31F-D04821093C61}"/>
              </a:ext>
            </a:extLst>
          </p:cNvPr>
          <p:cNvCxnSpPr/>
          <p:nvPr/>
        </p:nvCxnSpPr>
        <p:spPr>
          <a:xfrm>
            <a:off x="544986" y="2527559"/>
            <a:ext cx="1461222" cy="4163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AC42820-B4AD-158B-B88A-E10787FAC56C}"/>
              </a:ext>
            </a:extLst>
          </p:cNvPr>
          <p:cNvCxnSpPr>
            <a:cxnSpLocks/>
          </p:cNvCxnSpPr>
          <p:nvPr/>
        </p:nvCxnSpPr>
        <p:spPr>
          <a:xfrm>
            <a:off x="2793816" y="3138717"/>
            <a:ext cx="1504472" cy="383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02F28F4-3341-259D-E8FB-A1F9054BD3E0}"/>
              </a:ext>
            </a:extLst>
          </p:cNvPr>
          <p:cNvCxnSpPr>
            <a:cxnSpLocks/>
          </p:cNvCxnSpPr>
          <p:nvPr/>
        </p:nvCxnSpPr>
        <p:spPr>
          <a:xfrm flipV="1">
            <a:off x="2813723" y="2922347"/>
            <a:ext cx="1598105" cy="967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A94EA7A-05B2-3BD6-CD2A-6E4293E48FDC}"/>
              </a:ext>
            </a:extLst>
          </p:cNvPr>
          <p:cNvCxnSpPr>
            <a:cxnSpLocks/>
          </p:cNvCxnSpPr>
          <p:nvPr/>
        </p:nvCxnSpPr>
        <p:spPr>
          <a:xfrm flipV="1">
            <a:off x="4430075" y="1885570"/>
            <a:ext cx="0" cy="10124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99A77BC-EC92-2DEE-9E7C-FD6E78FDA15C}"/>
              </a:ext>
            </a:extLst>
          </p:cNvPr>
          <p:cNvCxnSpPr>
            <a:cxnSpLocks/>
          </p:cNvCxnSpPr>
          <p:nvPr/>
        </p:nvCxnSpPr>
        <p:spPr>
          <a:xfrm flipV="1">
            <a:off x="4419116" y="1210866"/>
            <a:ext cx="0" cy="5022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7EC539E-B22C-56D9-3376-21117A946F62}"/>
              </a:ext>
            </a:extLst>
          </p:cNvPr>
          <p:cNvCxnSpPr>
            <a:cxnSpLocks/>
          </p:cNvCxnSpPr>
          <p:nvPr/>
        </p:nvCxnSpPr>
        <p:spPr>
          <a:xfrm flipV="1">
            <a:off x="4507222" y="1790700"/>
            <a:ext cx="495784" cy="93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48D4029-83D9-C10A-789C-A1C1E17EC4C6}"/>
              </a:ext>
            </a:extLst>
          </p:cNvPr>
          <p:cNvCxnSpPr>
            <a:cxnSpLocks/>
          </p:cNvCxnSpPr>
          <p:nvPr/>
        </p:nvCxnSpPr>
        <p:spPr>
          <a:xfrm>
            <a:off x="4430075" y="1182099"/>
            <a:ext cx="572931" cy="111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1959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light source&#10;&#10;Description automatically generated">
            <a:extLst>
              <a:ext uri="{FF2B5EF4-FFF2-40B4-BE49-F238E27FC236}">
                <a16:creationId xmlns:a16="http://schemas.microsoft.com/office/drawing/2014/main" id="{AA968461-7B16-478F-4071-3F717000D274}"/>
              </a:ext>
            </a:extLst>
          </p:cNvPr>
          <p:cNvPicPr>
            <a:picLocks noChangeAspect="1"/>
          </p:cNvPicPr>
          <p:nvPr/>
        </p:nvPicPr>
        <p:blipFill rotWithShape="1">
          <a:blip r:embed="rId3">
            <a:extLst>
              <a:ext uri="{28A0092B-C50C-407E-A947-70E740481C1C}">
                <a14:useLocalDpi xmlns:a14="http://schemas.microsoft.com/office/drawing/2010/main" val="0"/>
              </a:ext>
            </a:extLst>
          </a:blip>
          <a:srcRect l="8650" t="1924" r="4064" b="12388"/>
          <a:stretch/>
        </p:blipFill>
        <p:spPr>
          <a:xfrm>
            <a:off x="108088" y="1065209"/>
            <a:ext cx="6411302" cy="4720386"/>
          </a:xfrm>
          <a:prstGeom prst="rect">
            <a:avLst/>
          </a:prstGeom>
        </p:spPr>
      </p:pic>
      <p:sp>
        <p:nvSpPr>
          <p:cNvPr id="2" name="Title 1">
            <a:extLst>
              <a:ext uri="{FF2B5EF4-FFF2-40B4-BE49-F238E27FC236}">
                <a16:creationId xmlns:a16="http://schemas.microsoft.com/office/drawing/2014/main" id="{E9C11184-D055-E978-107B-CE1B3B356C1B}"/>
              </a:ext>
            </a:extLst>
          </p:cNvPr>
          <p:cNvSpPr>
            <a:spLocks noGrp="1"/>
          </p:cNvSpPr>
          <p:nvPr>
            <p:ph type="title"/>
          </p:nvPr>
        </p:nvSpPr>
        <p:spPr>
          <a:xfrm>
            <a:off x="251520" y="167982"/>
            <a:ext cx="7921926" cy="553998"/>
          </a:xfrm>
        </p:spPr>
        <p:txBody>
          <a:bodyPr/>
          <a:lstStyle/>
          <a:p>
            <a:pPr algn="l"/>
            <a:r>
              <a:rPr lang="en-CA"/>
              <a:t>Methodology - The Feedback System</a:t>
            </a:r>
          </a:p>
        </p:txBody>
      </p:sp>
      <p:sp>
        <p:nvSpPr>
          <p:cNvPr id="3" name="Text Placeholder 2">
            <a:extLst>
              <a:ext uri="{FF2B5EF4-FFF2-40B4-BE49-F238E27FC236}">
                <a16:creationId xmlns:a16="http://schemas.microsoft.com/office/drawing/2014/main" id="{C26B6196-9550-1831-AE0F-A7401B56C4E7}"/>
              </a:ext>
            </a:extLst>
          </p:cNvPr>
          <p:cNvSpPr>
            <a:spLocks noGrp="1"/>
          </p:cNvSpPr>
          <p:nvPr>
            <p:ph type="body" idx="1"/>
          </p:nvPr>
        </p:nvSpPr>
        <p:spPr>
          <a:xfrm>
            <a:off x="5325948" y="3209898"/>
            <a:ext cx="3638539" cy="1569660"/>
          </a:xfrm>
        </p:spPr>
        <p:txBody>
          <a:bodyPr/>
          <a:lstStyle/>
          <a:p>
            <a:pPr algn="ct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marL="342900" indent="-342900" algn="ctr">
              <a:buFont typeface="Arial" panose="020B0604020202020204" pitchFamily="34" charset="0"/>
              <a:buChar char="•"/>
            </a:pPr>
            <a:endParaRPr lang="en-CA" sz="1400"/>
          </a:p>
          <a:p>
            <a:pPr algn="ctr"/>
            <a:endParaRPr lang="en-CA" sz="1800"/>
          </a:p>
        </p:txBody>
      </p:sp>
      <p:pic>
        <p:nvPicPr>
          <p:cNvPr id="5" name="object 8">
            <a:extLst>
              <a:ext uri="{FF2B5EF4-FFF2-40B4-BE49-F238E27FC236}">
                <a16:creationId xmlns:a16="http://schemas.microsoft.com/office/drawing/2014/main" id="{0776274A-D1DF-3EC4-783B-71CA3641AF56}"/>
              </a:ext>
            </a:extLst>
          </p:cNvPr>
          <p:cNvPicPr/>
          <p:nvPr/>
        </p:nvPicPr>
        <p:blipFill>
          <a:blip r:embed="rId4" cstate="print"/>
          <a:stretch>
            <a:fillRect/>
          </a:stretch>
        </p:blipFill>
        <p:spPr>
          <a:xfrm>
            <a:off x="8214856" y="41698"/>
            <a:ext cx="746989" cy="1083046"/>
          </a:xfrm>
          <a:prstGeom prst="rect">
            <a:avLst/>
          </a:prstGeom>
        </p:spPr>
      </p:pic>
      <p:sp>
        <p:nvSpPr>
          <p:cNvPr id="17" name="TextBox 16">
            <a:extLst>
              <a:ext uri="{FF2B5EF4-FFF2-40B4-BE49-F238E27FC236}">
                <a16:creationId xmlns:a16="http://schemas.microsoft.com/office/drawing/2014/main" id="{422756BB-AB77-1C00-665D-CF6B64306D85}"/>
              </a:ext>
            </a:extLst>
          </p:cNvPr>
          <p:cNvSpPr txBox="1"/>
          <p:nvPr/>
        </p:nvSpPr>
        <p:spPr>
          <a:xfrm>
            <a:off x="3224380" y="1628800"/>
            <a:ext cx="1368152" cy="276999"/>
          </a:xfrm>
          <a:prstGeom prst="rect">
            <a:avLst/>
          </a:prstGeom>
          <a:noFill/>
        </p:spPr>
        <p:txBody>
          <a:bodyPr wrap="square" rtlCol="0">
            <a:spAutoFit/>
          </a:bodyPr>
          <a:lstStyle/>
          <a:p>
            <a:r>
              <a:rPr lang="en-CA" sz="1200"/>
              <a:t>Beam Splitter</a:t>
            </a:r>
          </a:p>
        </p:txBody>
      </p:sp>
      <p:sp>
        <p:nvSpPr>
          <p:cNvPr id="10" name="Rectangle 9">
            <a:extLst>
              <a:ext uri="{FF2B5EF4-FFF2-40B4-BE49-F238E27FC236}">
                <a16:creationId xmlns:a16="http://schemas.microsoft.com/office/drawing/2014/main" id="{F496AB84-0380-ED7F-CBE1-6C0E4E6D2F1F}"/>
              </a:ext>
            </a:extLst>
          </p:cNvPr>
          <p:cNvSpPr/>
          <p:nvPr/>
        </p:nvSpPr>
        <p:spPr>
          <a:xfrm>
            <a:off x="395536" y="2364259"/>
            <a:ext cx="1154843" cy="16589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997DAF7-FFDA-F9AD-4F50-ACB9567F5884}"/>
              </a:ext>
            </a:extLst>
          </p:cNvPr>
          <p:cNvSpPr txBox="1"/>
          <p:nvPr/>
        </p:nvSpPr>
        <p:spPr>
          <a:xfrm>
            <a:off x="395536" y="2222379"/>
            <a:ext cx="1231379" cy="276999"/>
          </a:xfrm>
          <a:prstGeom prst="rect">
            <a:avLst/>
          </a:prstGeom>
          <a:solidFill>
            <a:schemeClr val="bg1"/>
          </a:solidFill>
        </p:spPr>
        <p:txBody>
          <a:bodyPr wrap="square" rtlCol="0">
            <a:spAutoFit/>
          </a:bodyPr>
          <a:lstStyle/>
          <a:p>
            <a:pPr algn="ctr"/>
            <a:r>
              <a:rPr lang="en-CA" sz="1200"/>
              <a:t>Laser Light</a:t>
            </a:r>
          </a:p>
        </p:txBody>
      </p:sp>
      <p:sp>
        <p:nvSpPr>
          <p:cNvPr id="4" name="Rectangle: Rounded Corners 3">
            <a:extLst>
              <a:ext uri="{FF2B5EF4-FFF2-40B4-BE49-F238E27FC236}">
                <a16:creationId xmlns:a16="http://schemas.microsoft.com/office/drawing/2014/main" id="{B2DE7C27-6AAC-1223-AE06-B199FFB0FEAF}"/>
              </a:ext>
            </a:extLst>
          </p:cNvPr>
          <p:cNvSpPr/>
          <p:nvPr/>
        </p:nvSpPr>
        <p:spPr>
          <a:xfrm>
            <a:off x="1763688" y="3425402"/>
            <a:ext cx="1223861" cy="2523878"/>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Picture 5" descr="A diagram of a laser beam&#10;&#10;Description automatically generated">
            <a:extLst>
              <a:ext uri="{FF2B5EF4-FFF2-40B4-BE49-F238E27FC236}">
                <a16:creationId xmlns:a16="http://schemas.microsoft.com/office/drawing/2014/main" id="{8A9D4469-0B6D-C4F5-9AFE-31DB9E959ADC}"/>
              </a:ext>
            </a:extLst>
          </p:cNvPr>
          <p:cNvPicPr>
            <a:picLocks noChangeAspect="1"/>
          </p:cNvPicPr>
          <p:nvPr/>
        </p:nvPicPr>
        <p:blipFill rotWithShape="1">
          <a:blip r:embed="rId5">
            <a:extLst>
              <a:ext uri="{28A0092B-C50C-407E-A947-70E740481C1C}">
                <a14:useLocalDpi xmlns:a14="http://schemas.microsoft.com/office/drawing/2010/main" val="0"/>
              </a:ext>
            </a:extLst>
          </a:blip>
          <a:srcRect l="35038" t="34250" r="54725" b="60500"/>
          <a:stretch/>
        </p:blipFill>
        <p:spPr>
          <a:xfrm>
            <a:off x="2006208" y="2852936"/>
            <a:ext cx="827422" cy="290826"/>
          </a:xfrm>
          <a:prstGeom prst="rect">
            <a:avLst/>
          </a:prstGeom>
        </p:spPr>
      </p:pic>
      <p:sp>
        <p:nvSpPr>
          <p:cNvPr id="8" name="Rectangle 7">
            <a:extLst>
              <a:ext uri="{FF2B5EF4-FFF2-40B4-BE49-F238E27FC236}">
                <a16:creationId xmlns:a16="http://schemas.microsoft.com/office/drawing/2014/main" id="{D1FDD1C0-F841-7331-0686-E6FFF9DF4F42}"/>
              </a:ext>
            </a:extLst>
          </p:cNvPr>
          <p:cNvSpPr/>
          <p:nvPr/>
        </p:nvSpPr>
        <p:spPr>
          <a:xfrm>
            <a:off x="62590" y="2447207"/>
            <a:ext cx="1845113" cy="54974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1" name="Straight Connector 10">
            <a:extLst>
              <a:ext uri="{FF2B5EF4-FFF2-40B4-BE49-F238E27FC236}">
                <a16:creationId xmlns:a16="http://schemas.microsoft.com/office/drawing/2014/main" id="{C9A9CFB1-B153-C79C-B8A9-80472078FF64}"/>
              </a:ext>
            </a:extLst>
          </p:cNvPr>
          <p:cNvCxnSpPr/>
          <p:nvPr/>
        </p:nvCxnSpPr>
        <p:spPr>
          <a:xfrm flipH="1" flipV="1">
            <a:off x="544986" y="2527559"/>
            <a:ext cx="1368152" cy="3947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 Placeholder 2">
            <a:extLst>
              <a:ext uri="{FF2B5EF4-FFF2-40B4-BE49-F238E27FC236}">
                <a16:creationId xmlns:a16="http://schemas.microsoft.com/office/drawing/2014/main" id="{63BE0671-37CF-0AD7-485A-6B2DA0C3029F}"/>
              </a:ext>
            </a:extLst>
          </p:cNvPr>
          <p:cNvSpPr txBox="1">
            <a:spLocks/>
          </p:cNvSpPr>
          <p:nvPr/>
        </p:nvSpPr>
        <p:spPr>
          <a:xfrm>
            <a:off x="3059832" y="5281550"/>
            <a:ext cx="5673841" cy="2646878"/>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lgn="ctr">
              <a:buFont typeface="Arial" panose="020B0604020202020204" pitchFamily="34" charset="0"/>
              <a:buChar char="•"/>
            </a:pPr>
            <a:r>
              <a:rPr lang="en-US" sz="1400" dirty="0"/>
              <a:t>Monitoring the laser intensity and obtain feedback signal</a:t>
            </a:r>
          </a:p>
          <a:p>
            <a:pPr marL="342900" indent="-342900" algn="ctr">
              <a:buFont typeface="Arial" panose="020B0604020202020204" pitchFamily="34" charset="0"/>
              <a:buChar char="•"/>
            </a:pPr>
            <a:endParaRPr lang="en-US" sz="1400" dirty="0"/>
          </a:p>
          <a:p>
            <a:pPr marL="342900" indent="-342900" algn="ctr">
              <a:buFont typeface="Arial" panose="020B0604020202020204" pitchFamily="34" charset="0"/>
              <a:buChar char="•"/>
            </a:pPr>
            <a:r>
              <a:rPr lang="en-US" sz="1400" dirty="0"/>
              <a:t>Feedback signal sent to a variable RF attenuator</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r>
              <a:rPr lang="en-US" sz="1400" dirty="0"/>
              <a:t>Correction changes the RF power to AOM 1 to cancel intensity variations</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pic>
        <p:nvPicPr>
          <p:cNvPr id="13" name="Picture 12">
            <a:extLst>
              <a:ext uri="{FF2B5EF4-FFF2-40B4-BE49-F238E27FC236}">
                <a16:creationId xmlns:a16="http://schemas.microsoft.com/office/drawing/2014/main" id="{C128119F-DED2-7DC6-8A0F-5DE28BB3CA36}"/>
              </a:ext>
            </a:extLst>
          </p:cNvPr>
          <p:cNvPicPr>
            <a:picLocks noChangeAspect="1"/>
          </p:cNvPicPr>
          <p:nvPr/>
        </p:nvPicPr>
        <p:blipFill>
          <a:blip r:embed="rId6"/>
          <a:stretch>
            <a:fillRect/>
          </a:stretch>
        </p:blipFill>
        <p:spPr>
          <a:xfrm>
            <a:off x="4877085" y="4395429"/>
            <a:ext cx="1075752" cy="523773"/>
          </a:xfrm>
          <a:prstGeom prst="rect">
            <a:avLst/>
          </a:prstGeom>
        </p:spPr>
      </p:pic>
      <p:cxnSp>
        <p:nvCxnSpPr>
          <p:cNvPr id="14" name="Straight Arrow Connector 13">
            <a:extLst>
              <a:ext uri="{FF2B5EF4-FFF2-40B4-BE49-F238E27FC236}">
                <a16:creationId xmlns:a16="http://schemas.microsoft.com/office/drawing/2014/main" id="{A08EC78A-6462-B747-B1A3-597AE6B1A801}"/>
              </a:ext>
            </a:extLst>
          </p:cNvPr>
          <p:cNvCxnSpPr/>
          <p:nvPr/>
        </p:nvCxnSpPr>
        <p:spPr>
          <a:xfrm>
            <a:off x="544986" y="2527559"/>
            <a:ext cx="1461222" cy="4163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1C84369-17A1-05DF-970F-9FE32AA86B63}"/>
              </a:ext>
            </a:extLst>
          </p:cNvPr>
          <p:cNvCxnSpPr>
            <a:cxnSpLocks/>
          </p:cNvCxnSpPr>
          <p:nvPr/>
        </p:nvCxnSpPr>
        <p:spPr>
          <a:xfrm>
            <a:off x="2793816" y="3138717"/>
            <a:ext cx="1504472" cy="383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9D0B05D-7DA5-291B-C54F-B1980C6DEA38}"/>
              </a:ext>
            </a:extLst>
          </p:cNvPr>
          <p:cNvCxnSpPr>
            <a:cxnSpLocks/>
          </p:cNvCxnSpPr>
          <p:nvPr/>
        </p:nvCxnSpPr>
        <p:spPr>
          <a:xfrm flipV="1">
            <a:off x="2813723" y="2922347"/>
            <a:ext cx="1598105" cy="967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3BD370B-065B-2FC5-DC1C-D4B21BED39CD}"/>
              </a:ext>
            </a:extLst>
          </p:cNvPr>
          <p:cNvCxnSpPr>
            <a:cxnSpLocks/>
          </p:cNvCxnSpPr>
          <p:nvPr/>
        </p:nvCxnSpPr>
        <p:spPr>
          <a:xfrm flipV="1">
            <a:off x="4430075" y="1885570"/>
            <a:ext cx="0" cy="10124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4F786D7-6064-8392-7B07-8240D39D14CD}"/>
              </a:ext>
            </a:extLst>
          </p:cNvPr>
          <p:cNvCxnSpPr>
            <a:cxnSpLocks/>
          </p:cNvCxnSpPr>
          <p:nvPr/>
        </p:nvCxnSpPr>
        <p:spPr>
          <a:xfrm flipV="1">
            <a:off x="4419116" y="1210866"/>
            <a:ext cx="0" cy="5022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0167DB4-2940-3E28-A92D-A7FC829DB90B}"/>
              </a:ext>
            </a:extLst>
          </p:cNvPr>
          <p:cNvCxnSpPr>
            <a:cxnSpLocks/>
          </p:cNvCxnSpPr>
          <p:nvPr/>
        </p:nvCxnSpPr>
        <p:spPr>
          <a:xfrm flipV="1">
            <a:off x="4507222" y="1790700"/>
            <a:ext cx="495784" cy="93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AE1EC6B-BDB7-DE81-BA0B-CA85A63BCD55}"/>
              </a:ext>
            </a:extLst>
          </p:cNvPr>
          <p:cNvCxnSpPr>
            <a:cxnSpLocks/>
          </p:cNvCxnSpPr>
          <p:nvPr/>
        </p:nvCxnSpPr>
        <p:spPr>
          <a:xfrm>
            <a:off x="4430075" y="1182099"/>
            <a:ext cx="572931" cy="111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869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D0D5BDED-B481-F9F5-B0FD-5FE162F2029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774" b="7601"/>
          <a:stretch/>
        </p:blipFill>
        <p:spPr bwMode="auto">
          <a:xfrm>
            <a:off x="6521028" y="3726126"/>
            <a:ext cx="2027824" cy="155217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DC254F0A-234A-5E42-E1AB-BBF626CF5964}"/>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102" t="1301" b="7601"/>
          <a:stretch/>
        </p:blipFill>
        <p:spPr bwMode="auto">
          <a:xfrm>
            <a:off x="6519389" y="2169129"/>
            <a:ext cx="2029463" cy="153688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diagram of a light source&#10;&#10;Description automatically generated">
            <a:extLst>
              <a:ext uri="{FF2B5EF4-FFF2-40B4-BE49-F238E27FC236}">
                <a16:creationId xmlns:a16="http://schemas.microsoft.com/office/drawing/2014/main" id="{AA968461-7B16-478F-4071-3F717000D274}"/>
              </a:ext>
            </a:extLst>
          </p:cNvPr>
          <p:cNvPicPr>
            <a:picLocks noChangeAspect="1"/>
          </p:cNvPicPr>
          <p:nvPr/>
        </p:nvPicPr>
        <p:blipFill rotWithShape="1">
          <a:blip r:embed="rId5">
            <a:extLst>
              <a:ext uri="{28A0092B-C50C-407E-A947-70E740481C1C}">
                <a14:useLocalDpi xmlns:a14="http://schemas.microsoft.com/office/drawing/2010/main" val="0"/>
              </a:ext>
            </a:extLst>
          </a:blip>
          <a:srcRect l="8650" t="1924" r="4064" b="12388"/>
          <a:stretch/>
        </p:blipFill>
        <p:spPr>
          <a:xfrm>
            <a:off x="108088" y="1065209"/>
            <a:ext cx="6411302" cy="4720386"/>
          </a:xfrm>
          <a:prstGeom prst="rect">
            <a:avLst/>
          </a:prstGeom>
        </p:spPr>
      </p:pic>
      <p:sp>
        <p:nvSpPr>
          <p:cNvPr id="2" name="Title 1">
            <a:extLst>
              <a:ext uri="{FF2B5EF4-FFF2-40B4-BE49-F238E27FC236}">
                <a16:creationId xmlns:a16="http://schemas.microsoft.com/office/drawing/2014/main" id="{E9C11184-D055-E978-107B-CE1B3B356C1B}"/>
              </a:ext>
            </a:extLst>
          </p:cNvPr>
          <p:cNvSpPr>
            <a:spLocks noGrp="1"/>
          </p:cNvSpPr>
          <p:nvPr>
            <p:ph type="title"/>
          </p:nvPr>
        </p:nvSpPr>
        <p:spPr>
          <a:xfrm>
            <a:off x="251520" y="167982"/>
            <a:ext cx="7921926" cy="553998"/>
          </a:xfrm>
        </p:spPr>
        <p:txBody>
          <a:bodyPr/>
          <a:lstStyle/>
          <a:p>
            <a:pPr algn="l"/>
            <a:r>
              <a:rPr lang="en-CA"/>
              <a:t>Methodology - The Feedback System</a:t>
            </a:r>
          </a:p>
        </p:txBody>
      </p:sp>
      <p:pic>
        <p:nvPicPr>
          <p:cNvPr id="5" name="object 8">
            <a:extLst>
              <a:ext uri="{FF2B5EF4-FFF2-40B4-BE49-F238E27FC236}">
                <a16:creationId xmlns:a16="http://schemas.microsoft.com/office/drawing/2014/main" id="{0776274A-D1DF-3EC4-783B-71CA3641AF56}"/>
              </a:ext>
            </a:extLst>
          </p:cNvPr>
          <p:cNvPicPr/>
          <p:nvPr/>
        </p:nvPicPr>
        <p:blipFill>
          <a:blip r:embed="rId6" cstate="print"/>
          <a:stretch>
            <a:fillRect/>
          </a:stretch>
        </p:blipFill>
        <p:spPr>
          <a:xfrm>
            <a:off x="8214856" y="41698"/>
            <a:ext cx="746989" cy="1083046"/>
          </a:xfrm>
          <a:prstGeom prst="rect">
            <a:avLst/>
          </a:prstGeom>
        </p:spPr>
      </p:pic>
      <p:sp>
        <p:nvSpPr>
          <p:cNvPr id="17" name="TextBox 16">
            <a:extLst>
              <a:ext uri="{FF2B5EF4-FFF2-40B4-BE49-F238E27FC236}">
                <a16:creationId xmlns:a16="http://schemas.microsoft.com/office/drawing/2014/main" id="{422756BB-AB77-1C00-665D-CF6B64306D85}"/>
              </a:ext>
            </a:extLst>
          </p:cNvPr>
          <p:cNvSpPr txBox="1"/>
          <p:nvPr/>
        </p:nvSpPr>
        <p:spPr>
          <a:xfrm>
            <a:off x="3224380" y="1628800"/>
            <a:ext cx="1368152" cy="276999"/>
          </a:xfrm>
          <a:prstGeom prst="rect">
            <a:avLst/>
          </a:prstGeom>
          <a:noFill/>
        </p:spPr>
        <p:txBody>
          <a:bodyPr wrap="square" rtlCol="0">
            <a:spAutoFit/>
          </a:bodyPr>
          <a:lstStyle/>
          <a:p>
            <a:r>
              <a:rPr lang="en-CA" sz="1200"/>
              <a:t>Beam Splitter</a:t>
            </a:r>
          </a:p>
        </p:txBody>
      </p:sp>
      <p:sp>
        <p:nvSpPr>
          <p:cNvPr id="10" name="Rectangle 9">
            <a:extLst>
              <a:ext uri="{FF2B5EF4-FFF2-40B4-BE49-F238E27FC236}">
                <a16:creationId xmlns:a16="http://schemas.microsoft.com/office/drawing/2014/main" id="{F496AB84-0380-ED7F-CBE1-6C0E4E6D2F1F}"/>
              </a:ext>
            </a:extLst>
          </p:cNvPr>
          <p:cNvSpPr/>
          <p:nvPr/>
        </p:nvSpPr>
        <p:spPr>
          <a:xfrm>
            <a:off x="395536" y="2364259"/>
            <a:ext cx="1154843" cy="16589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997DAF7-FFDA-F9AD-4F50-ACB9567F5884}"/>
              </a:ext>
            </a:extLst>
          </p:cNvPr>
          <p:cNvSpPr txBox="1"/>
          <p:nvPr/>
        </p:nvSpPr>
        <p:spPr>
          <a:xfrm>
            <a:off x="395536" y="2222379"/>
            <a:ext cx="1231379" cy="276999"/>
          </a:xfrm>
          <a:prstGeom prst="rect">
            <a:avLst/>
          </a:prstGeom>
          <a:solidFill>
            <a:schemeClr val="bg1"/>
          </a:solidFill>
        </p:spPr>
        <p:txBody>
          <a:bodyPr wrap="square" rtlCol="0">
            <a:spAutoFit/>
          </a:bodyPr>
          <a:lstStyle/>
          <a:p>
            <a:pPr algn="ctr"/>
            <a:r>
              <a:rPr lang="en-CA" sz="1200"/>
              <a:t>Laser Light</a:t>
            </a:r>
          </a:p>
        </p:txBody>
      </p:sp>
      <p:cxnSp>
        <p:nvCxnSpPr>
          <p:cNvPr id="8" name="Straight Connector 7">
            <a:extLst>
              <a:ext uri="{FF2B5EF4-FFF2-40B4-BE49-F238E27FC236}">
                <a16:creationId xmlns:a16="http://schemas.microsoft.com/office/drawing/2014/main" id="{304A227B-299B-D369-DFE4-48B003367CA5}"/>
              </a:ext>
            </a:extLst>
          </p:cNvPr>
          <p:cNvCxnSpPr/>
          <p:nvPr/>
        </p:nvCxnSpPr>
        <p:spPr>
          <a:xfrm flipV="1">
            <a:off x="5102676" y="826977"/>
            <a:ext cx="0" cy="228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86528C7-5CF1-C9D8-A2D8-229EA5A637EE}"/>
              </a:ext>
            </a:extLst>
          </p:cNvPr>
          <p:cNvCxnSpPr>
            <a:cxnSpLocks/>
          </p:cNvCxnSpPr>
          <p:nvPr/>
        </p:nvCxnSpPr>
        <p:spPr>
          <a:xfrm flipV="1">
            <a:off x="5102676" y="1547057"/>
            <a:ext cx="0" cy="1516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428EFDA-711B-7753-7EC9-25CA660EEAB6}"/>
              </a:ext>
            </a:extLst>
          </p:cNvPr>
          <p:cNvCxnSpPr>
            <a:cxnSpLocks/>
          </p:cNvCxnSpPr>
          <p:nvPr/>
        </p:nvCxnSpPr>
        <p:spPr>
          <a:xfrm>
            <a:off x="5102676" y="1547057"/>
            <a:ext cx="23762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80BED29-D5A5-E974-0418-8C458162D940}"/>
              </a:ext>
            </a:extLst>
          </p:cNvPr>
          <p:cNvCxnSpPr>
            <a:cxnSpLocks/>
          </p:cNvCxnSpPr>
          <p:nvPr/>
        </p:nvCxnSpPr>
        <p:spPr>
          <a:xfrm>
            <a:off x="5102676" y="826977"/>
            <a:ext cx="237626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54BD0C25-B022-63C4-8B6A-400DDB3ED1A3}"/>
              </a:ext>
            </a:extLst>
          </p:cNvPr>
          <p:cNvSpPr/>
          <p:nvPr/>
        </p:nvSpPr>
        <p:spPr>
          <a:xfrm>
            <a:off x="4959748" y="1045098"/>
            <a:ext cx="285854" cy="850966"/>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5" name="Straight Arrow Connector 14">
            <a:extLst>
              <a:ext uri="{FF2B5EF4-FFF2-40B4-BE49-F238E27FC236}">
                <a16:creationId xmlns:a16="http://schemas.microsoft.com/office/drawing/2014/main" id="{1FA885E6-8825-7648-9DCD-19B2E1372901}"/>
              </a:ext>
            </a:extLst>
          </p:cNvPr>
          <p:cNvCxnSpPr>
            <a:cxnSpLocks/>
          </p:cNvCxnSpPr>
          <p:nvPr/>
        </p:nvCxnSpPr>
        <p:spPr>
          <a:xfrm>
            <a:off x="7452320" y="836712"/>
            <a:ext cx="0" cy="1211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9" name="Picture 18" descr="A diagram of a laser beam&#10;&#10;Description automatically generated">
            <a:extLst>
              <a:ext uri="{FF2B5EF4-FFF2-40B4-BE49-F238E27FC236}">
                <a16:creationId xmlns:a16="http://schemas.microsoft.com/office/drawing/2014/main" id="{F80925E0-7E8A-F319-78D5-C3ADBF0A62A2}"/>
              </a:ext>
            </a:extLst>
          </p:cNvPr>
          <p:cNvPicPr>
            <a:picLocks noChangeAspect="1"/>
          </p:cNvPicPr>
          <p:nvPr/>
        </p:nvPicPr>
        <p:blipFill rotWithShape="1">
          <a:blip r:embed="rId7">
            <a:extLst>
              <a:ext uri="{28A0092B-C50C-407E-A947-70E740481C1C}">
                <a14:useLocalDpi xmlns:a14="http://schemas.microsoft.com/office/drawing/2010/main" val="0"/>
              </a:ext>
            </a:extLst>
          </a:blip>
          <a:srcRect l="35038" t="34250" r="54725" b="60500"/>
          <a:stretch/>
        </p:blipFill>
        <p:spPr>
          <a:xfrm>
            <a:off x="2006208" y="2852936"/>
            <a:ext cx="827422" cy="290826"/>
          </a:xfrm>
          <a:prstGeom prst="rect">
            <a:avLst/>
          </a:prstGeom>
        </p:spPr>
      </p:pic>
      <p:sp>
        <p:nvSpPr>
          <p:cNvPr id="20" name="Rectangle 19">
            <a:extLst>
              <a:ext uri="{FF2B5EF4-FFF2-40B4-BE49-F238E27FC236}">
                <a16:creationId xmlns:a16="http://schemas.microsoft.com/office/drawing/2014/main" id="{6B345F00-20E7-BA3F-4C73-CDA14981AA1F}"/>
              </a:ext>
            </a:extLst>
          </p:cNvPr>
          <p:cNvSpPr/>
          <p:nvPr/>
        </p:nvSpPr>
        <p:spPr>
          <a:xfrm>
            <a:off x="62590" y="2447207"/>
            <a:ext cx="1845113" cy="54974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1" name="Straight Connector 20">
            <a:extLst>
              <a:ext uri="{FF2B5EF4-FFF2-40B4-BE49-F238E27FC236}">
                <a16:creationId xmlns:a16="http://schemas.microsoft.com/office/drawing/2014/main" id="{FA4C1D44-59B5-C7A6-9E44-602829C75CAA}"/>
              </a:ext>
            </a:extLst>
          </p:cNvPr>
          <p:cNvCxnSpPr/>
          <p:nvPr/>
        </p:nvCxnSpPr>
        <p:spPr>
          <a:xfrm flipH="1" flipV="1">
            <a:off x="544986" y="2527559"/>
            <a:ext cx="1368152" cy="3947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B2DE7C27-6AAC-1223-AE06-B199FFB0FEAF}"/>
              </a:ext>
            </a:extLst>
          </p:cNvPr>
          <p:cNvSpPr/>
          <p:nvPr/>
        </p:nvSpPr>
        <p:spPr>
          <a:xfrm>
            <a:off x="1907704" y="2708920"/>
            <a:ext cx="1024431" cy="642718"/>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Text Placeholder 2">
            <a:extLst>
              <a:ext uri="{FF2B5EF4-FFF2-40B4-BE49-F238E27FC236}">
                <a16:creationId xmlns:a16="http://schemas.microsoft.com/office/drawing/2014/main" id="{38C9AE1F-54EE-0958-6841-232BE00F9B3C}"/>
              </a:ext>
            </a:extLst>
          </p:cNvPr>
          <p:cNvSpPr txBox="1">
            <a:spLocks/>
          </p:cNvSpPr>
          <p:nvPr/>
        </p:nvSpPr>
        <p:spPr>
          <a:xfrm>
            <a:off x="2833630" y="5541273"/>
            <a:ext cx="5673841" cy="2646878"/>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lgn="ctr">
              <a:buFont typeface="Arial" panose="020B0604020202020204" pitchFamily="34" charset="0"/>
              <a:buChar char="•"/>
            </a:pPr>
            <a:r>
              <a:rPr lang="en-US" sz="1400" dirty="0"/>
              <a:t>Monitoring the laser intensity and obtain feedback signal</a:t>
            </a:r>
          </a:p>
          <a:p>
            <a:pPr marL="342900" indent="-342900" algn="ctr">
              <a:buFont typeface="Arial" panose="020B0604020202020204" pitchFamily="34" charset="0"/>
              <a:buChar char="•"/>
            </a:pPr>
            <a:endParaRPr lang="en-US" sz="1400" dirty="0"/>
          </a:p>
          <a:p>
            <a:pPr marL="342900" indent="-342900" algn="ctr">
              <a:buFont typeface="Arial" panose="020B0604020202020204" pitchFamily="34" charset="0"/>
              <a:buChar char="•"/>
            </a:pPr>
            <a:r>
              <a:rPr lang="en-US" sz="1400" dirty="0"/>
              <a:t>Feedback signal sent to a variable RF attenuator</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r>
              <a:rPr lang="en-US" sz="1400" dirty="0"/>
              <a:t>Correction changes the RF power to AOM 1 to cancel intensity variations</a:t>
            </a:r>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marL="342900" indent="-342900" algn="ctr">
              <a:buFont typeface="Arial" panose="020B0604020202020204" pitchFamily="34" charset="0"/>
              <a:buChar char="•"/>
            </a:pPr>
            <a:endParaRPr lang="en-CA" sz="1400" dirty="0"/>
          </a:p>
          <a:p>
            <a:pPr algn="ctr"/>
            <a:endParaRPr lang="en-CA" sz="1800" dirty="0"/>
          </a:p>
        </p:txBody>
      </p:sp>
      <p:sp>
        <p:nvSpPr>
          <p:cNvPr id="26" name="TextBox 25">
            <a:extLst>
              <a:ext uri="{FF2B5EF4-FFF2-40B4-BE49-F238E27FC236}">
                <a16:creationId xmlns:a16="http://schemas.microsoft.com/office/drawing/2014/main" id="{9DBDADF6-072F-852B-885A-77D1A33ECFB9}"/>
              </a:ext>
            </a:extLst>
          </p:cNvPr>
          <p:cNvSpPr txBox="1"/>
          <p:nvPr/>
        </p:nvSpPr>
        <p:spPr>
          <a:xfrm>
            <a:off x="6366245" y="5254243"/>
            <a:ext cx="1572535" cy="230832"/>
          </a:xfrm>
          <a:prstGeom prst="rect">
            <a:avLst/>
          </a:prstGeom>
          <a:noFill/>
        </p:spPr>
        <p:txBody>
          <a:bodyPr wrap="square" rtlCol="0">
            <a:spAutoFit/>
          </a:bodyPr>
          <a:lstStyle/>
          <a:p>
            <a:pPr algn="r"/>
            <a:r>
              <a:rPr lang="en-CA" sz="900" dirty="0">
                <a:highlight>
                  <a:srgbClr val="FFFFFF"/>
                </a:highlight>
              </a:rPr>
              <a:t>Time(ms)</a:t>
            </a:r>
          </a:p>
        </p:txBody>
      </p:sp>
      <p:sp>
        <p:nvSpPr>
          <p:cNvPr id="28" name="TextBox 27">
            <a:extLst>
              <a:ext uri="{FF2B5EF4-FFF2-40B4-BE49-F238E27FC236}">
                <a16:creationId xmlns:a16="http://schemas.microsoft.com/office/drawing/2014/main" id="{1350EE90-7911-F58B-AE06-7D1CDFFBE25F}"/>
              </a:ext>
            </a:extLst>
          </p:cNvPr>
          <p:cNvSpPr txBox="1"/>
          <p:nvPr/>
        </p:nvSpPr>
        <p:spPr>
          <a:xfrm rot="16200000">
            <a:off x="5638294" y="3328703"/>
            <a:ext cx="1572535" cy="230832"/>
          </a:xfrm>
          <a:prstGeom prst="rect">
            <a:avLst/>
          </a:prstGeom>
          <a:noFill/>
        </p:spPr>
        <p:txBody>
          <a:bodyPr wrap="square" rtlCol="0">
            <a:spAutoFit/>
          </a:bodyPr>
          <a:lstStyle/>
          <a:p>
            <a:pPr algn="r"/>
            <a:r>
              <a:rPr lang="en-CA" sz="900" dirty="0">
                <a:highlight>
                  <a:srgbClr val="FFFFFF"/>
                </a:highlight>
              </a:rPr>
              <a:t>Power(</a:t>
            </a:r>
            <a:r>
              <a:rPr lang="el-GR" sz="900" dirty="0">
                <a:highlight>
                  <a:srgbClr val="FFFFFF"/>
                </a:highlight>
                <a:latin typeface="Arial" panose="020B0604020202020204" pitchFamily="34" charset="0"/>
                <a:cs typeface="Arial" panose="020B0604020202020204" pitchFamily="34" charset="0"/>
              </a:rPr>
              <a:t>μ</a:t>
            </a:r>
            <a:r>
              <a:rPr lang="en-CA" sz="900" dirty="0">
                <a:highlight>
                  <a:srgbClr val="FFFFFF"/>
                </a:highlight>
              </a:rPr>
              <a:t>W)</a:t>
            </a:r>
          </a:p>
        </p:txBody>
      </p:sp>
      <p:sp>
        <p:nvSpPr>
          <p:cNvPr id="29" name="TextBox 28">
            <a:extLst>
              <a:ext uri="{FF2B5EF4-FFF2-40B4-BE49-F238E27FC236}">
                <a16:creationId xmlns:a16="http://schemas.microsoft.com/office/drawing/2014/main" id="{4F3FCA6D-FED2-11DC-1FAC-448D91BF8B7A}"/>
              </a:ext>
            </a:extLst>
          </p:cNvPr>
          <p:cNvSpPr txBox="1"/>
          <p:nvPr/>
        </p:nvSpPr>
        <p:spPr>
          <a:xfrm rot="16200000">
            <a:off x="5638294" y="4722119"/>
            <a:ext cx="1572535" cy="230832"/>
          </a:xfrm>
          <a:prstGeom prst="rect">
            <a:avLst/>
          </a:prstGeom>
          <a:noFill/>
        </p:spPr>
        <p:txBody>
          <a:bodyPr wrap="square" rtlCol="0">
            <a:spAutoFit/>
          </a:bodyPr>
          <a:lstStyle/>
          <a:p>
            <a:pPr algn="r"/>
            <a:r>
              <a:rPr lang="en-CA" sz="900" dirty="0">
                <a:highlight>
                  <a:srgbClr val="FFFFFF"/>
                </a:highlight>
              </a:rPr>
              <a:t>Power(</a:t>
            </a:r>
            <a:r>
              <a:rPr lang="el-GR" sz="900" dirty="0">
                <a:highlight>
                  <a:srgbClr val="FFFFFF"/>
                </a:highlight>
                <a:latin typeface="Arial" panose="020B0604020202020204" pitchFamily="34" charset="0"/>
                <a:cs typeface="Arial" panose="020B0604020202020204" pitchFamily="34" charset="0"/>
              </a:rPr>
              <a:t>μ</a:t>
            </a:r>
            <a:r>
              <a:rPr lang="en-CA" sz="900" dirty="0">
                <a:highlight>
                  <a:srgbClr val="FFFFFF"/>
                </a:highlight>
              </a:rPr>
              <a:t>W)</a:t>
            </a:r>
          </a:p>
        </p:txBody>
      </p:sp>
      <p:sp>
        <p:nvSpPr>
          <p:cNvPr id="30" name="Rectangle 29">
            <a:extLst>
              <a:ext uri="{FF2B5EF4-FFF2-40B4-BE49-F238E27FC236}">
                <a16:creationId xmlns:a16="http://schemas.microsoft.com/office/drawing/2014/main" id="{2CF0311A-EEB5-199D-C0DE-9C222448F1A4}"/>
              </a:ext>
            </a:extLst>
          </p:cNvPr>
          <p:cNvSpPr/>
          <p:nvPr/>
        </p:nvSpPr>
        <p:spPr>
          <a:xfrm>
            <a:off x="7269957" y="2119892"/>
            <a:ext cx="746680" cy="1352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Rounded Corners 5">
            <a:extLst>
              <a:ext uri="{FF2B5EF4-FFF2-40B4-BE49-F238E27FC236}">
                <a16:creationId xmlns:a16="http://schemas.microsoft.com/office/drawing/2014/main" id="{9D702FE8-C459-8B58-060C-87AAB41A0611}"/>
              </a:ext>
            </a:extLst>
          </p:cNvPr>
          <p:cNvSpPr/>
          <p:nvPr/>
        </p:nvSpPr>
        <p:spPr>
          <a:xfrm>
            <a:off x="6327872" y="2083587"/>
            <a:ext cx="2336068" cy="3385981"/>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5" name="Picture 24">
            <a:extLst>
              <a:ext uri="{FF2B5EF4-FFF2-40B4-BE49-F238E27FC236}">
                <a16:creationId xmlns:a16="http://schemas.microsoft.com/office/drawing/2014/main" id="{CC04924B-52C4-4B17-E329-0A6A9E964F70}"/>
              </a:ext>
            </a:extLst>
          </p:cNvPr>
          <p:cNvPicPr>
            <a:picLocks noChangeAspect="1"/>
          </p:cNvPicPr>
          <p:nvPr/>
        </p:nvPicPr>
        <p:blipFill>
          <a:blip r:embed="rId8"/>
          <a:stretch>
            <a:fillRect/>
          </a:stretch>
        </p:blipFill>
        <p:spPr>
          <a:xfrm>
            <a:off x="4877085" y="4395429"/>
            <a:ext cx="1075752" cy="523773"/>
          </a:xfrm>
          <a:prstGeom prst="rect">
            <a:avLst/>
          </a:prstGeom>
        </p:spPr>
      </p:pic>
      <p:sp>
        <p:nvSpPr>
          <p:cNvPr id="35" name="TextBox 34">
            <a:extLst>
              <a:ext uri="{FF2B5EF4-FFF2-40B4-BE49-F238E27FC236}">
                <a16:creationId xmlns:a16="http://schemas.microsoft.com/office/drawing/2014/main" id="{7748FDEB-5A06-C1E0-CA5F-D74195068986}"/>
              </a:ext>
            </a:extLst>
          </p:cNvPr>
          <p:cNvSpPr txBox="1"/>
          <p:nvPr/>
        </p:nvSpPr>
        <p:spPr>
          <a:xfrm>
            <a:off x="6424561" y="3646797"/>
            <a:ext cx="1572535" cy="230832"/>
          </a:xfrm>
          <a:prstGeom prst="rect">
            <a:avLst/>
          </a:prstGeom>
          <a:noFill/>
        </p:spPr>
        <p:txBody>
          <a:bodyPr wrap="square" rtlCol="0">
            <a:spAutoFit/>
          </a:bodyPr>
          <a:lstStyle/>
          <a:p>
            <a:pPr algn="r"/>
            <a:r>
              <a:rPr lang="en-CA" sz="900" dirty="0">
                <a:highlight>
                  <a:srgbClr val="FFFFFF"/>
                </a:highlight>
              </a:rPr>
              <a:t>Time(ms)</a:t>
            </a:r>
          </a:p>
        </p:txBody>
      </p:sp>
      <p:sp>
        <p:nvSpPr>
          <p:cNvPr id="36" name="Rectangle 35">
            <a:extLst>
              <a:ext uri="{FF2B5EF4-FFF2-40B4-BE49-F238E27FC236}">
                <a16:creationId xmlns:a16="http://schemas.microsoft.com/office/drawing/2014/main" id="{629D2B47-7D13-3C5C-9F17-14ECF40FC41A}"/>
              </a:ext>
            </a:extLst>
          </p:cNvPr>
          <p:cNvSpPr/>
          <p:nvPr/>
        </p:nvSpPr>
        <p:spPr>
          <a:xfrm>
            <a:off x="6871385" y="3746258"/>
            <a:ext cx="562257" cy="905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Rectangle 36">
            <a:extLst>
              <a:ext uri="{FF2B5EF4-FFF2-40B4-BE49-F238E27FC236}">
                <a16:creationId xmlns:a16="http://schemas.microsoft.com/office/drawing/2014/main" id="{90C26BD4-1A72-F003-05A9-E26B9F54A66A}"/>
              </a:ext>
            </a:extLst>
          </p:cNvPr>
          <p:cNvSpPr/>
          <p:nvPr/>
        </p:nvSpPr>
        <p:spPr>
          <a:xfrm>
            <a:off x="7903484" y="3768962"/>
            <a:ext cx="539923"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3" name="Straight Arrow Connector 2">
            <a:extLst>
              <a:ext uri="{FF2B5EF4-FFF2-40B4-BE49-F238E27FC236}">
                <a16:creationId xmlns:a16="http://schemas.microsoft.com/office/drawing/2014/main" id="{14259ECC-391B-E5CA-0B75-92317E334434}"/>
              </a:ext>
            </a:extLst>
          </p:cNvPr>
          <p:cNvCxnSpPr/>
          <p:nvPr/>
        </p:nvCxnSpPr>
        <p:spPr>
          <a:xfrm>
            <a:off x="544986" y="2527559"/>
            <a:ext cx="1461222" cy="4163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0773E26-F132-6757-3902-7D6092DB3000}"/>
              </a:ext>
            </a:extLst>
          </p:cNvPr>
          <p:cNvCxnSpPr>
            <a:cxnSpLocks/>
          </p:cNvCxnSpPr>
          <p:nvPr/>
        </p:nvCxnSpPr>
        <p:spPr>
          <a:xfrm>
            <a:off x="2793816" y="3138717"/>
            <a:ext cx="1504472" cy="383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4E9E16F-5481-0309-4798-5C5F39179CA4}"/>
              </a:ext>
            </a:extLst>
          </p:cNvPr>
          <p:cNvCxnSpPr>
            <a:cxnSpLocks/>
          </p:cNvCxnSpPr>
          <p:nvPr/>
        </p:nvCxnSpPr>
        <p:spPr>
          <a:xfrm flipV="1">
            <a:off x="2813723" y="2922347"/>
            <a:ext cx="1598105" cy="967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F0D4BC-83A7-D3A3-597E-E2BF18AF9C8B}"/>
              </a:ext>
            </a:extLst>
          </p:cNvPr>
          <p:cNvCxnSpPr>
            <a:cxnSpLocks/>
          </p:cNvCxnSpPr>
          <p:nvPr/>
        </p:nvCxnSpPr>
        <p:spPr>
          <a:xfrm flipV="1">
            <a:off x="4430075" y="1885570"/>
            <a:ext cx="0" cy="10124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2DEF72A-C68F-C2C4-C275-2C0A6BE0DF25}"/>
              </a:ext>
            </a:extLst>
          </p:cNvPr>
          <p:cNvCxnSpPr>
            <a:cxnSpLocks/>
          </p:cNvCxnSpPr>
          <p:nvPr/>
        </p:nvCxnSpPr>
        <p:spPr>
          <a:xfrm flipV="1">
            <a:off x="4419116" y="1210866"/>
            <a:ext cx="0" cy="5022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2D6358B-BEB5-1FFA-FF77-974557D666BD}"/>
              </a:ext>
            </a:extLst>
          </p:cNvPr>
          <p:cNvCxnSpPr>
            <a:cxnSpLocks/>
          </p:cNvCxnSpPr>
          <p:nvPr/>
        </p:nvCxnSpPr>
        <p:spPr>
          <a:xfrm flipV="1">
            <a:off x="4507222" y="1790700"/>
            <a:ext cx="495784" cy="93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E15A7B4-E2CD-B3B9-70FC-4512BB96485D}"/>
              </a:ext>
            </a:extLst>
          </p:cNvPr>
          <p:cNvCxnSpPr>
            <a:cxnSpLocks/>
          </p:cNvCxnSpPr>
          <p:nvPr/>
        </p:nvCxnSpPr>
        <p:spPr>
          <a:xfrm>
            <a:off x="4430075" y="1182099"/>
            <a:ext cx="572931" cy="111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C7BD6609-C862-E158-5837-794C29919512}"/>
              </a:ext>
            </a:extLst>
          </p:cNvPr>
          <p:cNvSpPr txBox="1"/>
          <p:nvPr/>
        </p:nvSpPr>
        <p:spPr>
          <a:xfrm>
            <a:off x="6633697" y="3187828"/>
            <a:ext cx="1130722" cy="446276"/>
          </a:xfrm>
          <a:prstGeom prst="rect">
            <a:avLst/>
          </a:prstGeom>
          <a:noFill/>
        </p:spPr>
        <p:txBody>
          <a:bodyPr wrap="square" rtlCol="0">
            <a:spAutoFit/>
          </a:bodyPr>
          <a:lstStyle/>
          <a:p>
            <a:r>
              <a:rPr lang="en-US" sz="800" dirty="0">
                <a:highlight>
                  <a:srgbClr val="FFFFFF"/>
                </a:highlight>
              </a:rPr>
              <a:t>SD/AVG ~ 0.1%</a:t>
            </a:r>
          </a:p>
          <a:p>
            <a:endParaRPr lang="en-CA" sz="1400" dirty="0"/>
          </a:p>
        </p:txBody>
      </p:sp>
      <p:sp>
        <p:nvSpPr>
          <p:cNvPr id="33" name="Rectangle 32">
            <a:extLst>
              <a:ext uri="{FF2B5EF4-FFF2-40B4-BE49-F238E27FC236}">
                <a16:creationId xmlns:a16="http://schemas.microsoft.com/office/drawing/2014/main" id="{95FB1246-5A0A-7EF2-F302-68F622C5428D}"/>
              </a:ext>
            </a:extLst>
          </p:cNvPr>
          <p:cNvSpPr/>
          <p:nvPr/>
        </p:nvSpPr>
        <p:spPr>
          <a:xfrm>
            <a:off x="7452320" y="3226406"/>
            <a:ext cx="746680" cy="1352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TextBox 33">
            <a:extLst>
              <a:ext uri="{FF2B5EF4-FFF2-40B4-BE49-F238E27FC236}">
                <a16:creationId xmlns:a16="http://schemas.microsoft.com/office/drawing/2014/main" id="{1965D3C0-7444-489F-0E89-DA0D6BE79789}"/>
              </a:ext>
            </a:extLst>
          </p:cNvPr>
          <p:cNvSpPr txBox="1"/>
          <p:nvPr/>
        </p:nvSpPr>
        <p:spPr>
          <a:xfrm>
            <a:off x="6642713" y="4757460"/>
            <a:ext cx="1105744" cy="446276"/>
          </a:xfrm>
          <a:prstGeom prst="rect">
            <a:avLst/>
          </a:prstGeom>
          <a:noFill/>
        </p:spPr>
        <p:txBody>
          <a:bodyPr wrap="square" rtlCol="0">
            <a:spAutoFit/>
          </a:bodyPr>
          <a:lstStyle/>
          <a:p>
            <a:r>
              <a:rPr lang="en-US" sz="800" dirty="0">
                <a:highlight>
                  <a:srgbClr val="FFFFFF"/>
                </a:highlight>
              </a:rPr>
              <a:t>SD/AVG ~ 0.1%</a:t>
            </a:r>
          </a:p>
          <a:p>
            <a:endParaRPr lang="en-CA" sz="1400" dirty="0"/>
          </a:p>
        </p:txBody>
      </p:sp>
      <p:sp>
        <p:nvSpPr>
          <p:cNvPr id="38" name="Rectangle 37">
            <a:extLst>
              <a:ext uri="{FF2B5EF4-FFF2-40B4-BE49-F238E27FC236}">
                <a16:creationId xmlns:a16="http://schemas.microsoft.com/office/drawing/2014/main" id="{4DB962EF-68D4-E37C-026A-0329284C4798}"/>
              </a:ext>
            </a:extLst>
          </p:cNvPr>
          <p:cNvSpPr/>
          <p:nvPr/>
        </p:nvSpPr>
        <p:spPr>
          <a:xfrm>
            <a:off x="7461336" y="4796038"/>
            <a:ext cx="746680" cy="1352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27470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ircuit&#10;&#10;Description automatically generated">
            <a:extLst>
              <a:ext uri="{FF2B5EF4-FFF2-40B4-BE49-F238E27FC236}">
                <a16:creationId xmlns:a16="http://schemas.microsoft.com/office/drawing/2014/main" id="{A2289CB8-3324-76D6-0334-B6C97A0485F2}"/>
              </a:ext>
            </a:extLst>
          </p:cNvPr>
          <p:cNvPicPr>
            <a:picLocks noChangeAspect="1"/>
          </p:cNvPicPr>
          <p:nvPr/>
        </p:nvPicPr>
        <p:blipFill rotWithShape="1">
          <a:blip r:embed="rId3">
            <a:extLst>
              <a:ext uri="{28A0092B-C50C-407E-A947-70E740481C1C}">
                <a14:useLocalDpi xmlns:a14="http://schemas.microsoft.com/office/drawing/2010/main" val="0"/>
              </a:ext>
            </a:extLst>
          </a:blip>
          <a:srcRect l="3539" t="3800" r="2998" b="8000"/>
          <a:stretch/>
        </p:blipFill>
        <p:spPr>
          <a:xfrm>
            <a:off x="4067944" y="1454783"/>
            <a:ext cx="4930513" cy="3502532"/>
          </a:xfrm>
          <a:prstGeom prst="rect">
            <a:avLst/>
          </a:prstGeom>
        </p:spPr>
      </p:pic>
      <p:sp>
        <p:nvSpPr>
          <p:cNvPr id="3" name="Rectangle: Rounded Corners 2">
            <a:extLst>
              <a:ext uri="{FF2B5EF4-FFF2-40B4-BE49-F238E27FC236}">
                <a16:creationId xmlns:a16="http://schemas.microsoft.com/office/drawing/2014/main" id="{B9CB6AA7-4701-14DE-F340-74EA246118BE}"/>
              </a:ext>
            </a:extLst>
          </p:cNvPr>
          <p:cNvSpPr/>
          <p:nvPr/>
        </p:nvSpPr>
        <p:spPr>
          <a:xfrm>
            <a:off x="6533200" y="1358932"/>
            <a:ext cx="1224136" cy="845932"/>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Content Placeholder 2">
            <a:extLst>
              <a:ext uri="{FF2B5EF4-FFF2-40B4-BE49-F238E27FC236}">
                <a16:creationId xmlns:a16="http://schemas.microsoft.com/office/drawing/2014/main" id="{853F4C58-71E3-A046-C92E-C908E6B954D9}"/>
              </a:ext>
            </a:extLst>
          </p:cNvPr>
          <p:cNvSpPr>
            <a:spLocks noGrp="1"/>
          </p:cNvSpPr>
          <p:nvPr>
            <p:ph sz="half" idx="2"/>
          </p:nvPr>
        </p:nvSpPr>
        <p:spPr>
          <a:xfrm>
            <a:off x="20124" y="1680676"/>
            <a:ext cx="3931487" cy="1107996"/>
          </a:xfrm>
        </p:spPr>
        <p:txBody>
          <a:bodyPr/>
          <a:lstStyle/>
          <a:p>
            <a:pPr marL="342900" indent="-342900">
              <a:buFont typeface="Arial" panose="020B0604020202020204" pitchFamily="34" charset="0"/>
              <a:buChar char="•"/>
            </a:pPr>
            <a:r>
              <a:rPr lang="en-US" sz="1400" u="sng"/>
              <a:t>1 (Comparator): </a:t>
            </a:r>
            <a:r>
              <a:rPr lang="en-US" sz="1400"/>
              <a:t>Compares the PD signal to a reference setpoint and subtracts the two values</a:t>
            </a:r>
          </a:p>
          <a:p>
            <a:pPr marL="342900" indent="-342900">
              <a:buFont typeface="Arial" panose="020B0604020202020204" pitchFamily="34" charset="0"/>
              <a:buChar char="•"/>
            </a:pPr>
            <a:endParaRPr lang="en-US" sz="1400" u="sng"/>
          </a:p>
          <a:p>
            <a:endParaRPr lang="en-US" sz="1600" u="sng"/>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9" name="TextBox 8">
            <a:extLst>
              <a:ext uri="{FF2B5EF4-FFF2-40B4-BE49-F238E27FC236}">
                <a16:creationId xmlns:a16="http://schemas.microsoft.com/office/drawing/2014/main" id="{75CB776C-04EA-6372-B2C4-15205900E9E4}"/>
              </a:ext>
            </a:extLst>
          </p:cNvPr>
          <p:cNvSpPr txBox="1"/>
          <p:nvPr/>
        </p:nvSpPr>
        <p:spPr>
          <a:xfrm>
            <a:off x="4050122" y="4928963"/>
            <a:ext cx="4972822" cy="738664"/>
          </a:xfrm>
          <a:prstGeom prst="rect">
            <a:avLst/>
          </a:prstGeom>
          <a:noFill/>
        </p:spPr>
        <p:txBody>
          <a:bodyPr wrap="square" rtlCol="0">
            <a:spAutoFit/>
          </a:bodyPr>
          <a:lstStyle/>
          <a:p>
            <a:pPr algn="ctr"/>
            <a:r>
              <a:rPr lang="en-US" sz="1400">
                <a:highlight>
                  <a:srgbClr val="FFFF00"/>
                </a:highlight>
              </a:rPr>
              <a:t>↑ in control voltage, ↑ RF power, ↑ laser power intensity</a:t>
            </a:r>
          </a:p>
          <a:p>
            <a:pPr algn="ctr"/>
            <a:r>
              <a:rPr lang="en-US" sz="1400">
                <a:highlight>
                  <a:srgbClr val="FFFF00"/>
                </a:highlight>
              </a:rPr>
              <a:t>↓ in control voltage, ↓ RF power, ↓ laser power intensity</a:t>
            </a:r>
          </a:p>
          <a:p>
            <a:pPr algn="ctr"/>
            <a:endParaRPr lang="en-CA" sz="1400">
              <a:highlight>
                <a:srgbClr val="FFFF00"/>
              </a:highlight>
            </a:endParaRPr>
          </a:p>
        </p:txBody>
      </p:sp>
      <p:sp>
        <p:nvSpPr>
          <p:cNvPr id="6" name="TextBox 5">
            <a:extLst>
              <a:ext uri="{FF2B5EF4-FFF2-40B4-BE49-F238E27FC236}">
                <a16:creationId xmlns:a16="http://schemas.microsoft.com/office/drawing/2014/main" id="{944F77F3-B278-7346-1171-283A0ACAB572}"/>
              </a:ext>
            </a:extLst>
          </p:cNvPr>
          <p:cNvSpPr txBox="1"/>
          <p:nvPr/>
        </p:nvSpPr>
        <p:spPr>
          <a:xfrm>
            <a:off x="4644008" y="2636912"/>
            <a:ext cx="504056" cy="461665"/>
          </a:xfrm>
          <a:prstGeom prst="rect">
            <a:avLst/>
          </a:prstGeom>
          <a:noFill/>
        </p:spPr>
        <p:txBody>
          <a:bodyPr wrap="square" rtlCol="0">
            <a:spAutoFit/>
          </a:bodyPr>
          <a:lstStyle/>
          <a:p>
            <a:r>
              <a:rPr lang="en-CA" sz="600"/>
              <a:t>10pF</a:t>
            </a:r>
          </a:p>
          <a:p>
            <a:r>
              <a:rPr lang="en-CA" sz="600"/>
              <a:t>100pF</a:t>
            </a:r>
          </a:p>
          <a:p>
            <a:r>
              <a:rPr lang="en-CA" sz="600"/>
              <a:t>1000pF</a:t>
            </a:r>
          </a:p>
          <a:p>
            <a:r>
              <a:rPr lang="en-CA" sz="600"/>
              <a:t>10000pF</a:t>
            </a:r>
          </a:p>
        </p:txBody>
      </p:sp>
      <p:pic>
        <p:nvPicPr>
          <p:cNvPr id="16" name="Picture 15" descr="A diagram of a computer process&#10;&#10;Description automatically generated">
            <a:extLst>
              <a:ext uri="{FF2B5EF4-FFF2-40B4-BE49-F238E27FC236}">
                <a16:creationId xmlns:a16="http://schemas.microsoft.com/office/drawing/2014/main" id="{97302FDE-2472-664D-347D-B4AC59364C8B}"/>
              </a:ext>
            </a:extLst>
          </p:cNvPr>
          <p:cNvPicPr>
            <a:picLocks noChangeAspect="1"/>
          </p:cNvPicPr>
          <p:nvPr/>
        </p:nvPicPr>
        <p:blipFill rotWithShape="1">
          <a:blip r:embed="rId5">
            <a:extLst>
              <a:ext uri="{28A0092B-C50C-407E-A947-70E740481C1C}">
                <a14:useLocalDpi xmlns:a14="http://schemas.microsoft.com/office/drawing/2010/main" val="0"/>
              </a:ext>
            </a:extLst>
          </a:blip>
          <a:srcRect l="7476" t="14300" r="4326" b="75311"/>
          <a:stretch/>
        </p:blipFill>
        <p:spPr>
          <a:xfrm>
            <a:off x="611560" y="5950493"/>
            <a:ext cx="8064896" cy="712462"/>
          </a:xfrm>
          <a:prstGeom prst="rect">
            <a:avLst/>
          </a:prstGeom>
        </p:spPr>
      </p:pic>
      <p:sp>
        <p:nvSpPr>
          <p:cNvPr id="5" name="Rectangle 4">
            <a:extLst>
              <a:ext uri="{FF2B5EF4-FFF2-40B4-BE49-F238E27FC236}">
                <a16:creationId xmlns:a16="http://schemas.microsoft.com/office/drawing/2014/main" id="{C55AD8C0-7A21-42BD-8D11-06CE52E83A30}"/>
              </a:ext>
            </a:extLst>
          </p:cNvPr>
          <p:cNvSpPr/>
          <p:nvPr/>
        </p:nvSpPr>
        <p:spPr>
          <a:xfrm>
            <a:off x="2483768" y="5805264"/>
            <a:ext cx="6336704"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10">
            <a:extLst>
              <a:ext uri="{FF2B5EF4-FFF2-40B4-BE49-F238E27FC236}">
                <a16:creationId xmlns:a16="http://schemas.microsoft.com/office/drawing/2014/main" id="{38B3FF0A-A857-BD09-5A7D-9B6EAE0E0F9D}"/>
              </a:ext>
            </a:extLst>
          </p:cNvPr>
          <p:cNvSpPr/>
          <p:nvPr/>
        </p:nvSpPr>
        <p:spPr>
          <a:xfrm rot="18855390">
            <a:off x="2266546" y="5559095"/>
            <a:ext cx="974460"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E48CB316-34A9-CADC-4DCE-32C3D7B72530}"/>
              </a:ext>
            </a:extLst>
          </p:cNvPr>
          <p:cNvSpPr/>
          <p:nvPr/>
        </p:nvSpPr>
        <p:spPr>
          <a:xfrm rot="7224372">
            <a:off x="2418946" y="5711495"/>
            <a:ext cx="974460"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74A2E57E-2A9C-F0EA-C5A0-63DA73AA95C3}"/>
              </a:ext>
            </a:extLst>
          </p:cNvPr>
          <p:cNvSpPr/>
          <p:nvPr/>
        </p:nvSpPr>
        <p:spPr>
          <a:xfrm rot="18855390">
            <a:off x="2218213" y="6443328"/>
            <a:ext cx="413938" cy="3249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itle 1">
            <a:extLst>
              <a:ext uri="{FF2B5EF4-FFF2-40B4-BE49-F238E27FC236}">
                <a16:creationId xmlns:a16="http://schemas.microsoft.com/office/drawing/2014/main" id="{66D08D43-3B06-A4DF-87B8-01DFC948AC65}"/>
              </a:ext>
            </a:extLst>
          </p:cNvPr>
          <p:cNvSpPr>
            <a:spLocks noGrp="1"/>
          </p:cNvSpPr>
          <p:nvPr>
            <p:ph type="title"/>
          </p:nvPr>
        </p:nvSpPr>
        <p:spPr>
          <a:xfrm>
            <a:off x="274213" y="599443"/>
            <a:ext cx="7098030" cy="939800"/>
          </a:xfrm>
        </p:spPr>
        <p:txBody>
          <a:bodyPr wrap="square">
            <a:normAutofit/>
          </a:bodyPr>
          <a:lstStyle/>
          <a:p>
            <a:pPr>
              <a:lnSpc>
                <a:spcPct val="90000"/>
              </a:lnSpc>
            </a:pPr>
            <a:r>
              <a:rPr lang="en-CA" sz="3300" dirty="0"/>
              <a:t>Analog Stabilization Circuit</a:t>
            </a:r>
          </a:p>
        </p:txBody>
      </p:sp>
    </p:spTree>
    <p:extLst>
      <p:ext uri="{BB962C8B-B14F-4D97-AF65-F5344CB8AC3E}">
        <p14:creationId xmlns:p14="http://schemas.microsoft.com/office/powerpoint/2010/main" val="1613811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ircuit&#10;&#10;Description automatically generated">
            <a:extLst>
              <a:ext uri="{FF2B5EF4-FFF2-40B4-BE49-F238E27FC236}">
                <a16:creationId xmlns:a16="http://schemas.microsoft.com/office/drawing/2014/main" id="{A2289CB8-3324-76D6-0334-B6C97A0485F2}"/>
              </a:ext>
            </a:extLst>
          </p:cNvPr>
          <p:cNvPicPr>
            <a:picLocks noChangeAspect="1"/>
          </p:cNvPicPr>
          <p:nvPr/>
        </p:nvPicPr>
        <p:blipFill rotWithShape="1">
          <a:blip r:embed="rId3">
            <a:extLst>
              <a:ext uri="{28A0092B-C50C-407E-A947-70E740481C1C}">
                <a14:useLocalDpi xmlns:a14="http://schemas.microsoft.com/office/drawing/2010/main" val="0"/>
              </a:ext>
            </a:extLst>
          </a:blip>
          <a:srcRect l="3539" t="3800" r="2998" b="8000"/>
          <a:stretch/>
        </p:blipFill>
        <p:spPr>
          <a:xfrm>
            <a:off x="4067944" y="1454783"/>
            <a:ext cx="4930513" cy="3502532"/>
          </a:xfrm>
          <a:prstGeom prst="rect">
            <a:avLst/>
          </a:prstGeom>
        </p:spPr>
      </p:pic>
      <p:sp>
        <p:nvSpPr>
          <p:cNvPr id="3" name="Rectangle: Rounded Corners 2">
            <a:extLst>
              <a:ext uri="{FF2B5EF4-FFF2-40B4-BE49-F238E27FC236}">
                <a16:creationId xmlns:a16="http://schemas.microsoft.com/office/drawing/2014/main" id="{B9CB6AA7-4701-14DE-F340-74EA246118BE}"/>
              </a:ext>
            </a:extLst>
          </p:cNvPr>
          <p:cNvSpPr/>
          <p:nvPr/>
        </p:nvSpPr>
        <p:spPr>
          <a:xfrm>
            <a:off x="7645651" y="1350081"/>
            <a:ext cx="814781" cy="845932"/>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9" name="TextBox 8">
            <a:extLst>
              <a:ext uri="{FF2B5EF4-FFF2-40B4-BE49-F238E27FC236}">
                <a16:creationId xmlns:a16="http://schemas.microsoft.com/office/drawing/2014/main" id="{75CB776C-04EA-6372-B2C4-15205900E9E4}"/>
              </a:ext>
            </a:extLst>
          </p:cNvPr>
          <p:cNvSpPr txBox="1"/>
          <p:nvPr/>
        </p:nvSpPr>
        <p:spPr>
          <a:xfrm>
            <a:off x="4050122" y="4928963"/>
            <a:ext cx="4972822" cy="738664"/>
          </a:xfrm>
          <a:prstGeom prst="rect">
            <a:avLst/>
          </a:prstGeom>
          <a:noFill/>
        </p:spPr>
        <p:txBody>
          <a:bodyPr wrap="square" rtlCol="0">
            <a:spAutoFit/>
          </a:bodyPr>
          <a:lstStyle/>
          <a:p>
            <a:pPr algn="ctr"/>
            <a:r>
              <a:rPr lang="en-US" sz="1400">
                <a:highlight>
                  <a:srgbClr val="FFFF00"/>
                </a:highlight>
              </a:rPr>
              <a:t>↑ in control voltage, ↑ RF power, ↑ laser power intensity</a:t>
            </a:r>
          </a:p>
          <a:p>
            <a:pPr algn="ctr"/>
            <a:r>
              <a:rPr lang="en-US" sz="1400">
                <a:highlight>
                  <a:srgbClr val="FFFF00"/>
                </a:highlight>
              </a:rPr>
              <a:t>↓ in control voltage, ↓ RF power, ↓ laser power intensity</a:t>
            </a:r>
          </a:p>
          <a:p>
            <a:pPr algn="ctr"/>
            <a:endParaRPr lang="en-CA" sz="1400">
              <a:highlight>
                <a:srgbClr val="FFFF00"/>
              </a:highlight>
            </a:endParaRPr>
          </a:p>
        </p:txBody>
      </p:sp>
      <p:sp>
        <p:nvSpPr>
          <p:cNvPr id="6" name="TextBox 5">
            <a:extLst>
              <a:ext uri="{FF2B5EF4-FFF2-40B4-BE49-F238E27FC236}">
                <a16:creationId xmlns:a16="http://schemas.microsoft.com/office/drawing/2014/main" id="{944F77F3-B278-7346-1171-283A0ACAB572}"/>
              </a:ext>
            </a:extLst>
          </p:cNvPr>
          <p:cNvSpPr txBox="1"/>
          <p:nvPr/>
        </p:nvSpPr>
        <p:spPr>
          <a:xfrm>
            <a:off x="4644008" y="2636912"/>
            <a:ext cx="504056" cy="461665"/>
          </a:xfrm>
          <a:prstGeom prst="rect">
            <a:avLst/>
          </a:prstGeom>
          <a:noFill/>
        </p:spPr>
        <p:txBody>
          <a:bodyPr wrap="square" rtlCol="0">
            <a:spAutoFit/>
          </a:bodyPr>
          <a:lstStyle/>
          <a:p>
            <a:r>
              <a:rPr lang="en-CA" sz="600"/>
              <a:t>10pF</a:t>
            </a:r>
          </a:p>
          <a:p>
            <a:r>
              <a:rPr lang="en-CA" sz="600"/>
              <a:t>100pF</a:t>
            </a:r>
          </a:p>
          <a:p>
            <a:r>
              <a:rPr lang="en-CA" sz="600"/>
              <a:t>1000pF</a:t>
            </a:r>
          </a:p>
          <a:p>
            <a:r>
              <a:rPr lang="en-CA" sz="600"/>
              <a:t>10000pF</a:t>
            </a:r>
          </a:p>
        </p:txBody>
      </p:sp>
      <p:pic>
        <p:nvPicPr>
          <p:cNvPr id="16" name="Picture 15" descr="A diagram of a computer process&#10;&#10;Description automatically generated">
            <a:extLst>
              <a:ext uri="{FF2B5EF4-FFF2-40B4-BE49-F238E27FC236}">
                <a16:creationId xmlns:a16="http://schemas.microsoft.com/office/drawing/2014/main" id="{97302FDE-2472-664D-347D-B4AC59364C8B}"/>
              </a:ext>
            </a:extLst>
          </p:cNvPr>
          <p:cNvPicPr>
            <a:picLocks noChangeAspect="1"/>
          </p:cNvPicPr>
          <p:nvPr/>
        </p:nvPicPr>
        <p:blipFill rotWithShape="1">
          <a:blip r:embed="rId5">
            <a:extLst>
              <a:ext uri="{28A0092B-C50C-407E-A947-70E740481C1C}">
                <a14:useLocalDpi xmlns:a14="http://schemas.microsoft.com/office/drawing/2010/main" val="0"/>
              </a:ext>
            </a:extLst>
          </a:blip>
          <a:srcRect l="7476" t="14300" r="4326" b="75311"/>
          <a:stretch/>
        </p:blipFill>
        <p:spPr>
          <a:xfrm>
            <a:off x="611560" y="5950493"/>
            <a:ext cx="8064896" cy="712462"/>
          </a:xfrm>
          <a:prstGeom prst="rect">
            <a:avLst/>
          </a:prstGeom>
        </p:spPr>
      </p:pic>
      <p:sp>
        <p:nvSpPr>
          <p:cNvPr id="5" name="Rectangle 4">
            <a:extLst>
              <a:ext uri="{FF2B5EF4-FFF2-40B4-BE49-F238E27FC236}">
                <a16:creationId xmlns:a16="http://schemas.microsoft.com/office/drawing/2014/main" id="{C55AD8C0-7A21-42BD-8D11-06CE52E83A30}"/>
              </a:ext>
            </a:extLst>
          </p:cNvPr>
          <p:cNvSpPr/>
          <p:nvPr/>
        </p:nvSpPr>
        <p:spPr>
          <a:xfrm>
            <a:off x="4018215" y="5765852"/>
            <a:ext cx="4678636"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E48CB316-34A9-CADC-4DCE-32C3D7B72530}"/>
              </a:ext>
            </a:extLst>
          </p:cNvPr>
          <p:cNvSpPr/>
          <p:nvPr/>
        </p:nvSpPr>
        <p:spPr>
          <a:xfrm rot="8003832">
            <a:off x="3759645" y="5653098"/>
            <a:ext cx="383932"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74A2E57E-2A9C-F0EA-C5A0-63DA73AA95C3}"/>
              </a:ext>
            </a:extLst>
          </p:cNvPr>
          <p:cNvSpPr/>
          <p:nvPr/>
        </p:nvSpPr>
        <p:spPr>
          <a:xfrm rot="18855390">
            <a:off x="3744641" y="6433910"/>
            <a:ext cx="413938" cy="3249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Content Placeholder 2">
            <a:extLst>
              <a:ext uri="{FF2B5EF4-FFF2-40B4-BE49-F238E27FC236}">
                <a16:creationId xmlns:a16="http://schemas.microsoft.com/office/drawing/2014/main" id="{A765B7B5-0E26-1866-DA5A-8CDB643E55D1}"/>
              </a:ext>
            </a:extLst>
          </p:cNvPr>
          <p:cNvSpPr txBox="1">
            <a:spLocks/>
          </p:cNvSpPr>
          <p:nvPr/>
        </p:nvSpPr>
        <p:spPr>
          <a:xfrm>
            <a:off x="20124" y="1680676"/>
            <a:ext cx="3931487" cy="3908762"/>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buFont typeface="Arial" panose="020B0604020202020204" pitchFamily="34" charset="0"/>
              <a:buChar char="•"/>
            </a:pPr>
            <a:r>
              <a:rPr lang="en-US" sz="1400" u="sng" dirty="0"/>
              <a:t>1 (Comparator): </a:t>
            </a:r>
            <a:r>
              <a:rPr lang="en-US" sz="1400" dirty="0"/>
              <a:t>Compares the PD signal to a reference setpoint and subtracts the two values</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2 (Gain): </a:t>
            </a:r>
            <a:r>
              <a:rPr lang="en-US" sz="1400" dirty="0"/>
              <a:t>Increases the amplitude of the subtracted signal</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solidFill>
                  <a:schemeClr val="bg1"/>
                </a:solidFill>
              </a:rPr>
              <a:t>3 (Integrator): </a:t>
            </a:r>
            <a:r>
              <a:rPr lang="en-US" sz="1400" dirty="0">
                <a:solidFill>
                  <a:schemeClr val="bg1"/>
                </a:solidFill>
              </a:rPr>
              <a:t>Integrates the input voltage to provide the correction signal to lock the PD to the setpoint</a:t>
            </a:r>
          </a:p>
          <a:p>
            <a:pPr marL="342900" indent="-342900">
              <a:buFont typeface="Arial" panose="020B0604020202020204" pitchFamily="34" charset="0"/>
              <a:buChar char="•"/>
            </a:pPr>
            <a:endParaRPr lang="en-US" sz="1400" u="sng" dirty="0">
              <a:solidFill>
                <a:schemeClr val="bg1"/>
              </a:solidFill>
            </a:endParaRPr>
          </a:p>
          <a:p>
            <a:pPr marL="342900" indent="-342900">
              <a:buFont typeface="Arial" panose="020B0604020202020204" pitchFamily="34" charset="0"/>
              <a:buChar char="•"/>
            </a:pPr>
            <a:r>
              <a:rPr lang="en-US" sz="1400" u="sng" dirty="0">
                <a:solidFill>
                  <a:schemeClr val="bg1"/>
                </a:solidFill>
              </a:rPr>
              <a:t>4 (DC Adjust): </a:t>
            </a:r>
            <a:r>
              <a:rPr lang="en-US" sz="1400" dirty="0">
                <a:solidFill>
                  <a:schemeClr val="bg1"/>
                </a:solidFill>
              </a:rPr>
              <a:t>Changes the DC level of the signal, allowing more/less light on the PD</a:t>
            </a:r>
          </a:p>
          <a:p>
            <a:pPr marL="342900" indent="-342900">
              <a:buFont typeface="Arial" panose="020B0604020202020204" pitchFamily="34" charset="0"/>
              <a:buChar char="•"/>
            </a:pPr>
            <a:endParaRPr lang="en-US" sz="1400" dirty="0">
              <a:solidFill>
                <a:schemeClr val="bg1"/>
              </a:solidFill>
            </a:endParaRPr>
          </a:p>
          <a:p>
            <a:pPr marL="342900" indent="-342900">
              <a:buFont typeface="Arial" panose="020B0604020202020204" pitchFamily="34" charset="0"/>
              <a:buChar char="•"/>
            </a:pPr>
            <a:r>
              <a:rPr lang="en-US" sz="1400" u="sng" dirty="0">
                <a:solidFill>
                  <a:schemeClr val="bg1"/>
                </a:solidFill>
              </a:rPr>
              <a:t>5 (Adder): </a:t>
            </a:r>
            <a:r>
              <a:rPr lang="en-US" sz="1400" dirty="0">
                <a:solidFill>
                  <a:schemeClr val="bg1"/>
                </a:solidFill>
              </a:rPr>
              <a:t>Adds the correction signal to the DC adjust signal and is sent to the RF attenuator</a:t>
            </a:r>
          </a:p>
          <a:p>
            <a:endParaRPr lang="en-US" sz="1600" u="sng" dirty="0"/>
          </a:p>
        </p:txBody>
      </p:sp>
      <p:sp>
        <p:nvSpPr>
          <p:cNvPr id="11" name="Title 1">
            <a:extLst>
              <a:ext uri="{FF2B5EF4-FFF2-40B4-BE49-F238E27FC236}">
                <a16:creationId xmlns:a16="http://schemas.microsoft.com/office/drawing/2014/main" id="{DC3D1900-1B05-B422-0824-DEB68D7F4F16}"/>
              </a:ext>
            </a:extLst>
          </p:cNvPr>
          <p:cNvSpPr txBox="1">
            <a:spLocks/>
          </p:cNvSpPr>
          <p:nvPr/>
        </p:nvSpPr>
        <p:spPr>
          <a:xfrm>
            <a:off x="274213" y="599443"/>
            <a:ext cx="7098030" cy="939800"/>
          </a:xfrm>
          <a:prstGeom prst="rect">
            <a:avLst/>
          </a:prstGeom>
        </p:spPr>
        <p:txBody>
          <a:bodyPr wrap="square" lIns="0" tIns="0" rIns="0" bIns="0">
            <a:normAutofit/>
          </a:bodyPr>
          <a:lstStyle>
            <a:lvl1pPr eaLnBrk="1" hangingPunct="1">
              <a:defRPr sz="3600" b="0" i="0">
                <a:solidFill>
                  <a:srgbClr val="D1282E"/>
                </a:solidFill>
                <a:latin typeface="Arial Black"/>
                <a:ea typeface="+mj-ea"/>
                <a:cs typeface="Arial Black"/>
              </a:defRPr>
            </a:lvl1pPr>
          </a:lstStyle>
          <a:p>
            <a:pPr>
              <a:lnSpc>
                <a:spcPct val="90000"/>
              </a:lnSpc>
            </a:pPr>
            <a:r>
              <a:rPr lang="en-CA" sz="3300"/>
              <a:t>Analog Stabilization Circuit</a:t>
            </a:r>
            <a:endParaRPr lang="en-CA" sz="3300" dirty="0"/>
          </a:p>
        </p:txBody>
      </p:sp>
    </p:spTree>
    <p:extLst>
      <p:ext uri="{BB962C8B-B14F-4D97-AF65-F5344CB8AC3E}">
        <p14:creationId xmlns:p14="http://schemas.microsoft.com/office/powerpoint/2010/main" val="2505106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ircuit&#10;&#10;Description automatically generated">
            <a:extLst>
              <a:ext uri="{FF2B5EF4-FFF2-40B4-BE49-F238E27FC236}">
                <a16:creationId xmlns:a16="http://schemas.microsoft.com/office/drawing/2014/main" id="{A2289CB8-3324-76D6-0334-B6C97A0485F2}"/>
              </a:ext>
            </a:extLst>
          </p:cNvPr>
          <p:cNvPicPr>
            <a:picLocks noChangeAspect="1"/>
          </p:cNvPicPr>
          <p:nvPr/>
        </p:nvPicPr>
        <p:blipFill rotWithShape="1">
          <a:blip r:embed="rId3">
            <a:extLst>
              <a:ext uri="{28A0092B-C50C-407E-A947-70E740481C1C}">
                <a14:useLocalDpi xmlns:a14="http://schemas.microsoft.com/office/drawing/2010/main" val="0"/>
              </a:ext>
            </a:extLst>
          </a:blip>
          <a:srcRect l="3539" t="3800" r="2998" b="8000"/>
          <a:stretch/>
        </p:blipFill>
        <p:spPr>
          <a:xfrm>
            <a:off x="4067944" y="1454783"/>
            <a:ext cx="4930513" cy="3502532"/>
          </a:xfrm>
          <a:prstGeom prst="rect">
            <a:avLst/>
          </a:prstGeom>
        </p:spPr>
      </p:pic>
      <p:sp>
        <p:nvSpPr>
          <p:cNvPr id="3" name="Rectangle: Rounded Corners 2">
            <a:extLst>
              <a:ext uri="{FF2B5EF4-FFF2-40B4-BE49-F238E27FC236}">
                <a16:creationId xmlns:a16="http://schemas.microsoft.com/office/drawing/2014/main" id="{B9CB6AA7-4701-14DE-F340-74EA246118BE}"/>
              </a:ext>
            </a:extLst>
          </p:cNvPr>
          <p:cNvSpPr/>
          <p:nvPr/>
        </p:nvSpPr>
        <p:spPr>
          <a:xfrm>
            <a:off x="4333283" y="2492896"/>
            <a:ext cx="1606869" cy="1584176"/>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9" name="TextBox 8">
            <a:extLst>
              <a:ext uri="{FF2B5EF4-FFF2-40B4-BE49-F238E27FC236}">
                <a16:creationId xmlns:a16="http://schemas.microsoft.com/office/drawing/2014/main" id="{75CB776C-04EA-6372-B2C4-15205900E9E4}"/>
              </a:ext>
            </a:extLst>
          </p:cNvPr>
          <p:cNvSpPr txBox="1"/>
          <p:nvPr/>
        </p:nvSpPr>
        <p:spPr>
          <a:xfrm>
            <a:off x="4050122" y="4928963"/>
            <a:ext cx="4972822" cy="738664"/>
          </a:xfrm>
          <a:prstGeom prst="rect">
            <a:avLst/>
          </a:prstGeom>
          <a:noFill/>
        </p:spPr>
        <p:txBody>
          <a:bodyPr wrap="square" rtlCol="0">
            <a:spAutoFit/>
          </a:bodyPr>
          <a:lstStyle/>
          <a:p>
            <a:pPr algn="ctr"/>
            <a:r>
              <a:rPr lang="en-US" sz="1400">
                <a:highlight>
                  <a:srgbClr val="FFFF00"/>
                </a:highlight>
              </a:rPr>
              <a:t>↑ in control voltage, ↑ RF power, ↑ laser power intensity</a:t>
            </a:r>
          </a:p>
          <a:p>
            <a:pPr algn="ctr"/>
            <a:r>
              <a:rPr lang="en-US" sz="1400">
                <a:highlight>
                  <a:srgbClr val="FFFF00"/>
                </a:highlight>
              </a:rPr>
              <a:t>↓ in control voltage, ↓ RF power, ↓ laser power intensity</a:t>
            </a:r>
          </a:p>
          <a:p>
            <a:pPr algn="ctr"/>
            <a:endParaRPr lang="en-CA" sz="1400">
              <a:highlight>
                <a:srgbClr val="FFFF00"/>
              </a:highlight>
            </a:endParaRPr>
          </a:p>
        </p:txBody>
      </p:sp>
      <p:sp>
        <p:nvSpPr>
          <p:cNvPr id="6" name="TextBox 5">
            <a:extLst>
              <a:ext uri="{FF2B5EF4-FFF2-40B4-BE49-F238E27FC236}">
                <a16:creationId xmlns:a16="http://schemas.microsoft.com/office/drawing/2014/main" id="{944F77F3-B278-7346-1171-283A0ACAB572}"/>
              </a:ext>
            </a:extLst>
          </p:cNvPr>
          <p:cNvSpPr txBox="1"/>
          <p:nvPr/>
        </p:nvSpPr>
        <p:spPr>
          <a:xfrm>
            <a:off x="4644008" y="2636912"/>
            <a:ext cx="504056" cy="461665"/>
          </a:xfrm>
          <a:prstGeom prst="rect">
            <a:avLst/>
          </a:prstGeom>
          <a:noFill/>
        </p:spPr>
        <p:txBody>
          <a:bodyPr wrap="square" rtlCol="0">
            <a:spAutoFit/>
          </a:bodyPr>
          <a:lstStyle/>
          <a:p>
            <a:r>
              <a:rPr lang="en-CA" sz="600"/>
              <a:t>10pF</a:t>
            </a:r>
          </a:p>
          <a:p>
            <a:r>
              <a:rPr lang="en-CA" sz="600"/>
              <a:t>100pF</a:t>
            </a:r>
          </a:p>
          <a:p>
            <a:r>
              <a:rPr lang="en-CA" sz="600"/>
              <a:t>1000pF</a:t>
            </a:r>
          </a:p>
          <a:p>
            <a:r>
              <a:rPr lang="en-CA" sz="600"/>
              <a:t>10000pF</a:t>
            </a:r>
          </a:p>
        </p:txBody>
      </p:sp>
      <p:pic>
        <p:nvPicPr>
          <p:cNvPr id="16" name="Picture 15" descr="A diagram of a computer process&#10;&#10;Description automatically generated">
            <a:extLst>
              <a:ext uri="{FF2B5EF4-FFF2-40B4-BE49-F238E27FC236}">
                <a16:creationId xmlns:a16="http://schemas.microsoft.com/office/drawing/2014/main" id="{97302FDE-2472-664D-347D-B4AC59364C8B}"/>
              </a:ext>
            </a:extLst>
          </p:cNvPr>
          <p:cNvPicPr>
            <a:picLocks noChangeAspect="1"/>
          </p:cNvPicPr>
          <p:nvPr/>
        </p:nvPicPr>
        <p:blipFill rotWithShape="1">
          <a:blip r:embed="rId5">
            <a:extLst>
              <a:ext uri="{28A0092B-C50C-407E-A947-70E740481C1C}">
                <a14:useLocalDpi xmlns:a14="http://schemas.microsoft.com/office/drawing/2010/main" val="0"/>
              </a:ext>
            </a:extLst>
          </a:blip>
          <a:srcRect l="7476" t="14300" r="4326" b="75311"/>
          <a:stretch/>
        </p:blipFill>
        <p:spPr>
          <a:xfrm>
            <a:off x="611560" y="5950493"/>
            <a:ext cx="8064896" cy="712462"/>
          </a:xfrm>
          <a:prstGeom prst="rect">
            <a:avLst/>
          </a:prstGeom>
        </p:spPr>
      </p:pic>
      <p:sp>
        <p:nvSpPr>
          <p:cNvPr id="5" name="Rectangle 4">
            <a:extLst>
              <a:ext uri="{FF2B5EF4-FFF2-40B4-BE49-F238E27FC236}">
                <a16:creationId xmlns:a16="http://schemas.microsoft.com/office/drawing/2014/main" id="{C55AD8C0-7A21-42BD-8D11-06CE52E83A30}"/>
              </a:ext>
            </a:extLst>
          </p:cNvPr>
          <p:cNvSpPr/>
          <p:nvPr/>
        </p:nvSpPr>
        <p:spPr>
          <a:xfrm>
            <a:off x="5580111" y="5765852"/>
            <a:ext cx="3116739"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E48CB316-34A9-CADC-4DCE-32C3D7B72530}"/>
              </a:ext>
            </a:extLst>
          </p:cNvPr>
          <p:cNvSpPr/>
          <p:nvPr/>
        </p:nvSpPr>
        <p:spPr>
          <a:xfrm rot="8003832">
            <a:off x="5337122" y="5680419"/>
            <a:ext cx="383932"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74A2E57E-2A9C-F0EA-C5A0-63DA73AA95C3}"/>
              </a:ext>
            </a:extLst>
          </p:cNvPr>
          <p:cNvSpPr/>
          <p:nvPr/>
        </p:nvSpPr>
        <p:spPr>
          <a:xfrm rot="18855390">
            <a:off x="5322119" y="6426915"/>
            <a:ext cx="413938" cy="3249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Content Placeholder 2">
            <a:extLst>
              <a:ext uri="{FF2B5EF4-FFF2-40B4-BE49-F238E27FC236}">
                <a16:creationId xmlns:a16="http://schemas.microsoft.com/office/drawing/2014/main" id="{A765B7B5-0E26-1866-DA5A-8CDB643E55D1}"/>
              </a:ext>
            </a:extLst>
          </p:cNvPr>
          <p:cNvSpPr txBox="1">
            <a:spLocks/>
          </p:cNvSpPr>
          <p:nvPr/>
        </p:nvSpPr>
        <p:spPr>
          <a:xfrm>
            <a:off x="20124" y="1680676"/>
            <a:ext cx="3931487" cy="3908762"/>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buFont typeface="Arial" panose="020B0604020202020204" pitchFamily="34" charset="0"/>
              <a:buChar char="•"/>
            </a:pPr>
            <a:r>
              <a:rPr lang="en-US" sz="1400" u="sng" dirty="0"/>
              <a:t>1 (Comparator): </a:t>
            </a:r>
            <a:r>
              <a:rPr lang="en-US" sz="1400" dirty="0"/>
              <a:t>Compares the PD signal to a reference setpoint and subtracts the two values</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2 (Gain): </a:t>
            </a:r>
            <a:r>
              <a:rPr lang="en-US" sz="1400" dirty="0"/>
              <a:t>Increases the amplitude of the subtracted signal</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3 (Integrator): </a:t>
            </a:r>
            <a:r>
              <a:rPr lang="en-US" sz="1400" dirty="0"/>
              <a:t>Integrates the input voltage to provide the correction signal to lock the PD to the setpoint</a:t>
            </a:r>
          </a:p>
          <a:p>
            <a:pPr marL="342900" indent="-342900">
              <a:buFont typeface="Arial" panose="020B0604020202020204" pitchFamily="34" charset="0"/>
              <a:buChar char="•"/>
            </a:pPr>
            <a:endParaRPr lang="en-US" sz="1400" u="sng" dirty="0">
              <a:solidFill>
                <a:schemeClr val="bg1"/>
              </a:solidFill>
            </a:endParaRPr>
          </a:p>
          <a:p>
            <a:pPr marL="342900" indent="-342900">
              <a:buFont typeface="Arial" panose="020B0604020202020204" pitchFamily="34" charset="0"/>
              <a:buChar char="•"/>
            </a:pPr>
            <a:r>
              <a:rPr lang="en-US" sz="1400" u="sng" dirty="0">
                <a:solidFill>
                  <a:schemeClr val="bg1"/>
                </a:solidFill>
              </a:rPr>
              <a:t>4 (DC Adjust): </a:t>
            </a:r>
            <a:r>
              <a:rPr lang="en-US" sz="1400" dirty="0">
                <a:solidFill>
                  <a:schemeClr val="bg1"/>
                </a:solidFill>
              </a:rPr>
              <a:t>Changes the DC level of the signal, allowing more/less light on the PD</a:t>
            </a:r>
          </a:p>
          <a:p>
            <a:pPr marL="342900" indent="-342900">
              <a:buFont typeface="Arial" panose="020B0604020202020204" pitchFamily="34" charset="0"/>
              <a:buChar char="•"/>
            </a:pPr>
            <a:endParaRPr lang="en-US" sz="1400" dirty="0">
              <a:solidFill>
                <a:schemeClr val="bg1"/>
              </a:solidFill>
            </a:endParaRPr>
          </a:p>
          <a:p>
            <a:pPr marL="342900" indent="-342900">
              <a:buFont typeface="Arial" panose="020B0604020202020204" pitchFamily="34" charset="0"/>
              <a:buChar char="•"/>
            </a:pPr>
            <a:r>
              <a:rPr lang="en-US" sz="1400" u="sng" dirty="0">
                <a:solidFill>
                  <a:schemeClr val="bg1"/>
                </a:solidFill>
              </a:rPr>
              <a:t>5 (Adder): </a:t>
            </a:r>
            <a:r>
              <a:rPr lang="en-US" sz="1400" dirty="0">
                <a:solidFill>
                  <a:schemeClr val="bg1"/>
                </a:solidFill>
              </a:rPr>
              <a:t>Adds the correction signal to the DC adjust signal and is sent to the RF attenuator</a:t>
            </a:r>
          </a:p>
          <a:p>
            <a:endParaRPr lang="en-US" sz="1600" u="sng" dirty="0"/>
          </a:p>
        </p:txBody>
      </p:sp>
      <p:sp>
        <p:nvSpPr>
          <p:cNvPr id="11" name="Title 1">
            <a:extLst>
              <a:ext uri="{FF2B5EF4-FFF2-40B4-BE49-F238E27FC236}">
                <a16:creationId xmlns:a16="http://schemas.microsoft.com/office/drawing/2014/main" id="{EECC2606-37D5-21EE-C666-CEFCA7BD7326}"/>
              </a:ext>
            </a:extLst>
          </p:cNvPr>
          <p:cNvSpPr txBox="1">
            <a:spLocks/>
          </p:cNvSpPr>
          <p:nvPr/>
        </p:nvSpPr>
        <p:spPr>
          <a:xfrm>
            <a:off x="274213" y="599443"/>
            <a:ext cx="7098030" cy="939800"/>
          </a:xfrm>
          <a:prstGeom prst="rect">
            <a:avLst/>
          </a:prstGeom>
        </p:spPr>
        <p:txBody>
          <a:bodyPr wrap="square" lIns="0" tIns="0" rIns="0" bIns="0">
            <a:normAutofit/>
          </a:bodyPr>
          <a:lstStyle>
            <a:lvl1pPr eaLnBrk="1" hangingPunct="1">
              <a:defRPr sz="3600" b="0" i="0">
                <a:solidFill>
                  <a:srgbClr val="D1282E"/>
                </a:solidFill>
                <a:latin typeface="Arial Black"/>
                <a:ea typeface="+mj-ea"/>
                <a:cs typeface="Arial Black"/>
              </a:defRPr>
            </a:lvl1pPr>
          </a:lstStyle>
          <a:p>
            <a:pPr>
              <a:lnSpc>
                <a:spcPct val="90000"/>
              </a:lnSpc>
            </a:pPr>
            <a:r>
              <a:rPr lang="en-CA" sz="3300"/>
              <a:t>Analog Stabilization Circuit</a:t>
            </a:r>
            <a:endParaRPr lang="en-CA" sz="3300" dirty="0"/>
          </a:p>
        </p:txBody>
      </p:sp>
    </p:spTree>
    <p:extLst>
      <p:ext uri="{BB962C8B-B14F-4D97-AF65-F5344CB8AC3E}">
        <p14:creationId xmlns:p14="http://schemas.microsoft.com/office/powerpoint/2010/main" val="3807573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ircuit&#10;&#10;Description automatically generated">
            <a:extLst>
              <a:ext uri="{FF2B5EF4-FFF2-40B4-BE49-F238E27FC236}">
                <a16:creationId xmlns:a16="http://schemas.microsoft.com/office/drawing/2014/main" id="{A2289CB8-3324-76D6-0334-B6C97A0485F2}"/>
              </a:ext>
            </a:extLst>
          </p:cNvPr>
          <p:cNvPicPr>
            <a:picLocks noChangeAspect="1"/>
          </p:cNvPicPr>
          <p:nvPr/>
        </p:nvPicPr>
        <p:blipFill rotWithShape="1">
          <a:blip r:embed="rId3">
            <a:extLst>
              <a:ext uri="{28A0092B-C50C-407E-A947-70E740481C1C}">
                <a14:useLocalDpi xmlns:a14="http://schemas.microsoft.com/office/drawing/2010/main" val="0"/>
              </a:ext>
            </a:extLst>
          </a:blip>
          <a:srcRect l="3539" t="3800" r="2998" b="8000"/>
          <a:stretch/>
        </p:blipFill>
        <p:spPr>
          <a:xfrm>
            <a:off x="4067944" y="1454783"/>
            <a:ext cx="4930513" cy="3502532"/>
          </a:xfrm>
          <a:prstGeom prst="rect">
            <a:avLst/>
          </a:prstGeom>
        </p:spPr>
      </p:pic>
      <p:sp>
        <p:nvSpPr>
          <p:cNvPr id="3" name="Rectangle: Rounded Corners 2">
            <a:extLst>
              <a:ext uri="{FF2B5EF4-FFF2-40B4-BE49-F238E27FC236}">
                <a16:creationId xmlns:a16="http://schemas.microsoft.com/office/drawing/2014/main" id="{B9CB6AA7-4701-14DE-F340-74EA246118BE}"/>
              </a:ext>
            </a:extLst>
          </p:cNvPr>
          <p:cNvSpPr/>
          <p:nvPr/>
        </p:nvSpPr>
        <p:spPr>
          <a:xfrm>
            <a:off x="6012160" y="3907433"/>
            <a:ext cx="1364559" cy="1049882"/>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9" name="TextBox 8">
            <a:extLst>
              <a:ext uri="{FF2B5EF4-FFF2-40B4-BE49-F238E27FC236}">
                <a16:creationId xmlns:a16="http://schemas.microsoft.com/office/drawing/2014/main" id="{75CB776C-04EA-6372-B2C4-15205900E9E4}"/>
              </a:ext>
            </a:extLst>
          </p:cNvPr>
          <p:cNvSpPr txBox="1"/>
          <p:nvPr/>
        </p:nvSpPr>
        <p:spPr>
          <a:xfrm>
            <a:off x="4050122" y="4928963"/>
            <a:ext cx="4972822" cy="738664"/>
          </a:xfrm>
          <a:prstGeom prst="rect">
            <a:avLst/>
          </a:prstGeom>
          <a:noFill/>
        </p:spPr>
        <p:txBody>
          <a:bodyPr wrap="square" rtlCol="0">
            <a:spAutoFit/>
          </a:bodyPr>
          <a:lstStyle/>
          <a:p>
            <a:pPr algn="ctr"/>
            <a:r>
              <a:rPr lang="en-US" sz="1400" dirty="0">
                <a:highlight>
                  <a:srgbClr val="FFFF00"/>
                </a:highlight>
              </a:rPr>
              <a:t>↑ in control voltage, ↑ RF power, ↑ laser power intensity</a:t>
            </a:r>
          </a:p>
          <a:p>
            <a:pPr algn="ctr"/>
            <a:r>
              <a:rPr lang="en-US" sz="1400" dirty="0">
                <a:highlight>
                  <a:srgbClr val="FFFF00"/>
                </a:highlight>
              </a:rPr>
              <a:t>↓ in control voltage, ↓ RF power, ↓ laser power intensity</a:t>
            </a:r>
          </a:p>
          <a:p>
            <a:pPr algn="ctr"/>
            <a:endParaRPr lang="en-CA" sz="1400" dirty="0">
              <a:highlight>
                <a:srgbClr val="FFFF00"/>
              </a:highlight>
            </a:endParaRPr>
          </a:p>
        </p:txBody>
      </p:sp>
      <p:sp>
        <p:nvSpPr>
          <p:cNvPr id="6" name="TextBox 5">
            <a:extLst>
              <a:ext uri="{FF2B5EF4-FFF2-40B4-BE49-F238E27FC236}">
                <a16:creationId xmlns:a16="http://schemas.microsoft.com/office/drawing/2014/main" id="{944F77F3-B278-7346-1171-283A0ACAB572}"/>
              </a:ext>
            </a:extLst>
          </p:cNvPr>
          <p:cNvSpPr txBox="1"/>
          <p:nvPr/>
        </p:nvSpPr>
        <p:spPr>
          <a:xfrm>
            <a:off x="4644008" y="2636912"/>
            <a:ext cx="504056" cy="461665"/>
          </a:xfrm>
          <a:prstGeom prst="rect">
            <a:avLst/>
          </a:prstGeom>
          <a:noFill/>
        </p:spPr>
        <p:txBody>
          <a:bodyPr wrap="square" rtlCol="0">
            <a:spAutoFit/>
          </a:bodyPr>
          <a:lstStyle/>
          <a:p>
            <a:r>
              <a:rPr lang="en-CA" sz="600"/>
              <a:t>10pF</a:t>
            </a:r>
          </a:p>
          <a:p>
            <a:r>
              <a:rPr lang="en-CA" sz="600"/>
              <a:t>100pF</a:t>
            </a:r>
          </a:p>
          <a:p>
            <a:r>
              <a:rPr lang="en-CA" sz="600"/>
              <a:t>1000pF</a:t>
            </a:r>
          </a:p>
          <a:p>
            <a:r>
              <a:rPr lang="en-CA" sz="600"/>
              <a:t>10000pF</a:t>
            </a:r>
          </a:p>
        </p:txBody>
      </p:sp>
      <p:pic>
        <p:nvPicPr>
          <p:cNvPr id="16" name="Picture 15" descr="A diagram of a computer process&#10;&#10;Description automatically generated">
            <a:extLst>
              <a:ext uri="{FF2B5EF4-FFF2-40B4-BE49-F238E27FC236}">
                <a16:creationId xmlns:a16="http://schemas.microsoft.com/office/drawing/2014/main" id="{97302FDE-2472-664D-347D-B4AC59364C8B}"/>
              </a:ext>
            </a:extLst>
          </p:cNvPr>
          <p:cNvPicPr>
            <a:picLocks noChangeAspect="1"/>
          </p:cNvPicPr>
          <p:nvPr/>
        </p:nvPicPr>
        <p:blipFill rotWithShape="1">
          <a:blip r:embed="rId5">
            <a:extLst>
              <a:ext uri="{28A0092B-C50C-407E-A947-70E740481C1C}">
                <a14:useLocalDpi xmlns:a14="http://schemas.microsoft.com/office/drawing/2010/main" val="0"/>
              </a:ext>
            </a:extLst>
          </a:blip>
          <a:srcRect l="7476" t="14300" r="4326" b="75311"/>
          <a:stretch/>
        </p:blipFill>
        <p:spPr>
          <a:xfrm>
            <a:off x="611560" y="5950493"/>
            <a:ext cx="8064896" cy="712462"/>
          </a:xfrm>
          <a:prstGeom prst="rect">
            <a:avLst/>
          </a:prstGeom>
        </p:spPr>
      </p:pic>
      <p:sp>
        <p:nvSpPr>
          <p:cNvPr id="5" name="Rectangle 4">
            <a:extLst>
              <a:ext uri="{FF2B5EF4-FFF2-40B4-BE49-F238E27FC236}">
                <a16:creationId xmlns:a16="http://schemas.microsoft.com/office/drawing/2014/main" id="{C55AD8C0-7A21-42BD-8D11-06CE52E83A30}"/>
              </a:ext>
            </a:extLst>
          </p:cNvPr>
          <p:cNvSpPr/>
          <p:nvPr/>
        </p:nvSpPr>
        <p:spPr>
          <a:xfrm>
            <a:off x="7164288" y="5765852"/>
            <a:ext cx="1532562"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E48CB316-34A9-CADC-4DCE-32C3D7B72530}"/>
              </a:ext>
            </a:extLst>
          </p:cNvPr>
          <p:cNvSpPr/>
          <p:nvPr/>
        </p:nvSpPr>
        <p:spPr>
          <a:xfrm rot="8003832">
            <a:off x="6903928" y="5689032"/>
            <a:ext cx="383932"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74A2E57E-2A9C-F0EA-C5A0-63DA73AA95C3}"/>
              </a:ext>
            </a:extLst>
          </p:cNvPr>
          <p:cNvSpPr/>
          <p:nvPr/>
        </p:nvSpPr>
        <p:spPr>
          <a:xfrm rot="18855390">
            <a:off x="6891415" y="6423742"/>
            <a:ext cx="429317" cy="3249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Content Placeholder 2">
            <a:extLst>
              <a:ext uri="{FF2B5EF4-FFF2-40B4-BE49-F238E27FC236}">
                <a16:creationId xmlns:a16="http://schemas.microsoft.com/office/drawing/2014/main" id="{A765B7B5-0E26-1866-DA5A-8CDB643E55D1}"/>
              </a:ext>
            </a:extLst>
          </p:cNvPr>
          <p:cNvSpPr txBox="1">
            <a:spLocks/>
          </p:cNvSpPr>
          <p:nvPr/>
        </p:nvSpPr>
        <p:spPr>
          <a:xfrm>
            <a:off x="20124" y="1680676"/>
            <a:ext cx="3931487" cy="3693319"/>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buFont typeface="Arial" panose="020B0604020202020204" pitchFamily="34" charset="0"/>
              <a:buChar char="•"/>
            </a:pPr>
            <a:r>
              <a:rPr lang="en-US" sz="1400" u="sng" dirty="0"/>
              <a:t>1 (Comparator): </a:t>
            </a:r>
            <a:r>
              <a:rPr lang="en-US" sz="1400" dirty="0"/>
              <a:t>Compares the PD signal to a reference setpoint and subtracts the two values</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2 (Gain): </a:t>
            </a:r>
            <a:r>
              <a:rPr lang="en-US" sz="1400" dirty="0"/>
              <a:t>Increases the amplitude of the subtracted signal</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3 (Integrator): </a:t>
            </a:r>
            <a:r>
              <a:rPr lang="en-US" sz="1400" dirty="0"/>
              <a:t>Integrates the input voltage to provide the correction signal to lock the PD to the setpoint</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4 (DC Adjust): </a:t>
            </a:r>
            <a:r>
              <a:rPr lang="en-US" sz="1400" dirty="0"/>
              <a:t>Changes the DC level of the signal</a:t>
            </a:r>
          </a:p>
          <a:p>
            <a:pPr marL="342900" indent="-342900">
              <a:buFont typeface="Arial" panose="020B0604020202020204" pitchFamily="34" charset="0"/>
              <a:buChar char="•"/>
            </a:pPr>
            <a:r>
              <a:rPr lang="en-US" sz="1400" u="sng" dirty="0">
                <a:solidFill>
                  <a:schemeClr val="bg1"/>
                </a:solidFill>
              </a:rPr>
              <a:t>5 (Adder): </a:t>
            </a:r>
            <a:r>
              <a:rPr lang="en-US" sz="1400" dirty="0">
                <a:solidFill>
                  <a:schemeClr val="bg1"/>
                </a:solidFill>
              </a:rPr>
              <a:t>Adds the correction signal to the DC adjust signal and is sent to the RF attenuator</a:t>
            </a:r>
          </a:p>
          <a:p>
            <a:endParaRPr lang="en-US" sz="1600" u="sng" dirty="0"/>
          </a:p>
        </p:txBody>
      </p:sp>
      <p:sp>
        <p:nvSpPr>
          <p:cNvPr id="11" name="Title 1">
            <a:extLst>
              <a:ext uri="{FF2B5EF4-FFF2-40B4-BE49-F238E27FC236}">
                <a16:creationId xmlns:a16="http://schemas.microsoft.com/office/drawing/2014/main" id="{528BDCBF-AE6B-2ABB-0516-E15C1089BF31}"/>
              </a:ext>
            </a:extLst>
          </p:cNvPr>
          <p:cNvSpPr txBox="1">
            <a:spLocks/>
          </p:cNvSpPr>
          <p:nvPr/>
        </p:nvSpPr>
        <p:spPr>
          <a:xfrm>
            <a:off x="274213" y="599443"/>
            <a:ext cx="7098030" cy="939800"/>
          </a:xfrm>
          <a:prstGeom prst="rect">
            <a:avLst/>
          </a:prstGeom>
        </p:spPr>
        <p:txBody>
          <a:bodyPr wrap="square" lIns="0" tIns="0" rIns="0" bIns="0">
            <a:normAutofit/>
          </a:bodyPr>
          <a:lstStyle>
            <a:lvl1pPr eaLnBrk="1" hangingPunct="1">
              <a:defRPr sz="3600" b="0" i="0">
                <a:solidFill>
                  <a:srgbClr val="D1282E"/>
                </a:solidFill>
                <a:latin typeface="Arial Black"/>
                <a:ea typeface="+mj-ea"/>
                <a:cs typeface="Arial Black"/>
              </a:defRPr>
            </a:lvl1pPr>
          </a:lstStyle>
          <a:p>
            <a:pPr>
              <a:lnSpc>
                <a:spcPct val="90000"/>
              </a:lnSpc>
            </a:pPr>
            <a:r>
              <a:rPr lang="en-CA" sz="3300"/>
              <a:t>Analog Stabilization Circuit</a:t>
            </a:r>
            <a:endParaRPr lang="en-CA" sz="3300" dirty="0"/>
          </a:p>
        </p:txBody>
      </p:sp>
    </p:spTree>
    <p:extLst>
      <p:ext uri="{BB962C8B-B14F-4D97-AF65-F5344CB8AC3E}">
        <p14:creationId xmlns:p14="http://schemas.microsoft.com/office/powerpoint/2010/main" val="891227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ircuit&#10;&#10;Description automatically generated">
            <a:extLst>
              <a:ext uri="{FF2B5EF4-FFF2-40B4-BE49-F238E27FC236}">
                <a16:creationId xmlns:a16="http://schemas.microsoft.com/office/drawing/2014/main" id="{A2289CB8-3324-76D6-0334-B6C97A0485F2}"/>
              </a:ext>
            </a:extLst>
          </p:cNvPr>
          <p:cNvPicPr>
            <a:picLocks noChangeAspect="1"/>
          </p:cNvPicPr>
          <p:nvPr/>
        </p:nvPicPr>
        <p:blipFill rotWithShape="1">
          <a:blip r:embed="rId3">
            <a:extLst>
              <a:ext uri="{28A0092B-C50C-407E-A947-70E740481C1C}">
                <a14:useLocalDpi xmlns:a14="http://schemas.microsoft.com/office/drawing/2010/main" val="0"/>
              </a:ext>
            </a:extLst>
          </a:blip>
          <a:srcRect l="3539" t="3800" r="2998" b="8000"/>
          <a:stretch/>
        </p:blipFill>
        <p:spPr>
          <a:xfrm>
            <a:off x="4067944" y="1454783"/>
            <a:ext cx="4930513" cy="3502532"/>
          </a:xfrm>
          <a:prstGeom prst="rect">
            <a:avLst/>
          </a:prstGeom>
        </p:spPr>
      </p:pic>
      <p:sp>
        <p:nvSpPr>
          <p:cNvPr id="3" name="Rectangle: Rounded Corners 2">
            <a:extLst>
              <a:ext uri="{FF2B5EF4-FFF2-40B4-BE49-F238E27FC236}">
                <a16:creationId xmlns:a16="http://schemas.microsoft.com/office/drawing/2014/main" id="{B9CB6AA7-4701-14DE-F340-74EA246118BE}"/>
              </a:ext>
            </a:extLst>
          </p:cNvPr>
          <p:cNvSpPr/>
          <p:nvPr/>
        </p:nvSpPr>
        <p:spPr>
          <a:xfrm>
            <a:off x="7334311" y="3523925"/>
            <a:ext cx="1364559" cy="1049882"/>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6B0C0B14-DA09-E5E3-FDD4-297DDC4CF958}"/>
              </a:ext>
            </a:extLst>
          </p:cNvPr>
          <p:cNvSpPr>
            <a:spLocks noGrp="1"/>
          </p:cNvSpPr>
          <p:nvPr>
            <p:ph type="title"/>
          </p:nvPr>
        </p:nvSpPr>
        <p:spPr>
          <a:xfrm>
            <a:off x="274213" y="599443"/>
            <a:ext cx="7098030" cy="939800"/>
          </a:xfrm>
        </p:spPr>
        <p:txBody>
          <a:bodyPr wrap="square">
            <a:normAutofit/>
          </a:bodyPr>
          <a:lstStyle/>
          <a:p>
            <a:pPr>
              <a:lnSpc>
                <a:spcPct val="90000"/>
              </a:lnSpc>
            </a:pPr>
            <a:r>
              <a:rPr lang="en-CA" sz="3300" dirty="0"/>
              <a:t>Analog Stabilization Circuit</a:t>
            </a:r>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9" name="TextBox 8">
            <a:extLst>
              <a:ext uri="{FF2B5EF4-FFF2-40B4-BE49-F238E27FC236}">
                <a16:creationId xmlns:a16="http://schemas.microsoft.com/office/drawing/2014/main" id="{75CB776C-04EA-6372-B2C4-15205900E9E4}"/>
              </a:ext>
            </a:extLst>
          </p:cNvPr>
          <p:cNvSpPr txBox="1"/>
          <p:nvPr/>
        </p:nvSpPr>
        <p:spPr>
          <a:xfrm>
            <a:off x="4050122" y="4928963"/>
            <a:ext cx="4972822" cy="738664"/>
          </a:xfrm>
          <a:prstGeom prst="rect">
            <a:avLst/>
          </a:prstGeom>
          <a:noFill/>
        </p:spPr>
        <p:txBody>
          <a:bodyPr wrap="square" rtlCol="0">
            <a:spAutoFit/>
          </a:bodyPr>
          <a:lstStyle/>
          <a:p>
            <a:pPr algn="ctr"/>
            <a:r>
              <a:rPr lang="en-US" sz="1400">
                <a:highlight>
                  <a:srgbClr val="FFFF00"/>
                </a:highlight>
              </a:rPr>
              <a:t>↑ in control voltage, ↑ RF power, ↑ laser power intensity</a:t>
            </a:r>
          </a:p>
          <a:p>
            <a:pPr algn="ctr"/>
            <a:r>
              <a:rPr lang="en-US" sz="1400">
                <a:highlight>
                  <a:srgbClr val="FFFF00"/>
                </a:highlight>
              </a:rPr>
              <a:t>↓ in control voltage, ↓ RF power, ↓ laser power intensity</a:t>
            </a:r>
          </a:p>
          <a:p>
            <a:pPr algn="ctr"/>
            <a:endParaRPr lang="en-CA" sz="1400">
              <a:highlight>
                <a:srgbClr val="FFFF00"/>
              </a:highlight>
            </a:endParaRPr>
          </a:p>
        </p:txBody>
      </p:sp>
      <p:sp>
        <p:nvSpPr>
          <p:cNvPr id="6" name="TextBox 5">
            <a:extLst>
              <a:ext uri="{FF2B5EF4-FFF2-40B4-BE49-F238E27FC236}">
                <a16:creationId xmlns:a16="http://schemas.microsoft.com/office/drawing/2014/main" id="{944F77F3-B278-7346-1171-283A0ACAB572}"/>
              </a:ext>
            </a:extLst>
          </p:cNvPr>
          <p:cNvSpPr txBox="1"/>
          <p:nvPr/>
        </p:nvSpPr>
        <p:spPr>
          <a:xfrm>
            <a:off x="4644008" y="2636912"/>
            <a:ext cx="504056" cy="461665"/>
          </a:xfrm>
          <a:prstGeom prst="rect">
            <a:avLst/>
          </a:prstGeom>
          <a:noFill/>
        </p:spPr>
        <p:txBody>
          <a:bodyPr wrap="square" rtlCol="0">
            <a:spAutoFit/>
          </a:bodyPr>
          <a:lstStyle/>
          <a:p>
            <a:r>
              <a:rPr lang="en-CA" sz="600"/>
              <a:t>10pF</a:t>
            </a:r>
          </a:p>
          <a:p>
            <a:r>
              <a:rPr lang="en-CA" sz="600"/>
              <a:t>100pF</a:t>
            </a:r>
          </a:p>
          <a:p>
            <a:r>
              <a:rPr lang="en-CA" sz="600"/>
              <a:t>1000pF</a:t>
            </a:r>
          </a:p>
          <a:p>
            <a:r>
              <a:rPr lang="en-CA" sz="600"/>
              <a:t>10000pF</a:t>
            </a:r>
          </a:p>
        </p:txBody>
      </p:sp>
      <p:pic>
        <p:nvPicPr>
          <p:cNvPr id="16" name="Picture 15" descr="A diagram of a computer process&#10;&#10;Description automatically generated">
            <a:extLst>
              <a:ext uri="{FF2B5EF4-FFF2-40B4-BE49-F238E27FC236}">
                <a16:creationId xmlns:a16="http://schemas.microsoft.com/office/drawing/2014/main" id="{97302FDE-2472-664D-347D-B4AC59364C8B}"/>
              </a:ext>
            </a:extLst>
          </p:cNvPr>
          <p:cNvPicPr>
            <a:picLocks noChangeAspect="1"/>
          </p:cNvPicPr>
          <p:nvPr/>
        </p:nvPicPr>
        <p:blipFill rotWithShape="1">
          <a:blip r:embed="rId5">
            <a:extLst>
              <a:ext uri="{28A0092B-C50C-407E-A947-70E740481C1C}">
                <a14:useLocalDpi xmlns:a14="http://schemas.microsoft.com/office/drawing/2010/main" val="0"/>
              </a:ext>
            </a:extLst>
          </a:blip>
          <a:srcRect l="7476" t="14300" r="4326" b="75311"/>
          <a:stretch/>
        </p:blipFill>
        <p:spPr>
          <a:xfrm>
            <a:off x="611560" y="5950493"/>
            <a:ext cx="8064896" cy="712462"/>
          </a:xfrm>
          <a:prstGeom prst="rect">
            <a:avLst/>
          </a:prstGeom>
        </p:spPr>
      </p:pic>
      <p:sp>
        <p:nvSpPr>
          <p:cNvPr id="15" name="Content Placeholder 2">
            <a:extLst>
              <a:ext uri="{FF2B5EF4-FFF2-40B4-BE49-F238E27FC236}">
                <a16:creationId xmlns:a16="http://schemas.microsoft.com/office/drawing/2014/main" id="{A765B7B5-0E26-1866-DA5A-8CDB643E55D1}"/>
              </a:ext>
            </a:extLst>
          </p:cNvPr>
          <p:cNvSpPr txBox="1">
            <a:spLocks/>
          </p:cNvSpPr>
          <p:nvPr/>
        </p:nvSpPr>
        <p:spPr>
          <a:xfrm>
            <a:off x="20124" y="1680676"/>
            <a:ext cx="3931487" cy="3908762"/>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342900" indent="-342900">
              <a:buFont typeface="Arial" panose="020B0604020202020204" pitchFamily="34" charset="0"/>
              <a:buChar char="•"/>
            </a:pPr>
            <a:r>
              <a:rPr lang="en-US" sz="1400" u="sng" dirty="0"/>
              <a:t>1 (Comparator): </a:t>
            </a:r>
            <a:r>
              <a:rPr lang="en-US" sz="1400" dirty="0"/>
              <a:t>Compares the PD signal to a reference setpoint and subtracts the two values</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2 (Gain): </a:t>
            </a:r>
            <a:r>
              <a:rPr lang="en-US" sz="1400" dirty="0"/>
              <a:t>Increases the amplitude of the subtracted signal</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3 (Integrator): </a:t>
            </a:r>
            <a:r>
              <a:rPr lang="en-US" sz="1400" dirty="0"/>
              <a:t>Integrates the input voltage to provide the correction signal to lock the PD to the setpoint</a:t>
            </a:r>
          </a:p>
          <a:p>
            <a:pPr marL="342900" indent="-342900">
              <a:buFont typeface="Arial" panose="020B0604020202020204" pitchFamily="34" charset="0"/>
              <a:buChar char="•"/>
            </a:pPr>
            <a:endParaRPr lang="en-US" sz="1400" u="sng" dirty="0"/>
          </a:p>
          <a:p>
            <a:pPr marL="342900" indent="-342900">
              <a:buFont typeface="Arial" panose="020B0604020202020204" pitchFamily="34" charset="0"/>
              <a:buChar char="•"/>
            </a:pPr>
            <a:r>
              <a:rPr lang="en-US" sz="1400" u="sng" dirty="0"/>
              <a:t>4 (DC Adjust): </a:t>
            </a:r>
            <a:r>
              <a:rPr lang="en-US" sz="1400" dirty="0"/>
              <a:t>Changes the DC level of the signal</a:t>
            </a:r>
          </a:p>
          <a:p>
            <a:pPr marL="342900" indent="-342900">
              <a:buFont typeface="Arial" panose="020B0604020202020204" pitchFamily="34" charset="0"/>
              <a:buChar char="•"/>
            </a:pPr>
            <a:endParaRPr lang="en-US" sz="1400" dirty="0"/>
          </a:p>
          <a:p>
            <a:pPr marL="342900" indent="-342900">
              <a:buFont typeface="Arial" panose="020B0604020202020204" pitchFamily="34" charset="0"/>
              <a:buChar char="•"/>
            </a:pPr>
            <a:r>
              <a:rPr lang="en-US" sz="1400" u="sng" dirty="0"/>
              <a:t>5 (Adder): </a:t>
            </a:r>
            <a:r>
              <a:rPr lang="en-US" sz="1400" dirty="0"/>
              <a:t>Adds the correction signal to the DC adjust and sends to the variable RF attenuator</a:t>
            </a:r>
          </a:p>
          <a:p>
            <a:endParaRPr lang="en-US" sz="1600" u="sng" dirty="0"/>
          </a:p>
        </p:txBody>
      </p:sp>
    </p:spTree>
    <p:extLst>
      <p:ext uri="{BB962C8B-B14F-4D97-AF65-F5344CB8AC3E}">
        <p14:creationId xmlns:p14="http://schemas.microsoft.com/office/powerpoint/2010/main" val="854288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8E7B946A-6DCD-C282-A76D-B79CD9BDCA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81358"/>
            <a:ext cx="4484591" cy="3096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B0C0B14-DA09-E5E3-FDD4-297DDC4CF958}"/>
              </a:ext>
            </a:extLst>
          </p:cNvPr>
          <p:cNvSpPr>
            <a:spLocks noGrp="1"/>
          </p:cNvSpPr>
          <p:nvPr>
            <p:ph type="title"/>
          </p:nvPr>
        </p:nvSpPr>
        <p:spPr>
          <a:xfrm>
            <a:off x="1020462" y="460939"/>
            <a:ext cx="6840760" cy="556855"/>
          </a:xfrm>
        </p:spPr>
        <p:txBody>
          <a:bodyPr wrap="square">
            <a:normAutofit fontScale="90000"/>
          </a:bodyPr>
          <a:lstStyle/>
          <a:p>
            <a:pPr algn="ctr">
              <a:lnSpc>
                <a:spcPct val="90000"/>
              </a:lnSpc>
            </a:pPr>
            <a:r>
              <a:rPr lang="en-CA" sz="3300" dirty="0"/>
              <a:t>Intensity Stabilization</a:t>
            </a:r>
            <a:br>
              <a:rPr lang="en-CA" sz="3300" dirty="0"/>
            </a:br>
            <a:endParaRPr lang="en-CA" sz="3300" dirty="0"/>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5" name="TextBox 4">
            <a:extLst>
              <a:ext uri="{FF2B5EF4-FFF2-40B4-BE49-F238E27FC236}">
                <a16:creationId xmlns:a16="http://schemas.microsoft.com/office/drawing/2014/main" id="{6EEB9DE2-C5AB-293B-292B-FE1038CCD6D6}"/>
              </a:ext>
            </a:extLst>
          </p:cNvPr>
          <p:cNvSpPr txBox="1"/>
          <p:nvPr/>
        </p:nvSpPr>
        <p:spPr>
          <a:xfrm>
            <a:off x="473282" y="5848815"/>
            <a:ext cx="8197435" cy="646331"/>
          </a:xfrm>
          <a:prstGeom prst="rect">
            <a:avLst/>
          </a:prstGeom>
          <a:noFill/>
        </p:spPr>
        <p:txBody>
          <a:bodyPr wrap="square" rtlCol="0">
            <a:spAutoFit/>
          </a:bodyPr>
          <a:lstStyle/>
          <a:p>
            <a:pPr algn="ctr"/>
            <a:r>
              <a:rPr lang="en-CA" dirty="0"/>
              <a:t>Both the feedback detector (PD1) and experiments detector (PD2) measure the same trends</a:t>
            </a:r>
          </a:p>
        </p:txBody>
      </p:sp>
      <p:sp>
        <p:nvSpPr>
          <p:cNvPr id="9" name="TextBox 8">
            <a:extLst>
              <a:ext uri="{FF2B5EF4-FFF2-40B4-BE49-F238E27FC236}">
                <a16:creationId xmlns:a16="http://schemas.microsoft.com/office/drawing/2014/main" id="{0C57FC04-E3FC-46B9-6111-45BCD0E3ED70}"/>
              </a:ext>
            </a:extLst>
          </p:cNvPr>
          <p:cNvSpPr txBox="1"/>
          <p:nvPr/>
        </p:nvSpPr>
        <p:spPr>
          <a:xfrm>
            <a:off x="3823663" y="4642160"/>
            <a:ext cx="1296144" cy="369332"/>
          </a:xfrm>
          <a:prstGeom prst="rect">
            <a:avLst/>
          </a:prstGeom>
          <a:noFill/>
        </p:spPr>
        <p:txBody>
          <a:bodyPr wrap="square" rtlCol="0">
            <a:spAutoFit/>
          </a:bodyPr>
          <a:lstStyle/>
          <a:p>
            <a:pPr algn="ctr"/>
            <a:r>
              <a:rPr lang="en-CA" dirty="0">
                <a:latin typeface="Arial" panose="020B0604020202020204" pitchFamily="34" charset="0"/>
                <a:cs typeface="Arial" panose="020B0604020202020204" pitchFamily="34" charset="0"/>
              </a:rPr>
              <a:t>200ms/div</a:t>
            </a:r>
            <a:endParaRPr lang="en-CA" dirty="0"/>
          </a:p>
        </p:txBody>
      </p:sp>
      <p:sp>
        <p:nvSpPr>
          <p:cNvPr id="10" name="Arrow: Right 9">
            <a:extLst>
              <a:ext uri="{FF2B5EF4-FFF2-40B4-BE49-F238E27FC236}">
                <a16:creationId xmlns:a16="http://schemas.microsoft.com/office/drawing/2014/main" id="{E6A8C480-AD47-10FD-12ED-2C88AA82347D}"/>
              </a:ext>
            </a:extLst>
          </p:cNvPr>
          <p:cNvSpPr/>
          <p:nvPr/>
        </p:nvSpPr>
        <p:spPr>
          <a:xfrm>
            <a:off x="3828774" y="5046013"/>
            <a:ext cx="1224136" cy="1440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91D821F4-8725-CAB0-64D4-B8C6749A514B}"/>
              </a:ext>
            </a:extLst>
          </p:cNvPr>
          <p:cNvSpPr txBox="1"/>
          <p:nvPr/>
        </p:nvSpPr>
        <p:spPr>
          <a:xfrm>
            <a:off x="3802321" y="5257547"/>
            <a:ext cx="1338828" cy="369332"/>
          </a:xfrm>
          <a:prstGeom prst="rect">
            <a:avLst/>
          </a:prstGeom>
          <a:noFill/>
        </p:spPr>
        <p:txBody>
          <a:bodyPr wrap="none" rtlCol="0">
            <a:spAutoFit/>
          </a:bodyPr>
          <a:lstStyle/>
          <a:p>
            <a:pPr algn="ctr"/>
            <a:r>
              <a:rPr lang="en-CA" dirty="0"/>
              <a:t>PD1 Signal</a:t>
            </a:r>
          </a:p>
        </p:txBody>
      </p:sp>
      <p:sp>
        <p:nvSpPr>
          <p:cNvPr id="4" name="TextBox 3">
            <a:extLst>
              <a:ext uri="{FF2B5EF4-FFF2-40B4-BE49-F238E27FC236}">
                <a16:creationId xmlns:a16="http://schemas.microsoft.com/office/drawing/2014/main" id="{EA92FB19-904F-60D8-74E0-81A25D6A3E04}"/>
              </a:ext>
            </a:extLst>
          </p:cNvPr>
          <p:cNvSpPr txBox="1"/>
          <p:nvPr/>
        </p:nvSpPr>
        <p:spPr>
          <a:xfrm>
            <a:off x="902386" y="1557588"/>
            <a:ext cx="3087435" cy="369332"/>
          </a:xfrm>
          <a:prstGeom prst="rect">
            <a:avLst/>
          </a:prstGeom>
          <a:noFill/>
        </p:spPr>
        <p:txBody>
          <a:bodyPr wrap="square" rtlCol="0">
            <a:spAutoFit/>
          </a:bodyPr>
          <a:lstStyle/>
          <a:p>
            <a:pPr algn="ctr"/>
            <a:r>
              <a:rPr lang="en-CA" b="1" dirty="0">
                <a:highlight>
                  <a:srgbClr val="FFFFFF"/>
                </a:highlight>
              </a:rPr>
              <a:t>Feedback Signal</a:t>
            </a:r>
            <a:r>
              <a:rPr lang="en-CA" dirty="0">
                <a:highlight>
                  <a:srgbClr val="FFFFFF"/>
                </a:highlight>
              </a:rPr>
              <a:t>-Unlocked</a:t>
            </a:r>
          </a:p>
        </p:txBody>
      </p:sp>
      <p:pic>
        <p:nvPicPr>
          <p:cNvPr id="3078" name="Picture 6">
            <a:extLst>
              <a:ext uri="{FF2B5EF4-FFF2-40B4-BE49-F238E27FC236}">
                <a16:creationId xmlns:a16="http://schemas.microsoft.com/office/drawing/2014/main" id="{0B0A7F76-AEB1-4706-7981-5129F90B16F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04" t="5515" r="1010" b="2053"/>
          <a:stretch/>
        </p:blipFill>
        <p:spPr bwMode="auto">
          <a:xfrm>
            <a:off x="4440842" y="1891729"/>
            <a:ext cx="4369076" cy="28733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A99794D-8364-54F9-120A-E21DCA7C1975}"/>
              </a:ext>
            </a:extLst>
          </p:cNvPr>
          <p:cNvSpPr txBox="1"/>
          <p:nvPr/>
        </p:nvSpPr>
        <p:spPr>
          <a:xfrm>
            <a:off x="5420768" y="1557588"/>
            <a:ext cx="2938129" cy="369332"/>
          </a:xfrm>
          <a:prstGeom prst="rect">
            <a:avLst/>
          </a:prstGeom>
          <a:solidFill>
            <a:schemeClr val="bg1"/>
          </a:solidFill>
        </p:spPr>
        <p:txBody>
          <a:bodyPr wrap="square" rtlCol="0">
            <a:spAutoFit/>
          </a:bodyPr>
          <a:lstStyle/>
          <a:p>
            <a:pPr algn="ctr"/>
            <a:r>
              <a:rPr lang="en-CA" b="1" dirty="0"/>
              <a:t>Feedback Signal</a:t>
            </a:r>
            <a:r>
              <a:rPr lang="en-CA" dirty="0"/>
              <a:t>-Locked</a:t>
            </a:r>
          </a:p>
        </p:txBody>
      </p:sp>
      <p:sp>
        <p:nvSpPr>
          <p:cNvPr id="6" name="TextBox 5">
            <a:extLst>
              <a:ext uri="{FF2B5EF4-FFF2-40B4-BE49-F238E27FC236}">
                <a16:creationId xmlns:a16="http://schemas.microsoft.com/office/drawing/2014/main" id="{A22077F3-63DF-121A-EE19-D46191D73409}"/>
              </a:ext>
            </a:extLst>
          </p:cNvPr>
          <p:cNvSpPr txBox="1"/>
          <p:nvPr/>
        </p:nvSpPr>
        <p:spPr>
          <a:xfrm>
            <a:off x="972368" y="4015419"/>
            <a:ext cx="1219435" cy="276999"/>
          </a:xfrm>
          <a:prstGeom prst="rect">
            <a:avLst/>
          </a:prstGeom>
          <a:noFill/>
        </p:spPr>
        <p:txBody>
          <a:bodyPr wrap="square" rtlCol="0">
            <a:spAutoFit/>
          </a:bodyPr>
          <a:lstStyle/>
          <a:p>
            <a:r>
              <a:rPr lang="en-CA" sz="1200" dirty="0">
                <a:highlight>
                  <a:srgbClr val="FFFFFF"/>
                </a:highlight>
              </a:rPr>
              <a:t>SD/AVG ~ 1%</a:t>
            </a:r>
          </a:p>
        </p:txBody>
      </p:sp>
      <p:sp>
        <p:nvSpPr>
          <p:cNvPr id="8" name="Rectangle 7">
            <a:extLst>
              <a:ext uri="{FF2B5EF4-FFF2-40B4-BE49-F238E27FC236}">
                <a16:creationId xmlns:a16="http://schemas.microsoft.com/office/drawing/2014/main" id="{5B1D9072-729A-320E-CED7-0D4BDF94239D}"/>
              </a:ext>
            </a:extLst>
          </p:cNvPr>
          <p:cNvSpPr/>
          <p:nvPr/>
        </p:nvSpPr>
        <p:spPr>
          <a:xfrm rot="5400000">
            <a:off x="737011" y="3950180"/>
            <a:ext cx="240191" cy="40748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1" name="TextBox 10">
            <a:extLst>
              <a:ext uri="{FF2B5EF4-FFF2-40B4-BE49-F238E27FC236}">
                <a16:creationId xmlns:a16="http://schemas.microsoft.com/office/drawing/2014/main" id="{8DFEA7AE-845C-18F3-77EF-66BDC78600C2}"/>
              </a:ext>
            </a:extLst>
          </p:cNvPr>
          <p:cNvSpPr txBox="1"/>
          <p:nvPr/>
        </p:nvSpPr>
        <p:spPr>
          <a:xfrm>
            <a:off x="5358810" y="3738420"/>
            <a:ext cx="1769166" cy="276999"/>
          </a:xfrm>
          <a:prstGeom prst="rect">
            <a:avLst/>
          </a:prstGeom>
          <a:noFill/>
        </p:spPr>
        <p:txBody>
          <a:bodyPr wrap="square" rtlCol="0">
            <a:spAutoFit/>
          </a:bodyPr>
          <a:lstStyle/>
          <a:p>
            <a:r>
              <a:rPr lang="en-CA" sz="1200" dirty="0">
                <a:highlight>
                  <a:srgbClr val="FFFFFF"/>
                </a:highlight>
              </a:rPr>
              <a:t>SD/AVG ~ 0.1%</a:t>
            </a:r>
          </a:p>
        </p:txBody>
      </p:sp>
      <p:sp>
        <p:nvSpPr>
          <p:cNvPr id="12" name="Rectangle 11">
            <a:extLst>
              <a:ext uri="{FF2B5EF4-FFF2-40B4-BE49-F238E27FC236}">
                <a16:creationId xmlns:a16="http://schemas.microsoft.com/office/drawing/2014/main" id="{1D546523-C2D0-521F-4C88-06003C58FE85}"/>
              </a:ext>
            </a:extLst>
          </p:cNvPr>
          <p:cNvSpPr/>
          <p:nvPr/>
        </p:nvSpPr>
        <p:spPr>
          <a:xfrm rot="5400000">
            <a:off x="5123453" y="3673181"/>
            <a:ext cx="240191" cy="40748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4" name="Rectangle 13">
            <a:extLst>
              <a:ext uri="{FF2B5EF4-FFF2-40B4-BE49-F238E27FC236}">
                <a16:creationId xmlns:a16="http://schemas.microsoft.com/office/drawing/2014/main" id="{69D508EA-422A-C794-FE5A-3F0470795DE4}"/>
              </a:ext>
            </a:extLst>
          </p:cNvPr>
          <p:cNvSpPr/>
          <p:nvPr/>
        </p:nvSpPr>
        <p:spPr>
          <a:xfrm rot="5400000">
            <a:off x="2108739" y="3970835"/>
            <a:ext cx="240191" cy="40748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7" name="Rectangle 16">
            <a:extLst>
              <a:ext uri="{FF2B5EF4-FFF2-40B4-BE49-F238E27FC236}">
                <a16:creationId xmlns:a16="http://schemas.microsoft.com/office/drawing/2014/main" id="{853964D6-C002-35B7-58CB-F60BFD3F51E1}"/>
              </a:ext>
            </a:extLst>
          </p:cNvPr>
          <p:cNvSpPr/>
          <p:nvPr/>
        </p:nvSpPr>
        <p:spPr>
          <a:xfrm rot="5400000">
            <a:off x="6624453" y="3641517"/>
            <a:ext cx="240191" cy="40748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1890289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C0B14-DA09-E5E3-FDD4-297DDC4CF958}"/>
              </a:ext>
            </a:extLst>
          </p:cNvPr>
          <p:cNvSpPr>
            <a:spLocks noGrp="1"/>
          </p:cNvSpPr>
          <p:nvPr>
            <p:ph type="title"/>
          </p:nvPr>
        </p:nvSpPr>
        <p:spPr>
          <a:xfrm>
            <a:off x="255790" y="344991"/>
            <a:ext cx="7704856" cy="556855"/>
          </a:xfrm>
        </p:spPr>
        <p:txBody>
          <a:bodyPr wrap="square">
            <a:normAutofit/>
          </a:bodyPr>
          <a:lstStyle/>
          <a:p>
            <a:pPr algn="ctr">
              <a:lnSpc>
                <a:spcPct val="90000"/>
              </a:lnSpc>
            </a:pPr>
            <a:r>
              <a:rPr lang="en-CA" sz="3300" dirty="0"/>
              <a:t>Intensity Histograms</a:t>
            </a:r>
          </a:p>
        </p:txBody>
      </p:sp>
      <p:pic>
        <p:nvPicPr>
          <p:cNvPr id="7" name="object 8">
            <a:extLst>
              <a:ext uri="{FF2B5EF4-FFF2-40B4-BE49-F238E27FC236}">
                <a16:creationId xmlns:a16="http://schemas.microsoft.com/office/drawing/2014/main" id="{91C12FAC-BF1E-4341-A057-40A5BF45A46A}"/>
              </a:ext>
            </a:extLst>
          </p:cNvPr>
          <p:cNvPicPr/>
          <p:nvPr/>
        </p:nvPicPr>
        <p:blipFill>
          <a:blip r:embed="rId3" cstate="print"/>
          <a:stretch>
            <a:fillRect/>
          </a:stretch>
        </p:blipFill>
        <p:spPr>
          <a:xfrm>
            <a:off x="7960646" y="0"/>
            <a:ext cx="909141" cy="1246838"/>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2B193DE-A8DC-FA0A-BF03-A61E46130C84}"/>
                  </a:ext>
                </a:extLst>
              </p:cNvPr>
              <p:cNvSpPr txBox="1"/>
              <p:nvPr/>
            </p:nvSpPr>
            <p:spPr>
              <a:xfrm>
                <a:off x="5506448" y="2029874"/>
                <a:ext cx="3455421" cy="2303644"/>
              </a:xfrm>
              <a:prstGeom prst="rect">
                <a:avLst/>
              </a:prstGeom>
              <a:noFill/>
            </p:spPr>
            <p:txBody>
              <a:bodyPr wrap="square" rtlCol="0">
                <a:spAutoFit/>
              </a:bodyPr>
              <a:lstStyle/>
              <a:p>
                <a:pPr algn="ctr"/>
                <a:r>
                  <a:rPr lang="en-CA" sz="1600" b="1" dirty="0">
                    <a:latin typeface="Arial" panose="020B0604020202020204" pitchFamily="34" charset="0"/>
                    <a:cs typeface="Arial" panose="020B0604020202020204" pitchFamily="34" charset="0"/>
                  </a:rPr>
                  <a:t>- Gaussian fits to find FWHM (</a:t>
                </a:r>
                <a:r>
                  <a:rPr lang="el-GR" sz="1600" b="1" dirty="0">
                    <a:latin typeface="Arial" panose="020B0604020202020204" pitchFamily="34" charset="0"/>
                    <a:cs typeface="Arial" panose="020B0604020202020204" pitchFamily="34" charset="0"/>
                  </a:rPr>
                  <a:t>σ</a:t>
                </a:r>
                <a:r>
                  <a:rPr lang="en-CA" sz="1600" b="1" dirty="0">
                    <a:latin typeface="Arial" panose="020B0604020202020204" pitchFamily="34" charset="0"/>
                    <a:cs typeface="Arial" panose="020B0604020202020204" pitchFamily="34" charset="0"/>
                  </a:rPr>
                  <a:t>)</a:t>
                </a:r>
                <a:endParaRPr lang="en-CA" sz="1600" b="1" dirty="0"/>
              </a:p>
              <a:p>
                <a:pPr algn="ctr"/>
                <a:endParaRPr lang="en-CA" sz="1600" b="1" dirty="0">
                  <a:latin typeface="Arial" panose="020B0604020202020204" pitchFamily="34" charset="0"/>
                  <a:cs typeface="Arial" panose="020B0604020202020204" pitchFamily="34" charset="0"/>
                </a:endParaRPr>
              </a:p>
              <a:p>
                <a:pPr algn="ctr"/>
                <a:r>
                  <a:rPr lang="en-CA" sz="1600" b="1" dirty="0">
                    <a:latin typeface="Arial" panose="020B0604020202020204" pitchFamily="34" charset="0"/>
                    <a:cs typeface="Arial" panose="020B0604020202020204" pitchFamily="34" charset="0"/>
                  </a:rPr>
                  <a:t>Intensity Stabilization Parameter (</a:t>
                </a:r>
                <a:r>
                  <a:rPr lang="el-GR" sz="1600" b="1" dirty="0">
                    <a:latin typeface="Arial" panose="020B0604020202020204" pitchFamily="34" charset="0"/>
                    <a:cs typeface="Arial" panose="020B0604020202020204" pitchFamily="34" charset="0"/>
                  </a:rPr>
                  <a:t>δ</a:t>
                </a:r>
                <a:r>
                  <a:rPr lang="en-CA" sz="1600" b="1" dirty="0">
                    <a:latin typeface="Arial" panose="020B0604020202020204" pitchFamily="34" charset="0"/>
                    <a:cs typeface="Arial" panose="020B0604020202020204" pitchFamily="34" charset="0"/>
                  </a:rPr>
                  <a:t>)</a:t>
                </a:r>
              </a:p>
              <a:p>
                <a:pPr algn="ctr"/>
                <a:endParaRPr lang="en-CA" sz="1600" b="1" dirty="0">
                  <a:latin typeface="Arial" panose="020B0604020202020204" pitchFamily="34" charset="0"/>
                  <a:cs typeface="Arial" panose="020B0604020202020204" pitchFamily="34" charset="0"/>
                </a:endParaRPr>
              </a:p>
              <a:p>
                <a:pPr algn="ctr"/>
                <a14:m>
                  <m:oMath xmlns:m="http://schemas.openxmlformats.org/officeDocument/2006/math">
                    <m:r>
                      <m:rPr>
                        <m:nor/>
                      </m:rPr>
                      <a:rPr lang="el-GR" sz="1600" b="1" dirty="0" smtClean="0">
                        <a:latin typeface="Arial" panose="020B0604020202020204" pitchFamily="34" charset="0"/>
                        <a:cs typeface="Arial" panose="020B0604020202020204" pitchFamily="34" charset="0"/>
                      </a:rPr>
                      <m:t>δ</m:t>
                    </m:r>
                    <m:r>
                      <a:rPr lang="en-US" sz="1600" b="1" i="1" smtClean="0">
                        <a:latin typeface="Cambria Math" panose="02040503050406030204" pitchFamily="18" charset="0"/>
                        <a:cs typeface="Arial" panose="020B0604020202020204" pitchFamily="34" charset="0"/>
                      </a:rPr>
                      <m:t>=</m:t>
                    </m:r>
                    <m:f>
                      <m:fPr>
                        <m:ctrlPr>
                          <a:rPr lang="en-US" sz="1600" b="1" i="1" smtClean="0">
                            <a:latin typeface="Cambria Math" panose="02040503050406030204" pitchFamily="18" charset="0"/>
                            <a:cs typeface="Arial" panose="020B0604020202020204" pitchFamily="34" charset="0"/>
                          </a:rPr>
                        </m:ctrlPr>
                      </m:fPr>
                      <m:num>
                        <m:r>
                          <m:rPr>
                            <m:nor/>
                          </m:rPr>
                          <a:rPr lang="el-GR" sz="1600" b="1" dirty="0" smtClean="0">
                            <a:latin typeface="Arial" panose="020B0604020202020204" pitchFamily="34" charset="0"/>
                            <a:cs typeface="Arial" panose="020B0604020202020204" pitchFamily="34" charset="0"/>
                          </a:rPr>
                          <m:t>σ</m:t>
                        </m:r>
                        <m:r>
                          <m:rPr>
                            <m:nor/>
                          </m:rPr>
                          <a:rPr lang="en-CA" sz="1600" b="0" i="0" baseline="-25000" dirty="0" smtClean="0">
                            <a:solidFill>
                              <a:srgbClr val="000000"/>
                            </a:solidFill>
                            <a:effectLst/>
                            <a:latin typeface="Times New Roman" panose="02020603050405020304" pitchFamily="18" charset="0"/>
                          </a:rPr>
                          <m:t>2</m:t>
                        </m:r>
                      </m:num>
                      <m:den>
                        <m:r>
                          <m:rPr>
                            <m:nor/>
                          </m:rPr>
                          <a:rPr lang="el-GR" sz="1600" b="1" dirty="0" smtClean="0">
                            <a:latin typeface="Arial" panose="020B0604020202020204" pitchFamily="34" charset="0"/>
                            <a:cs typeface="Arial" panose="020B0604020202020204" pitchFamily="34" charset="0"/>
                          </a:rPr>
                          <m:t>σ</m:t>
                        </m:r>
                        <m:r>
                          <m:rPr>
                            <m:nor/>
                          </m:rPr>
                          <a:rPr lang="en-CA" sz="1600" b="0" i="0" baseline="-25000" dirty="0" smtClean="0">
                            <a:solidFill>
                              <a:srgbClr val="000000"/>
                            </a:solidFill>
                            <a:effectLst/>
                            <a:latin typeface="Times New Roman" panose="02020603050405020304" pitchFamily="18" charset="0"/>
                          </a:rPr>
                          <m:t>1</m:t>
                        </m:r>
                      </m:den>
                    </m:f>
                    <m:r>
                      <a:rPr lang="en-CA" sz="1600" b="1" i="1" smtClean="0">
                        <a:latin typeface="Cambria Math" panose="02040503050406030204" pitchFamily="18" charset="0"/>
                        <a:cs typeface="Arial" panose="020B0604020202020204" pitchFamily="34" charset="0"/>
                      </a:rPr>
                      <m:t>=</m:t>
                    </m:r>
                  </m:oMath>
                </a14:m>
                <a:r>
                  <a:rPr lang="en-CA" sz="1600" b="1" dirty="0">
                    <a:latin typeface="Arial" panose="020B0604020202020204" pitchFamily="34" charset="0"/>
                    <a:cs typeface="Arial" panose="020B0604020202020204" pitchFamily="34" charset="0"/>
                  </a:rPr>
                  <a:t> 3.9</a:t>
                </a:r>
              </a:p>
              <a:p>
                <a:pPr algn="l"/>
                <a:endParaRPr lang="en-CA" sz="1600" b="1" dirty="0">
                  <a:latin typeface="Arial" panose="020B0604020202020204" pitchFamily="34" charset="0"/>
                  <a:cs typeface="Arial" panose="020B0604020202020204" pitchFamily="34" charset="0"/>
                </a:endParaRPr>
              </a:p>
              <a:p>
                <a:pPr algn="l"/>
                <a:r>
                  <a:rPr lang="en-CA" sz="1200" b="1" dirty="0">
                    <a:latin typeface="Arial" panose="020B0604020202020204" pitchFamily="34" charset="0"/>
                    <a:cs typeface="Arial" panose="020B0604020202020204" pitchFamily="34" charset="0"/>
                  </a:rPr>
                  <a:t>FWHM Stabilized (</a:t>
                </a:r>
                <a14:m>
                  <m:oMath xmlns:m="http://schemas.openxmlformats.org/officeDocument/2006/math">
                    <m:sSub>
                      <m:sSubPr>
                        <m:ctrlPr>
                          <a:rPr lang="en-CA" sz="1200" i="1" smtClean="0">
                            <a:highlight>
                              <a:srgbClr val="FFFFFF"/>
                            </a:highlight>
                            <a:latin typeface="Cambria Math" panose="02040503050406030204" pitchFamily="18" charset="0"/>
                          </a:rPr>
                        </m:ctrlPr>
                      </m:sSubPr>
                      <m:e>
                        <m:r>
                          <m:rPr>
                            <m:sty m:val="p"/>
                          </m:rPr>
                          <a:rPr lang="el-GR" sz="1200" i="1" smtClean="0">
                            <a:highlight>
                              <a:srgbClr val="FFFFFF"/>
                            </a:highlight>
                            <a:latin typeface="Cambria Math" panose="02040503050406030204" pitchFamily="18" charset="0"/>
                          </a:rPr>
                          <m:t>σ</m:t>
                        </m:r>
                      </m:e>
                      <m:sub>
                        <m:r>
                          <a:rPr lang="en-CA" sz="1200" b="0" i="1" smtClean="0">
                            <a:highlight>
                              <a:srgbClr val="FFFFFF"/>
                            </a:highlight>
                            <a:latin typeface="Cambria Math" panose="02040503050406030204" pitchFamily="18" charset="0"/>
                          </a:rPr>
                          <m:t>1</m:t>
                        </m:r>
                      </m:sub>
                    </m:sSub>
                  </m:oMath>
                </a14:m>
                <a:r>
                  <a:rPr lang="en-CA" sz="1200" b="1" dirty="0">
                    <a:latin typeface="Arial" panose="020B0604020202020204" pitchFamily="34" charset="0"/>
                    <a:cs typeface="Arial" panose="020B0604020202020204" pitchFamily="34" charset="0"/>
                  </a:rPr>
                  <a:t>) = 8.7 </a:t>
                </a:r>
                <a:r>
                  <a:rPr lang="el-GR" sz="1200" b="1" dirty="0">
                    <a:latin typeface="Arial" panose="020B0604020202020204" pitchFamily="34" charset="0"/>
                    <a:cs typeface="Arial" panose="020B0604020202020204" pitchFamily="34" charset="0"/>
                  </a:rPr>
                  <a:t>μ</a:t>
                </a:r>
                <a:r>
                  <a:rPr lang="en-CA" sz="1200" b="1" dirty="0">
                    <a:latin typeface="Arial" panose="020B0604020202020204" pitchFamily="34" charset="0"/>
                    <a:cs typeface="Arial" panose="020B0604020202020204" pitchFamily="34" charset="0"/>
                  </a:rPr>
                  <a:t>W</a:t>
                </a:r>
              </a:p>
              <a:p>
                <a:pPr algn="l"/>
                <a:r>
                  <a:rPr lang="en-CA" sz="1200" b="1" dirty="0">
                    <a:latin typeface="Arial" panose="020B0604020202020204" pitchFamily="34" charset="0"/>
                    <a:cs typeface="Arial" panose="020B0604020202020204" pitchFamily="34" charset="0"/>
                  </a:rPr>
                  <a:t>FWHM </a:t>
                </a:r>
                <a:r>
                  <a:rPr lang="en-CA" sz="1200" b="1" dirty="0" err="1">
                    <a:latin typeface="Arial" panose="020B0604020202020204" pitchFamily="34" charset="0"/>
                    <a:cs typeface="Arial" panose="020B0604020202020204" pitchFamily="34" charset="0"/>
                  </a:rPr>
                  <a:t>Unstabilized</a:t>
                </a:r>
                <a:r>
                  <a:rPr lang="en-CA" sz="1200" b="1" dirty="0">
                    <a:latin typeface="Arial" panose="020B0604020202020204" pitchFamily="34" charset="0"/>
                    <a:cs typeface="Arial" panose="020B0604020202020204" pitchFamily="34" charset="0"/>
                  </a:rPr>
                  <a:t> (</a:t>
                </a:r>
                <a14:m>
                  <m:oMath xmlns:m="http://schemas.openxmlformats.org/officeDocument/2006/math">
                    <m:r>
                      <m:rPr>
                        <m:nor/>
                      </m:rPr>
                      <a:rPr lang="el-GR" sz="1200" dirty="0" smtClean="0">
                        <a:latin typeface="Arial" panose="020B0604020202020204" pitchFamily="34" charset="0"/>
                        <a:cs typeface="Arial" panose="020B0604020202020204" pitchFamily="34" charset="0"/>
                      </a:rPr>
                      <m:t>σ</m:t>
                    </m:r>
                    <m:r>
                      <m:rPr>
                        <m:nor/>
                      </m:rPr>
                      <a:rPr lang="en-CA" sz="1200" b="0" i="0" baseline="-25000" dirty="0" smtClean="0">
                        <a:solidFill>
                          <a:srgbClr val="000000"/>
                        </a:solidFill>
                        <a:effectLst/>
                        <a:latin typeface="Times New Roman" panose="02020603050405020304" pitchFamily="18" charset="0"/>
                      </a:rPr>
                      <m:t>2</m:t>
                    </m:r>
                  </m:oMath>
                </a14:m>
                <a:r>
                  <a:rPr lang="en-CA" sz="1200" b="1" dirty="0">
                    <a:latin typeface="Arial" panose="020B0604020202020204" pitchFamily="34" charset="0"/>
                    <a:cs typeface="Arial" panose="020B0604020202020204" pitchFamily="34" charset="0"/>
                  </a:rPr>
                  <a:t>) = 34 </a:t>
                </a:r>
                <a:r>
                  <a:rPr lang="el-GR" sz="1200" b="1" dirty="0">
                    <a:latin typeface="Arial" panose="020B0604020202020204" pitchFamily="34" charset="0"/>
                    <a:cs typeface="Arial" panose="020B0604020202020204" pitchFamily="34" charset="0"/>
                  </a:rPr>
                  <a:t>μ</a:t>
                </a:r>
                <a:r>
                  <a:rPr lang="en-CA" sz="1200" b="1" dirty="0">
                    <a:latin typeface="Arial" panose="020B0604020202020204" pitchFamily="34" charset="0"/>
                    <a:cs typeface="Arial" panose="020B0604020202020204" pitchFamily="34" charset="0"/>
                  </a:rPr>
                  <a:t>W</a:t>
                </a:r>
                <a:endParaRPr lang="en-CA" sz="1200" b="1" dirty="0"/>
              </a:p>
            </p:txBody>
          </p:sp>
        </mc:Choice>
        <mc:Fallback xmlns="">
          <p:sp>
            <p:nvSpPr>
              <p:cNvPr id="3" name="TextBox 2">
                <a:extLst>
                  <a:ext uri="{FF2B5EF4-FFF2-40B4-BE49-F238E27FC236}">
                    <a16:creationId xmlns:a16="http://schemas.microsoft.com/office/drawing/2014/main" id="{C2B193DE-A8DC-FA0A-BF03-A61E46130C84}"/>
                  </a:ext>
                </a:extLst>
              </p:cNvPr>
              <p:cNvSpPr txBox="1">
                <a:spLocks noRot="1" noChangeAspect="1" noMove="1" noResize="1" noEditPoints="1" noAdjustHandles="1" noChangeArrowheads="1" noChangeShapeType="1" noTextEdit="1"/>
              </p:cNvSpPr>
              <p:nvPr/>
            </p:nvSpPr>
            <p:spPr>
              <a:xfrm>
                <a:off x="5506448" y="2029874"/>
                <a:ext cx="3455421" cy="2303644"/>
              </a:xfrm>
              <a:prstGeom prst="rect">
                <a:avLst/>
              </a:prstGeom>
              <a:blipFill>
                <a:blip r:embed="rId4"/>
                <a:stretch>
                  <a:fillRect t="-794" r="-1058" b="-1058"/>
                </a:stretch>
              </a:blipFill>
            </p:spPr>
            <p:txBody>
              <a:bodyPr/>
              <a:lstStyle/>
              <a:p>
                <a:r>
                  <a:rPr lang="en-CA">
                    <a:noFill/>
                  </a:rPr>
                  <a:t> </a:t>
                </a:r>
              </a:p>
            </p:txBody>
          </p:sp>
        </mc:Fallback>
      </mc:AlternateContent>
      <p:pic>
        <p:nvPicPr>
          <p:cNvPr id="5" name="Picture 4" descr="A graph of a function&#10;&#10;Description automatically generated">
            <a:extLst>
              <a:ext uri="{FF2B5EF4-FFF2-40B4-BE49-F238E27FC236}">
                <a16:creationId xmlns:a16="http://schemas.microsoft.com/office/drawing/2014/main" id="{19028E8D-8F5A-5E77-FCB9-A5FBE61F5E1F}"/>
              </a:ext>
            </a:extLst>
          </p:cNvPr>
          <p:cNvPicPr>
            <a:picLocks noChangeAspect="1"/>
          </p:cNvPicPr>
          <p:nvPr/>
        </p:nvPicPr>
        <p:blipFill rotWithShape="1">
          <a:blip r:embed="rId5">
            <a:extLst>
              <a:ext uri="{28A0092B-C50C-407E-A947-70E740481C1C}">
                <a14:useLocalDpi xmlns:a14="http://schemas.microsoft.com/office/drawing/2010/main" val="0"/>
              </a:ext>
            </a:extLst>
          </a:blip>
          <a:srcRect l="1242" t="8723" r="9281" b="3012"/>
          <a:stretch/>
        </p:blipFill>
        <p:spPr>
          <a:xfrm>
            <a:off x="0" y="1433594"/>
            <a:ext cx="5505579" cy="4222576"/>
          </a:xfrm>
          <a:prstGeom prst="rect">
            <a:avLst/>
          </a:prstGeom>
        </p:spPr>
      </p:pic>
      <p:sp>
        <p:nvSpPr>
          <p:cNvPr id="6" name="Rectangle 5">
            <a:extLst>
              <a:ext uri="{FF2B5EF4-FFF2-40B4-BE49-F238E27FC236}">
                <a16:creationId xmlns:a16="http://schemas.microsoft.com/office/drawing/2014/main" id="{E7FEC714-1C9B-1483-DA23-E931F194A2F6}"/>
              </a:ext>
            </a:extLst>
          </p:cNvPr>
          <p:cNvSpPr/>
          <p:nvPr/>
        </p:nvSpPr>
        <p:spPr>
          <a:xfrm>
            <a:off x="2062716" y="1658726"/>
            <a:ext cx="45719" cy="2126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BA5288CB-15DF-9EF4-14AF-F2EBF4B3E6D0}"/>
              </a:ext>
            </a:extLst>
          </p:cNvPr>
          <p:cNvSpPr/>
          <p:nvPr/>
        </p:nvSpPr>
        <p:spPr>
          <a:xfrm rot="5400000">
            <a:off x="1371778" y="1492828"/>
            <a:ext cx="383932"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9E75CF3-2E8A-6CDA-F0F9-BAE7FB956125}"/>
                  </a:ext>
                </a:extLst>
              </p:cNvPr>
              <p:cNvSpPr txBox="1"/>
              <p:nvPr/>
            </p:nvSpPr>
            <p:spPr>
              <a:xfrm>
                <a:off x="1605348" y="1520226"/>
                <a:ext cx="29758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i="1" smtClean="0">
                              <a:highlight>
                                <a:srgbClr val="FFFFFF"/>
                              </a:highlight>
                              <a:latin typeface="Cambria Math" panose="02040503050406030204" pitchFamily="18" charset="0"/>
                            </a:rPr>
                          </m:ctrlPr>
                        </m:sSubPr>
                        <m:e>
                          <m:r>
                            <m:rPr>
                              <m:sty m:val="p"/>
                            </m:rPr>
                            <a:rPr lang="el-GR" i="1" smtClean="0">
                              <a:highlight>
                                <a:srgbClr val="FFFFFF"/>
                              </a:highlight>
                              <a:latin typeface="Cambria Math" panose="02040503050406030204" pitchFamily="18" charset="0"/>
                            </a:rPr>
                            <m:t>σ</m:t>
                          </m:r>
                        </m:e>
                        <m:sub>
                          <m:r>
                            <a:rPr lang="en-CA" b="0" i="1" smtClean="0">
                              <a:highlight>
                                <a:srgbClr val="FFFFFF"/>
                              </a:highlight>
                              <a:latin typeface="Cambria Math" panose="02040503050406030204" pitchFamily="18" charset="0"/>
                            </a:rPr>
                            <m:t>1</m:t>
                          </m:r>
                        </m:sub>
                      </m:sSub>
                    </m:oMath>
                  </m:oMathPara>
                </a14:m>
                <a:endParaRPr lang="en-CA" dirty="0">
                  <a:highlight>
                    <a:srgbClr val="FFFFFF"/>
                  </a:highlight>
                </a:endParaRPr>
              </a:p>
            </p:txBody>
          </p:sp>
        </mc:Choice>
        <mc:Fallback xmlns="">
          <p:sp>
            <p:nvSpPr>
              <p:cNvPr id="8" name="TextBox 7">
                <a:extLst>
                  <a:ext uri="{FF2B5EF4-FFF2-40B4-BE49-F238E27FC236}">
                    <a16:creationId xmlns:a16="http://schemas.microsoft.com/office/drawing/2014/main" id="{A9E75CF3-2E8A-6CDA-F0F9-BAE7FB956125}"/>
                  </a:ext>
                </a:extLst>
              </p:cNvPr>
              <p:cNvSpPr txBox="1">
                <a:spLocks noRot="1" noChangeAspect="1" noMove="1" noResize="1" noEditPoints="1" noAdjustHandles="1" noChangeArrowheads="1" noChangeShapeType="1" noTextEdit="1"/>
              </p:cNvSpPr>
              <p:nvPr/>
            </p:nvSpPr>
            <p:spPr>
              <a:xfrm>
                <a:off x="1605348" y="1520226"/>
                <a:ext cx="297581" cy="276999"/>
              </a:xfrm>
              <a:prstGeom prst="rect">
                <a:avLst/>
              </a:prstGeom>
              <a:blipFill>
                <a:blip r:embed="rId6"/>
                <a:stretch>
                  <a:fillRect l="-10204" r="-6122" b="-17391"/>
                </a:stretch>
              </a:blipFill>
            </p:spPr>
            <p:txBody>
              <a:bodyPr/>
              <a:lstStyle/>
              <a:p>
                <a:r>
                  <a:rPr lang="en-CA">
                    <a:noFill/>
                  </a:rPr>
                  <a:t> </a:t>
                </a:r>
              </a:p>
            </p:txBody>
          </p:sp>
        </mc:Fallback>
      </mc:AlternateContent>
      <p:sp>
        <p:nvSpPr>
          <p:cNvPr id="10" name="Rectangle 9">
            <a:extLst>
              <a:ext uri="{FF2B5EF4-FFF2-40B4-BE49-F238E27FC236}">
                <a16:creationId xmlns:a16="http://schemas.microsoft.com/office/drawing/2014/main" id="{D6C74610-DBA5-5BBF-256F-911AC2579800}"/>
              </a:ext>
            </a:extLst>
          </p:cNvPr>
          <p:cNvSpPr/>
          <p:nvPr/>
        </p:nvSpPr>
        <p:spPr>
          <a:xfrm rot="5400000">
            <a:off x="1354985" y="2163075"/>
            <a:ext cx="383932" cy="60879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DFC335D-385D-432F-ADE4-D8DBE1751A91}"/>
                  </a:ext>
                </a:extLst>
              </p:cNvPr>
              <p:cNvSpPr txBox="1"/>
              <p:nvPr/>
            </p:nvSpPr>
            <p:spPr>
              <a:xfrm>
                <a:off x="1588555" y="2190473"/>
                <a:ext cx="30290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i="1" smtClean="0">
                              <a:highlight>
                                <a:srgbClr val="FFFFFF"/>
                              </a:highlight>
                              <a:latin typeface="Cambria Math" panose="02040503050406030204" pitchFamily="18" charset="0"/>
                            </a:rPr>
                          </m:ctrlPr>
                        </m:sSubPr>
                        <m:e>
                          <m:r>
                            <m:rPr>
                              <m:sty m:val="p"/>
                            </m:rPr>
                            <a:rPr lang="el-GR" i="1" smtClean="0">
                              <a:highlight>
                                <a:srgbClr val="FFFFFF"/>
                              </a:highlight>
                              <a:latin typeface="Cambria Math" panose="02040503050406030204" pitchFamily="18" charset="0"/>
                            </a:rPr>
                            <m:t>σ</m:t>
                          </m:r>
                        </m:e>
                        <m:sub>
                          <m:r>
                            <a:rPr lang="en-CA" b="0" i="1" smtClean="0">
                              <a:highlight>
                                <a:srgbClr val="FFFFFF"/>
                              </a:highlight>
                              <a:latin typeface="Cambria Math" panose="02040503050406030204" pitchFamily="18" charset="0"/>
                            </a:rPr>
                            <m:t>2</m:t>
                          </m:r>
                        </m:sub>
                      </m:sSub>
                    </m:oMath>
                  </m:oMathPara>
                </a14:m>
                <a:endParaRPr lang="en-CA" dirty="0">
                  <a:highlight>
                    <a:srgbClr val="FFFFFF"/>
                  </a:highlight>
                </a:endParaRPr>
              </a:p>
            </p:txBody>
          </p:sp>
        </mc:Choice>
        <mc:Fallback xmlns="">
          <p:sp>
            <p:nvSpPr>
              <p:cNvPr id="11" name="TextBox 10">
                <a:extLst>
                  <a:ext uri="{FF2B5EF4-FFF2-40B4-BE49-F238E27FC236}">
                    <a16:creationId xmlns:a16="http://schemas.microsoft.com/office/drawing/2014/main" id="{8DFC335D-385D-432F-ADE4-D8DBE1751A91}"/>
                  </a:ext>
                </a:extLst>
              </p:cNvPr>
              <p:cNvSpPr txBox="1">
                <a:spLocks noRot="1" noChangeAspect="1" noMove="1" noResize="1" noEditPoints="1" noAdjustHandles="1" noChangeArrowheads="1" noChangeShapeType="1" noTextEdit="1"/>
              </p:cNvSpPr>
              <p:nvPr/>
            </p:nvSpPr>
            <p:spPr>
              <a:xfrm>
                <a:off x="1588555" y="2190473"/>
                <a:ext cx="302903" cy="276999"/>
              </a:xfrm>
              <a:prstGeom prst="rect">
                <a:avLst/>
              </a:prstGeom>
              <a:blipFill>
                <a:blip r:embed="rId7"/>
                <a:stretch>
                  <a:fillRect l="-10204" r="-6122" b="-17391"/>
                </a:stretch>
              </a:blipFill>
            </p:spPr>
            <p:txBody>
              <a:bodyPr/>
              <a:lstStyle/>
              <a:p>
                <a:r>
                  <a:rPr lang="en-CA">
                    <a:noFill/>
                  </a:rPr>
                  <a:t> </a:t>
                </a:r>
              </a:p>
            </p:txBody>
          </p:sp>
        </mc:Fallback>
      </mc:AlternateContent>
      <p:cxnSp>
        <p:nvCxnSpPr>
          <p:cNvPr id="13" name="Connector: Elbow 12">
            <a:extLst>
              <a:ext uri="{FF2B5EF4-FFF2-40B4-BE49-F238E27FC236}">
                <a16:creationId xmlns:a16="http://schemas.microsoft.com/office/drawing/2014/main" id="{483307E7-76CC-A94B-978C-3088094EB2AB}"/>
              </a:ext>
            </a:extLst>
          </p:cNvPr>
          <p:cNvCxnSpPr>
            <a:cxnSpLocks/>
          </p:cNvCxnSpPr>
          <p:nvPr/>
        </p:nvCxnSpPr>
        <p:spPr>
          <a:xfrm>
            <a:off x="1902929" y="2617652"/>
            <a:ext cx="638702" cy="47328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FBC61315-A08C-99F0-696A-74301BA138CE}"/>
              </a:ext>
            </a:extLst>
          </p:cNvPr>
          <p:cNvCxnSpPr>
            <a:cxnSpLocks/>
          </p:cNvCxnSpPr>
          <p:nvPr/>
        </p:nvCxnSpPr>
        <p:spPr>
          <a:xfrm rot="16200000" flipH="1">
            <a:off x="2641911" y="1838783"/>
            <a:ext cx="478278" cy="395165"/>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E49365D-A1BF-B099-3737-632EF3C59B04}"/>
              </a:ext>
            </a:extLst>
          </p:cNvPr>
          <p:cNvCxnSpPr/>
          <p:nvPr/>
        </p:nvCxnSpPr>
        <p:spPr>
          <a:xfrm flipV="1">
            <a:off x="1902929" y="2467472"/>
            <a:ext cx="0" cy="150180"/>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08C8598C-7FDC-59EE-5DC9-52B739F7B14C}"/>
              </a:ext>
            </a:extLst>
          </p:cNvPr>
          <p:cNvSpPr/>
          <p:nvPr/>
        </p:nvSpPr>
        <p:spPr>
          <a:xfrm rot="5400000">
            <a:off x="2545910" y="2243005"/>
            <a:ext cx="191966" cy="34394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13">
            <a:extLst>
              <a:ext uri="{FF2B5EF4-FFF2-40B4-BE49-F238E27FC236}">
                <a16:creationId xmlns:a16="http://schemas.microsoft.com/office/drawing/2014/main" id="{BF377F41-3690-620F-4CF3-C33F4C705100}"/>
              </a:ext>
            </a:extLst>
          </p:cNvPr>
          <p:cNvSpPr/>
          <p:nvPr/>
        </p:nvSpPr>
        <p:spPr>
          <a:xfrm>
            <a:off x="2302673" y="2244980"/>
            <a:ext cx="638233" cy="2975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1100" dirty="0">
                <a:solidFill>
                  <a:schemeClr val="tx1"/>
                </a:solidFill>
                <a:latin typeface="Arial" panose="020B0604020202020204" pitchFamily="34" charset="0"/>
                <a:cs typeface="Arial" panose="020B0604020202020204" pitchFamily="34" charset="0"/>
              </a:rPr>
              <a:t>μ</a:t>
            </a:r>
            <a:r>
              <a:rPr lang="en-CA" sz="1100" dirty="0">
                <a:solidFill>
                  <a:schemeClr val="tx1"/>
                </a:solidFill>
                <a:latin typeface="Arial" panose="020B0604020202020204" pitchFamily="34" charset="0"/>
                <a:cs typeface="Arial" panose="020B0604020202020204" pitchFamily="34" charset="0"/>
              </a:rPr>
              <a:t>W</a:t>
            </a:r>
            <a:endParaRPr lang="en-CA" sz="1100" dirty="0">
              <a:solidFill>
                <a:schemeClr val="tx1"/>
              </a:solidFill>
            </a:endParaRPr>
          </a:p>
        </p:txBody>
      </p:sp>
      <p:sp>
        <p:nvSpPr>
          <p:cNvPr id="16" name="Rectangle 15">
            <a:extLst>
              <a:ext uri="{FF2B5EF4-FFF2-40B4-BE49-F238E27FC236}">
                <a16:creationId xmlns:a16="http://schemas.microsoft.com/office/drawing/2014/main" id="{2A16C71D-952A-1B60-9514-EBBEC5E416B6}"/>
              </a:ext>
            </a:extLst>
          </p:cNvPr>
          <p:cNvSpPr/>
          <p:nvPr/>
        </p:nvSpPr>
        <p:spPr>
          <a:xfrm rot="5400000">
            <a:off x="2692685" y="1541258"/>
            <a:ext cx="191966" cy="34394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22">
            <a:extLst>
              <a:ext uri="{FF2B5EF4-FFF2-40B4-BE49-F238E27FC236}">
                <a16:creationId xmlns:a16="http://schemas.microsoft.com/office/drawing/2014/main" id="{60E86A3D-6366-7F6A-C53B-4F363900B771}"/>
              </a:ext>
            </a:extLst>
          </p:cNvPr>
          <p:cNvSpPr/>
          <p:nvPr/>
        </p:nvSpPr>
        <p:spPr>
          <a:xfrm>
            <a:off x="2433672" y="1543103"/>
            <a:ext cx="638233" cy="2975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1100" dirty="0">
                <a:solidFill>
                  <a:schemeClr val="tx1"/>
                </a:solidFill>
                <a:latin typeface="Arial" panose="020B0604020202020204" pitchFamily="34" charset="0"/>
                <a:cs typeface="Arial" panose="020B0604020202020204" pitchFamily="34" charset="0"/>
              </a:rPr>
              <a:t>μ</a:t>
            </a:r>
            <a:r>
              <a:rPr lang="en-CA" sz="1100" dirty="0">
                <a:solidFill>
                  <a:schemeClr val="tx1"/>
                </a:solidFill>
                <a:latin typeface="Arial" panose="020B0604020202020204" pitchFamily="34" charset="0"/>
                <a:cs typeface="Arial" panose="020B0604020202020204" pitchFamily="34" charset="0"/>
              </a:rPr>
              <a:t>W</a:t>
            </a:r>
            <a:endParaRPr lang="en-CA" sz="1100" dirty="0">
              <a:solidFill>
                <a:schemeClr val="tx1"/>
              </a:solidFill>
            </a:endParaRPr>
          </a:p>
        </p:txBody>
      </p:sp>
    </p:spTree>
    <p:extLst>
      <p:ext uri="{BB962C8B-B14F-4D97-AF65-F5344CB8AC3E}">
        <p14:creationId xmlns:p14="http://schemas.microsoft.com/office/powerpoint/2010/main" val="3957774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a signal&#10;&#10;Description automatically generated">
            <a:extLst>
              <a:ext uri="{FF2B5EF4-FFF2-40B4-BE49-F238E27FC236}">
                <a16:creationId xmlns:a16="http://schemas.microsoft.com/office/drawing/2014/main" id="{247E8B33-A982-4980-0C2B-92912F6E1C23}"/>
              </a:ext>
            </a:extLst>
          </p:cNvPr>
          <p:cNvPicPr>
            <a:picLocks noChangeAspect="1"/>
          </p:cNvPicPr>
          <p:nvPr/>
        </p:nvPicPr>
        <p:blipFill rotWithShape="1">
          <a:blip r:embed="rId2">
            <a:extLst>
              <a:ext uri="{28A0092B-C50C-407E-A947-70E740481C1C}">
                <a14:useLocalDpi xmlns:a14="http://schemas.microsoft.com/office/drawing/2010/main" val="0"/>
              </a:ext>
            </a:extLst>
          </a:blip>
          <a:srcRect l="2405" t="7434" r="7269" b="1141"/>
          <a:stretch/>
        </p:blipFill>
        <p:spPr>
          <a:xfrm>
            <a:off x="111643" y="1513492"/>
            <a:ext cx="5364126" cy="4158857"/>
          </a:xfrm>
          <a:prstGeom prst="rect">
            <a:avLst/>
          </a:prstGeom>
        </p:spPr>
      </p:pic>
      <p:sp>
        <p:nvSpPr>
          <p:cNvPr id="2" name="Title 1">
            <a:extLst>
              <a:ext uri="{FF2B5EF4-FFF2-40B4-BE49-F238E27FC236}">
                <a16:creationId xmlns:a16="http://schemas.microsoft.com/office/drawing/2014/main" id="{B412D615-6805-FB66-018E-F60B15D8AB52}"/>
              </a:ext>
            </a:extLst>
          </p:cNvPr>
          <p:cNvSpPr>
            <a:spLocks noGrp="1"/>
          </p:cNvSpPr>
          <p:nvPr>
            <p:ph type="title"/>
          </p:nvPr>
        </p:nvSpPr>
        <p:spPr>
          <a:xfrm>
            <a:off x="274213" y="224108"/>
            <a:ext cx="7098030" cy="553998"/>
          </a:xfrm>
        </p:spPr>
        <p:txBody>
          <a:bodyPr/>
          <a:lstStyle/>
          <a:p>
            <a:r>
              <a:rPr lang="en-CA" dirty="0"/>
              <a:t>Power Spectrum FFT</a:t>
            </a:r>
          </a:p>
        </p:txBody>
      </p:sp>
      <p:pic>
        <p:nvPicPr>
          <p:cNvPr id="7" name="object 8">
            <a:extLst>
              <a:ext uri="{FF2B5EF4-FFF2-40B4-BE49-F238E27FC236}">
                <a16:creationId xmlns:a16="http://schemas.microsoft.com/office/drawing/2014/main" id="{837471ED-D5AD-03C7-01E1-1BB94CC9005F}"/>
              </a:ext>
            </a:extLst>
          </p:cNvPr>
          <p:cNvPicPr/>
          <p:nvPr/>
        </p:nvPicPr>
        <p:blipFill>
          <a:blip r:embed="rId3" cstate="print"/>
          <a:stretch>
            <a:fillRect/>
          </a:stretch>
        </p:blipFill>
        <p:spPr>
          <a:xfrm>
            <a:off x="7960646" y="0"/>
            <a:ext cx="909141" cy="1246838"/>
          </a:xfrm>
          <a:prstGeom prst="rect">
            <a:avLst/>
          </a:prstGeom>
        </p:spPr>
      </p:pic>
      <p:sp>
        <p:nvSpPr>
          <p:cNvPr id="8" name="Content Placeholder 7">
            <a:extLst>
              <a:ext uri="{FF2B5EF4-FFF2-40B4-BE49-F238E27FC236}">
                <a16:creationId xmlns:a16="http://schemas.microsoft.com/office/drawing/2014/main" id="{B830C2F0-C024-C6C4-BBD4-1C344C46B548}"/>
              </a:ext>
            </a:extLst>
          </p:cNvPr>
          <p:cNvSpPr txBox="1">
            <a:spLocks noGrp="1"/>
          </p:cNvSpPr>
          <p:nvPr>
            <p:ph sz="half" idx="3"/>
          </p:nvPr>
        </p:nvSpPr>
        <p:spPr>
          <a:xfrm>
            <a:off x="5573740" y="1869371"/>
            <a:ext cx="3186755" cy="3447098"/>
          </a:xfrm>
          <a:prstGeom prst="rect">
            <a:avLst/>
          </a:prstGeom>
          <a:noFill/>
        </p:spPr>
        <p:txBody>
          <a:bodyPr wrap="square" rtlCol="0">
            <a:spAutoFit/>
          </a:bodyPr>
          <a:lstStyle/>
          <a:p>
            <a:pPr algn="ctr"/>
            <a:r>
              <a:rPr lang="en-CA" sz="1600" b="1" dirty="0">
                <a:latin typeface="Arial" panose="020B0604020202020204" pitchFamily="34" charset="0"/>
                <a:cs typeface="Arial" panose="020B0604020202020204" pitchFamily="34" charset="0"/>
              </a:rPr>
              <a:t>- Fourier transform of the </a:t>
            </a:r>
            <a:r>
              <a:rPr lang="en-CA" sz="1600" b="1" u="sng" dirty="0">
                <a:latin typeface="Arial" panose="020B0604020202020204" pitchFamily="34" charset="0"/>
                <a:cs typeface="Arial" panose="020B0604020202020204" pitchFamily="34" charset="0"/>
              </a:rPr>
              <a:t>unlocked</a:t>
            </a:r>
            <a:r>
              <a:rPr lang="en-CA" sz="1600" b="1" dirty="0">
                <a:latin typeface="Arial" panose="020B0604020202020204" pitchFamily="34" charset="0"/>
                <a:cs typeface="Arial" panose="020B0604020202020204" pitchFamily="34" charset="0"/>
              </a:rPr>
              <a:t> signal shows low-frequency noise (acoustic noise)</a:t>
            </a:r>
          </a:p>
          <a:p>
            <a:pPr algn="ctr"/>
            <a:endParaRPr lang="en-CA" sz="1600" b="1" dirty="0">
              <a:latin typeface="Arial" panose="020B0604020202020204" pitchFamily="34" charset="0"/>
              <a:cs typeface="Arial" panose="020B0604020202020204" pitchFamily="34" charset="0"/>
            </a:endParaRPr>
          </a:p>
          <a:p>
            <a:pPr algn="ctr"/>
            <a:endParaRPr lang="en-CA" sz="1600" b="1" dirty="0">
              <a:latin typeface="Arial" panose="020B0604020202020204" pitchFamily="34" charset="0"/>
              <a:cs typeface="Arial" panose="020B0604020202020204" pitchFamily="34" charset="0"/>
            </a:endParaRPr>
          </a:p>
          <a:p>
            <a:pPr marL="285750" indent="-285750" algn="ctr">
              <a:buFontTx/>
              <a:buChar char="-"/>
            </a:pPr>
            <a:r>
              <a:rPr lang="en-CA" sz="1600" b="1" dirty="0">
                <a:latin typeface="Arial" panose="020B0604020202020204" pitchFamily="34" charset="0"/>
                <a:cs typeface="Arial" panose="020B0604020202020204" pitchFamily="34" charset="0"/>
              </a:rPr>
              <a:t>Fourier transform of the  locked signal shows </a:t>
            </a:r>
            <a:r>
              <a:rPr lang="en-CA" sz="1600" b="1" u="sng" dirty="0">
                <a:latin typeface="Arial" panose="020B0604020202020204" pitchFamily="34" charset="0"/>
                <a:cs typeface="Arial" panose="020B0604020202020204" pitchFamily="34" charset="0"/>
              </a:rPr>
              <a:t>attenuation</a:t>
            </a:r>
            <a:r>
              <a:rPr lang="en-CA" sz="1600" b="1" dirty="0">
                <a:latin typeface="Arial" panose="020B0604020202020204" pitchFamily="34" charset="0"/>
                <a:cs typeface="Arial" panose="020B0604020202020204" pitchFamily="34" charset="0"/>
              </a:rPr>
              <a:t> of frequency components</a:t>
            </a:r>
          </a:p>
          <a:p>
            <a:pPr marL="285750" indent="-285750" algn="ctr">
              <a:buFontTx/>
              <a:buChar char="-"/>
            </a:pPr>
            <a:endParaRPr lang="en-CA" sz="1600" dirty="0">
              <a:latin typeface="Arial" panose="020B0604020202020204" pitchFamily="34" charset="0"/>
              <a:cs typeface="Arial" panose="020B0604020202020204" pitchFamily="34" charset="0"/>
            </a:endParaRPr>
          </a:p>
          <a:p>
            <a:pPr marL="285750" indent="-285750" algn="ctr">
              <a:buFontTx/>
              <a:buChar char="-"/>
            </a:pPr>
            <a:r>
              <a:rPr lang="en-CA" sz="1600" b="1" dirty="0">
                <a:latin typeface="Arial" panose="020B0604020202020204" pitchFamily="34" charset="0"/>
                <a:cs typeface="Arial" panose="020B0604020202020204" pitchFamily="34" charset="0"/>
              </a:rPr>
              <a:t>Feedback system works in the range of DC to few </a:t>
            </a:r>
            <a:r>
              <a:rPr lang="en-CA" sz="1600" b="1" dirty="0" err="1">
                <a:latin typeface="Arial" panose="020B0604020202020204" pitchFamily="34" charset="0"/>
                <a:cs typeface="Arial" panose="020B0604020202020204" pitchFamily="34" charset="0"/>
              </a:rPr>
              <a:t>KHz</a:t>
            </a:r>
            <a:endParaRPr lang="en-CA" sz="1600" b="1" dirty="0"/>
          </a:p>
          <a:p>
            <a:pPr algn="ctr"/>
            <a:endParaRPr lang="en-CA" sz="1600" b="1" dirty="0"/>
          </a:p>
          <a:p>
            <a:endParaRPr lang="en-CA" sz="1600" dirty="0"/>
          </a:p>
        </p:txBody>
      </p:sp>
    </p:spTree>
    <p:extLst>
      <p:ext uri="{BB962C8B-B14F-4D97-AF65-F5344CB8AC3E}">
        <p14:creationId xmlns:p14="http://schemas.microsoft.com/office/powerpoint/2010/main" val="264088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diagram of a process&#10;&#10;Description automatically generated">
            <a:extLst>
              <a:ext uri="{FF2B5EF4-FFF2-40B4-BE49-F238E27FC236}">
                <a16:creationId xmlns:a16="http://schemas.microsoft.com/office/drawing/2014/main" id="{8777D339-4852-D895-8600-926F90D2C462}"/>
              </a:ext>
            </a:extLst>
          </p:cNvPr>
          <p:cNvPicPr>
            <a:picLocks noChangeAspect="1"/>
          </p:cNvPicPr>
          <p:nvPr/>
        </p:nvPicPr>
        <p:blipFill rotWithShape="1">
          <a:blip r:embed="rId3">
            <a:extLst>
              <a:ext uri="{28A0092B-C50C-407E-A947-70E740481C1C}">
                <a14:useLocalDpi xmlns:a14="http://schemas.microsoft.com/office/drawing/2010/main" val="0"/>
              </a:ext>
            </a:extLst>
          </a:blip>
          <a:srcRect l="9050" t="30812" r="11703" b="58223"/>
          <a:stretch/>
        </p:blipFill>
        <p:spPr>
          <a:xfrm>
            <a:off x="107571" y="5541214"/>
            <a:ext cx="8782437" cy="698178"/>
          </a:xfrm>
          <a:prstGeom prst="rect">
            <a:avLst/>
          </a:prstGeom>
        </p:spPr>
      </p:pic>
      <p:sp>
        <p:nvSpPr>
          <p:cNvPr id="2" name="Title 1">
            <a:extLst>
              <a:ext uri="{FF2B5EF4-FFF2-40B4-BE49-F238E27FC236}">
                <a16:creationId xmlns:a16="http://schemas.microsoft.com/office/drawing/2014/main" id="{6B0C0B14-DA09-E5E3-FDD4-297DDC4CF958}"/>
              </a:ext>
            </a:extLst>
          </p:cNvPr>
          <p:cNvSpPr>
            <a:spLocks noGrp="1"/>
          </p:cNvSpPr>
          <p:nvPr>
            <p:ph type="title"/>
          </p:nvPr>
        </p:nvSpPr>
        <p:spPr>
          <a:xfrm>
            <a:off x="607044" y="339024"/>
            <a:ext cx="7128792" cy="556855"/>
          </a:xfrm>
        </p:spPr>
        <p:txBody>
          <a:bodyPr wrap="square">
            <a:normAutofit fontScale="90000"/>
          </a:bodyPr>
          <a:lstStyle/>
          <a:p>
            <a:pPr algn="ctr">
              <a:lnSpc>
                <a:spcPct val="90000"/>
              </a:lnSpc>
            </a:pPr>
            <a:r>
              <a:rPr lang="en-CA" sz="3300" dirty="0"/>
              <a:t>Sample and Hold (S&amp;H) Module</a:t>
            </a:r>
          </a:p>
        </p:txBody>
      </p:sp>
      <p:pic>
        <p:nvPicPr>
          <p:cNvPr id="7" name="object 8">
            <a:extLst>
              <a:ext uri="{FF2B5EF4-FFF2-40B4-BE49-F238E27FC236}">
                <a16:creationId xmlns:a16="http://schemas.microsoft.com/office/drawing/2014/main" id="{91C12FAC-BF1E-4341-A057-40A5BF45A46A}"/>
              </a:ext>
            </a:extLst>
          </p:cNvPr>
          <p:cNvPicPr/>
          <p:nvPr/>
        </p:nvPicPr>
        <p:blipFill>
          <a:blip r:embed="rId4" cstate="print"/>
          <a:stretch>
            <a:fillRect/>
          </a:stretch>
        </p:blipFill>
        <p:spPr>
          <a:xfrm>
            <a:off x="7960646" y="0"/>
            <a:ext cx="909141" cy="1246838"/>
          </a:xfrm>
          <a:prstGeom prst="rect">
            <a:avLst/>
          </a:prstGeom>
        </p:spPr>
      </p:pic>
      <p:sp>
        <p:nvSpPr>
          <p:cNvPr id="3" name="TextBox 2">
            <a:extLst>
              <a:ext uri="{FF2B5EF4-FFF2-40B4-BE49-F238E27FC236}">
                <a16:creationId xmlns:a16="http://schemas.microsoft.com/office/drawing/2014/main" id="{C098EC5D-3E3D-96E9-802E-88F1A820022D}"/>
              </a:ext>
            </a:extLst>
          </p:cNvPr>
          <p:cNvSpPr txBox="1"/>
          <p:nvPr/>
        </p:nvSpPr>
        <p:spPr>
          <a:xfrm>
            <a:off x="88686" y="1556163"/>
            <a:ext cx="3542966" cy="4278094"/>
          </a:xfrm>
          <a:prstGeom prst="rect">
            <a:avLst/>
          </a:prstGeom>
          <a:noFill/>
        </p:spPr>
        <p:txBody>
          <a:bodyPr wrap="square" rtlCol="0">
            <a:spAutoFit/>
          </a:bodyPr>
          <a:lstStyle/>
          <a:p>
            <a:pPr marL="285750" indent="-285750" algn="ctr">
              <a:buFont typeface="Arial" panose="020B0604020202020204" pitchFamily="34" charset="0"/>
              <a:buChar char="•"/>
            </a:pPr>
            <a:r>
              <a:rPr lang="en-CA" sz="1600" b="1" dirty="0"/>
              <a:t>S&amp;H module is developed to accommodate AOM pulsing applications</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r>
              <a:rPr lang="en-CA" sz="1600" b="1" dirty="0"/>
              <a:t>S&amp;H module can be switched on/off with TTL pulse to engage/disable feedback</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r>
              <a:rPr lang="en-CA" sz="1600" b="1" dirty="0"/>
              <a:t>Stabilizes laser intensity when TTL is HI</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r>
              <a:rPr lang="en-CA" sz="1600" b="1" dirty="0"/>
              <a:t>Holds PD signal when TTL is LO</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endParaRPr lang="en-CA" sz="1600" b="1" dirty="0"/>
          </a:p>
          <a:p>
            <a:pPr algn="ctr"/>
            <a:endParaRPr lang="en-CA" sz="1600" b="1" dirty="0"/>
          </a:p>
          <a:p>
            <a:pPr marL="285750" indent="-285750" algn="ctr">
              <a:buFont typeface="Arial" panose="020B0604020202020204" pitchFamily="34" charset="0"/>
              <a:buChar char="•"/>
            </a:pPr>
            <a:endParaRPr lang="en-CA" sz="1600" dirty="0"/>
          </a:p>
        </p:txBody>
      </p:sp>
      <p:pic>
        <p:nvPicPr>
          <p:cNvPr id="6" name="Picture 5" descr="A diagram of a circuit&#10;&#10;Description automatically generated">
            <a:extLst>
              <a:ext uri="{FF2B5EF4-FFF2-40B4-BE49-F238E27FC236}">
                <a16:creationId xmlns:a16="http://schemas.microsoft.com/office/drawing/2014/main" id="{3D6F0AE9-EE88-0CC8-A77F-0DB9FF8CE2D7}"/>
              </a:ext>
            </a:extLst>
          </p:cNvPr>
          <p:cNvPicPr>
            <a:picLocks noChangeAspect="1"/>
          </p:cNvPicPr>
          <p:nvPr/>
        </p:nvPicPr>
        <p:blipFill rotWithShape="1">
          <a:blip r:embed="rId5">
            <a:extLst>
              <a:ext uri="{28A0092B-C50C-407E-A947-70E740481C1C}">
                <a14:useLocalDpi xmlns:a14="http://schemas.microsoft.com/office/drawing/2010/main" val="0"/>
              </a:ext>
            </a:extLst>
          </a:blip>
          <a:srcRect l="3073" t="4769" r="4480" b="7826"/>
          <a:stretch/>
        </p:blipFill>
        <p:spPr>
          <a:xfrm>
            <a:off x="3803575" y="1396802"/>
            <a:ext cx="5066212" cy="3592405"/>
          </a:xfrm>
          <a:prstGeom prst="rect">
            <a:avLst/>
          </a:prstGeom>
        </p:spPr>
      </p:pic>
      <p:sp>
        <p:nvSpPr>
          <p:cNvPr id="14" name="Rectangle: Rounded Corners 13">
            <a:extLst>
              <a:ext uri="{FF2B5EF4-FFF2-40B4-BE49-F238E27FC236}">
                <a16:creationId xmlns:a16="http://schemas.microsoft.com/office/drawing/2014/main" id="{BC08B273-999B-8E16-2F35-2CF61BC6C052}"/>
              </a:ext>
            </a:extLst>
          </p:cNvPr>
          <p:cNvSpPr/>
          <p:nvPr/>
        </p:nvSpPr>
        <p:spPr>
          <a:xfrm>
            <a:off x="4355976" y="5427946"/>
            <a:ext cx="1661480" cy="924714"/>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Rounded Corners 14">
            <a:extLst>
              <a:ext uri="{FF2B5EF4-FFF2-40B4-BE49-F238E27FC236}">
                <a16:creationId xmlns:a16="http://schemas.microsoft.com/office/drawing/2014/main" id="{5AA32C5D-8C85-5A7A-8A47-4C904AE0E24C}"/>
              </a:ext>
            </a:extLst>
          </p:cNvPr>
          <p:cNvSpPr/>
          <p:nvPr/>
        </p:nvSpPr>
        <p:spPr>
          <a:xfrm>
            <a:off x="5652120" y="2686216"/>
            <a:ext cx="504056" cy="1174832"/>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648783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diagram of a laser beam&#10;&#10;Description automatically generated">
            <a:extLst>
              <a:ext uri="{FF2B5EF4-FFF2-40B4-BE49-F238E27FC236}">
                <a16:creationId xmlns:a16="http://schemas.microsoft.com/office/drawing/2014/main" id="{01F9D917-4C6F-B3A5-3B3A-1256374701D7}"/>
              </a:ext>
            </a:extLst>
          </p:cNvPr>
          <p:cNvPicPr>
            <a:picLocks noChangeAspect="1"/>
          </p:cNvPicPr>
          <p:nvPr/>
        </p:nvPicPr>
        <p:blipFill rotWithShape="1">
          <a:blip r:embed="rId3">
            <a:extLst>
              <a:ext uri="{28A0092B-C50C-407E-A947-70E740481C1C}">
                <a14:useLocalDpi xmlns:a14="http://schemas.microsoft.com/office/drawing/2010/main" val="0"/>
              </a:ext>
            </a:extLst>
          </a:blip>
          <a:srcRect l="18500" t="1701" r="4325" b="5901"/>
          <a:stretch/>
        </p:blipFill>
        <p:spPr>
          <a:xfrm>
            <a:off x="4060149" y="1460867"/>
            <a:ext cx="4917410" cy="4415633"/>
          </a:xfrm>
          <a:prstGeom prst="rect">
            <a:avLst/>
          </a:prstGeom>
        </p:spPr>
      </p:pic>
      <p:sp>
        <p:nvSpPr>
          <p:cNvPr id="11" name="Title 1">
            <a:extLst>
              <a:ext uri="{FF2B5EF4-FFF2-40B4-BE49-F238E27FC236}">
                <a16:creationId xmlns:a16="http://schemas.microsoft.com/office/drawing/2014/main" id="{B5037E7C-D6ED-2398-8BD0-250F6885A907}"/>
              </a:ext>
            </a:extLst>
          </p:cNvPr>
          <p:cNvSpPr>
            <a:spLocks noGrp="1"/>
          </p:cNvSpPr>
          <p:nvPr>
            <p:ph type="title"/>
          </p:nvPr>
        </p:nvSpPr>
        <p:spPr>
          <a:xfrm>
            <a:off x="323528" y="330182"/>
            <a:ext cx="8114211" cy="553998"/>
          </a:xfrm>
        </p:spPr>
        <p:txBody>
          <a:bodyPr/>
          <a:lstStyle/>
          <a:p>
            <a:pPr algn="ctr"/>
            <a:r>
              <a:rPr lang="en-US"/>
              <a:t>Pulsed Feedback Mode</a:t>
            </a:r>
          </a:p>
        </p:txBody>
      </p:sp>
      <p:sp>
        <p:nvSpPr>
          <p:cNvPr id="13" name="Content Placeholder 2">
            <a:extLst>
              <a:ext uri="{FF2B5EF4-FFF2-40B4-BE49-F238E27FC236}">
                <a16:creationId xmlns:a16="http://schemas.microsoft.com/office/drawing/2014/main" id="{4CCC1825-7BC0-CA43-363D-90BC1F133D45}"/>
              </a:ext>
            </a:extLst>
          </p:cNvPr>
          <p:cNvSpPr>
            <a:spLocks noGrp="1"/>
          </p:cNvSpPr>
          <p:nvPr>
            <p:ph sz="half" idx="2"/>
          </p:nvPr>
        </p:nvSpPr>
        <p:spPr>
          <a:xfrm>
            <a:off x="97679" y="1277094"/>
            <a:ext cx="4031908" cy="2462213"/>
          </a:xfrm>
        </p:spPr>
        <p:txBody>
          <a:bodyPr/>
          <a:lstStyle/>
          <a:p>
            <a:pPr marL="342900" indent="-342900">
              <a:buFontTx/>
              <a:buChar char="-"/>
            </a:pPr>
            <a:r>
              <a:rPr lang="en-US" sz="1600" dirty="0"/>
              <a:t>Pulse generator sends TTL pulse to turn AOM on/off</a:t>
            </a:r>
          </a:p>
          <a:p>
            <a:pPr marL="342900" indent="-342900">
              <a:buFontTx/>
              <a:buChar char="-"/>
            </a:pPr>
            <a:endParaRPr lang="en-US" sz="1600" dirty="0"/>
          </a:p>
          <a:p>
            <a:pPr marL="342900" indent="-342900">
              <a:buFontTx/>
              <a:buChar char="-"/>
            </a:pPr>
            <a:r>
              <a:rPr lang="en-US" sz="1600" dirty="0"/>
              <a:t>A delayed TTL pulse is sent to S&amp;H </a:t>
            </a:r>
          </a:p>
          <a:p>
            <a:pPr marL="342900" indent="-342900">
              <a:buFontTx/>
              <a:buChar char="-"/>
            </a:pPr>
            <a:endParaRPr lang="en-US" sz="1600" dirty="0"/>
          </a:p>
          <a:p>
            <a:pPr marL="342900" indent="-342900">
              <a:buFontTx/>
              <a:buChar char="-"/>
            </a:pPr>
            <a:r>
              <a:rPr lang="en-US" sz="1600" dirty="0"/>
              <a:t>Delay creates an active window in which the circuit stabilizes (on HI)</a:t>
            </a:r>
          </a:p>
          <a:p>
            <a:pPr marL="342900" indent="-342900">
              <a:buFontTx/>
              <a:buChar char="-"/>
            </a:pPr>
            <a:endParaRPr lang="en-US" sz="1600" dirty="0"/>
          </a:p>
          <a:p>
            <a:pPr marL="342900" indent="-342900">
              <a:buFontTx/>
              <a:buChar char="-"/>
            </a:pPr>
            <a:r>
              <a:rPr lang="en-US" sz="1600" dirty="0"/>
              <a:t>When the pulse is LO, the circuit holds the unstabilized DC level</a:t>
            </a:r>
          </a:p>
        </p:txBody>
      </p:sp>
      <p:sp>
        <p:nvSpPr>
          <p:cNvPr id="14" name="TextBox 13">
            <a:extLst>
              <a:ext uri="{FF2B5EF4-FFF2-40B4-BE49-F238E27FC236}">
                <a16:creationId xmlns:a16="http://schemas.microsoft.com/office/drawing/2014/main" id="{92251102-0AA0-D445-D750-A485F7F3BC4A}"/>
              </a:ext>
            </a:extLst>
          </p:cNvPr>
          <p:cNvSpPr txBox="1"/>
          <p:nvPr/>
        </p:nvSpPr>
        <p:spPr>
          <a:xfrm>
            <a:off x="6137690" y="1958643"/>
            <a:ext cx="1080120" cy="246221"/>
          </a:xfrm>
          <a:prstGeom prst="rect">
            <a:avLst/>
          </a:prstGeom>
          <a:noFill/>
        </p:spPr>
        <p:txBody>
          <a:bodyPr wrap="square" rtlCol="0">
            <a:spAutoFit/>
          </a:bodyPr>
          <a:lstStyle/>
          <a:p>
            <a:r>
              <a:rPr lang="en-CA" sz="1000"/>
              <a:t>Beam Splitter</a:t>
            </a:r>
          </a:p>
        </p:txBody>
      </p:sp>
      <p:pic>
        <p:nvPicPr>
          <p:cNvPr id="2" name="object 8">
            <a:extLst>
              <a:ext uri="{FF2B5EF4-FFF2-40B4-BE49-F238E27FC236}">
                <a16:creationId xmlns:a16="http://schemas.microsoft.com/office/drawing/2014/main" id="{0164A8D6-FD5D-069B-D1E6-40B175EA50C9}"/>
              </a:ext>
            </a:extLst>
          </p:cNvPr>
          <p:cNvPicPr/>
          <p:nvPr/>
        </p:nvPicPr>
        <p:blipFill>
          <a:blip r:embed="rId4" cstate="print"/>
          <a:stretch>
            <a:fillRect/>
          </a:stretch>
        </p:blipFill>
        <p:spPr>
          <a:xfrm>
            <a:off x="8130604" y="0"/>
            <a:ext cx="815819" cy="1226414"/>
          </a:xfrm>
          <a:prstGeom prst="rect">
            <a:avLst/>
          </a:prstGeom>
        </p:spPr>
      </p:pic>
      <p:pic>
        <p:nvPicPr>
          <p:cNvPr id="4" name="Picture 3" descr="A diagram of a wave pulse&#10;&#10;Description automatically generated">
            <a:extLst>
              <a:ext uri="{FF2B5EF4-FFF2-40B4-BE49-F238E27FC236}">
                <a16:creationId xmlns:a16="http://schemas.microsoft.com/office/drawing/2014/main" id="{F5595735-6D01-AA40-C43F-5C46E69F4352}"/>
              </a:ext>
            </a:extLst>
          </p:cNvPr>
          <p:cNvPicPr>
            <a:picLocks noChangeAspect="1"/>
          </p:cNvPicPr>
          <p:nvPr/>
        </p:nvPicPr>
        <p:blipFill rotWithShape="1">
          <a:blip r:embed="rId5">
            <a:extLst>
              <a:ext uri="{28A0092B-C50C-407E-A947-70E740481C1C}">
                <a14:useLocalDpi xmlns:a14="http://schemas.microsoft.com/office/drawing/2010/main" val="0"/>
              </a:ext>
            </a:extLst>
          </a:blip>
          <a:srcRect r="51575" b="55250"/>
          <a:stretch/>
        </p:blipFill>
        <p:spPr>
          <a:xfrm>
            <a:off x="323528" y="4027651"/>
            <a:ext cx="4031909" cy="2794447"/>
          </a:xfrm>
          <a:prstGeom prst="rect">
            <a:avLst/>
          </a:prstGeom>
        </p:spPr>
      </p:pic>
      <p:sp>
        <p:nvSpPr>
          <p:cNvPr id="7" name="Rectangle: Rounded Corners 6">
            <a:extLst>
              <a:ext uri="{FF2B5EF4-FFF2-40B4-BE49-F238E27FC236}">
                <a16:creationId xmlns:a16="http://schemas.microsoft.com/office/drawing/2014/main" id="{7538C9BB-22C5-F9E8-CEB6-7BBF0DF99485}"/>
              </a:ext>
            </a:extLst>
          </p:cNvPr>
          <p:cNvSpPr/>
          <p:nvPr/>
        </p:nvSpPr>
        <p:spPr>
          <a:xfrm>
            <a:off x="6588224" y="4278854"/>
            <a:ext cx="661099" cy="608250"/>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6" name="Picture 15" descr="A diagram of a laser beam&#10;&#10;Description automatically generated">
            <a:extLst>
              <a:ext uri="{FF2B5EF4-FFF2-40B4-BE49-F238E27FC236}">
                <a16:creationId xmlns:a16="http://schemas.microsoft.com/office/drawing/2014/main" id="{0B096DC0-E7E1-0416-F9E5-6459AA5581A1}"/>
              </a:ext>
            </a:extLst>
          </p:cNvPr>
          <p:cNvPicPr>
            <a:picLocks noChangeAspect="1"/>
          </p:cNvPicPr>
          <p:nvPr/>
        </p:nvPicPr>
        <p:blipFill rotWithShape="1">
          <a:blip r:embed="rId6">
            <a:extLst>
              <a:ext uri="{28A0092B-C50C-407E-A947-70E740481C1C}">
                <a14:useLocalDpi xmlns:a14="http://schemas.microsoft.com/office/drawing/2010/main" val="0"/>
              </a:ext>
            </a:extLst>
          </a:blip>
          <a:srcRect l="35038" t="34250" r="54725" b="60500"/>
          <a:stretch/>
        </p:blipFill>
        <p:spPr>
          <a:xfrm>
            <a:off x="5076056" y="3009777"/>
            <a:ext cx="720080" cy="253097"/>
          </a:xfrm>
          <a:prstGeom prst="rect">
            <a:avLst/>
          </a:prstGeom>
        </p:spPr>
      </p:pic>
      <p:sp>
        <p:nvSpPr>
          <p:cNvPr id="5" name="Rectangle 4">
            <a:extLst>
              <a:ext uri="{FF2B5EF4-FFF2-40B4-BE49-F238E27FC236}">
                <a16:creationId xmlns:a16="http://schemas.microsoft.com/office/drawing/2014/main" id="{4FFF7D47-7533-D7E8-EF1E-40BA04E74BC6}"/>
              </a:ext>
            </a:extLst>
          </p:cNvPr>
          <p:cNvSpPr/>
          <p:nvPr/>
        </p:nvSpPr>
        <p:spPr>
          <a:xfrm>
            <a:off x="3273972" y="4456387"/>
            <a:ext cx="786177" cy="5615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Box 2">
            <a:extLst>
              <a:ext uri="{FF2B5EF4-FFF2-40B4-BE49-F238E27FC236}">
                <a16:creationId xmlns:a16="http://schemas.microsoft.com/office/drawing/2014/main" id="{C70C2433-2802-AA46-155A-A04AEA243AB6}"/>
              </a:ext>
            </a:extLst>
          </p:cNvPr>
          <p:cNvSpPr txBox="1"/>
          <p:nvPr/>
        </p:nvSpPr>
        <p:spPr>
          <a:xfrm>
            <a:off x="3182127" y="4494699"/>
            <a:ext cx="1045028" cy="523220"/>
          </a:xfrm>
          <a:prstGeom prst="rect">
            <a:avLst/>
          </a:prstGeom>
          <a:noFill/>
        </p:spPr>
        <p:txBody>
          <a:bodyPr wrap="square" rtlCol="0">
            <a:spAutoFit/>
          </a:bodyPr>
          <a:lstStyle/>
          <a:p>
            <a:r>
              <a:rPr lang="en-CA" sz="1400" dirty="0">
                <a:highlight>
                  <a:srgbClr val="FFFF00"/>
                </a:highlight>
              </a:rPr>
              <a:t>Stabilize on HI</a:t>
            </a:r>
          </a:p>
        </p:txBody>
      </p:sp>
      <p:pic>
        <p:nvPicPr>
          <p:cNvPr id="6" name="Picture 5">
            <a:extLst>
              <a:ext uri="{FF2B5EF4-FFF2-40B4-BE49-F238E27FC236}">
                <a16:creationId xmlns:a16="http://schemas.microsoft.com/office/drawing/2014/main" id="{399B5F96-7007-37E6-05B0-D8DF746A3BD5}"/>
              </a:ext>
            </a:extLst>
          </p:cNvPr>
          <p:cNvPicPr>
            <a:picLocks noChangeAspect="1"/>
          </p:cNvPicPr>
          <p:nvPr/>
        </p:nvPicPr>
        <p:blipFill>
          <a:blip r:embed="rId7"/>
          <a:stretch>
            <a:fillRect/>
          </a:stretch>
        </p:blipFill>
        <p:spPr>
          <a:xfrm>
            <a:off x="7554182" y="4363332"/>
            <a:ext cx="965158" cy="469926"/>
          </a:xfrm>
          <a:prstGeom prst="rect">
            <a:avLst/>
          </a:prstGeom>
        </p:spPr>
      </p:pic>
    </p:spTree>
    <p:extLst>
      <p:ext uri="{BB962C8B-B14F-4D97-AF65-F5344CB8AC3E}">
        <p14:creationId xmlns:p14="http://schemas.microsoft.com/office/powerpoint/2010/main" val="4252032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F064178-86DF-4992-49BF-2765293579AD}"/>
              </a:ext>
            </a:extLst>
          </p:cNvPr>
          <p:cNvSpPr>
            <a:spLocks noGrp="1"/>
          </p:cNvSpPr>
          <p:nvPr>
            <p:ph type="title"/>
          </p:nvPr>
        </p:nvSpPr>
        <p:spPr>
          <a:xfrm>
            <a:off x="274213" y="224108"/>
            <a:ext cx="7098030" cy="553998"/>
          </a:xfrm>
        </p:spPr>
        <p:txBody>
          <a:bodyPr/>
          <a:lstStyle/>
          <a:p>
            <a:r>
              <a:rPr lang="en-US" dirty="0"/>
              <a:t>Sample and Hold Signal</a:t>
            </a:r>
          </a:p>
        </p:txBody>
      </p:sp>
      <p:sp>
        <p:nvSpPr>
          <p:cNvPr id="12" name="Content Placeholder 3">
            <a:extLst>
              <a:ext uri="{FF2B5EF4-FFF2-40B4-BE49-F238E27FC236}">
                <a16:creationId xmlns:a16="http://schemas.microsoft.com/office/drawing/2014/main" id="{8D9C27BF-74F0-6DC9-E337-2D433DE706AF}"/>
              </a:ext>
            </a:extLst>
          </p:cNvPr>
          <p:cNvSpPr>
            <a:spLocks noGrp="1"/>
          </p:cNvSpPr>
          <p:nvPr>
            <p:ph sz="half" idx="3"/>
          </p:nvPr>
        </p:nvSpPr>
        <p:spPr>
          <a:xfrm>
            <a:off x="5677134" y="1916832"/>
            <a:ext cx="3193964" cy="4308872"/>
          </a:xfrm>
        </p:spPr>
        <p:txBody>
          <a:bodyPr/>
          <a:lstStyle/>
          <a:p>
            <a:pPr marL="342900" indent="-342900">
              <a:buFontTx/>
              <a:buChar char="-"/>
            </a:pPr>
            <a:r>
              <a:rPr lang="en-US" dirty="0"/>
              <a:t>Stabilizing when TTL is high</a:t>
            </a:r>
          </a:p>
          <a:p>
            <a:pPr marL="342900" indent="-342900">
              <a:buFontTx/>
              <a:buChar char="-"/>
            </a:pPr>
            <a:endParaRPr lang="en-US" dirty="0"/>
          </a:p>
          <a:p>
            <a:pPr marL="342900" indent="-342900">
              <a:buFontTx/>
              <a:buChar char="-"/>
            </a:pPr>
            <a:r>
              <a:rPr lang="en-US" dirty="0"/>
              <a:t>Holding when TTL is low</a:t>
            </a:r>
          </a:p>
          <a:p>
            <a:pPr marL="342900" indent="-342900">
              <a:buFontTx/>
              <a:buChar char="-"/>
            </a:pPr>
            <a:endParaRPr lang="en-US" dirty="0"/>
          </a:p>
          <a:p>
            <a:pPr marL="342900" indent="-342900">
              <a:buFontTx/>
              <a:buChar char="-"/>
            </a:pPr>
            <a:r>
              <a:rPr lang="en-US" dirty="0"/>
              <a:t>Intensity fluctuations are decreased when stabilizing </a:t>
            </a:r>
          </a:p>
          <a:p>
            <a:pPr marL="342900" indent="-342900">
              <a:buFontTx/>
              <a:buChar char="-"/>
            </a:pPr>
            <a:endParaRPr lang="en-US" dirty="0"/>
          </a:p>
          <a:p>
            <a:pPr marL="342900" indent="-342900">
              <a:buFontTx/>
              <a:buChar char="-"/>
            </a:pPr>
            <a:endParaRPr lang="en-US" dirty="0"/>
          </a:p>
          <a:p>
            <a:pPr marL="342900" indent="-342900">
              <a:buFontTx/>
              <a:buChar char="-"/>
            </a:pPr>
            <a:endParaRPr lang="en-US" dirty="0"/>
          </a:p>
          <a:p>
            <a:endParaRPr lang="en-US" dirty="0"/>
          </a:p>
          <a:p>
            <a:pPr marL="342900" indent="-342900">
              <a:buFontTx/>
              <a:buChar char="-"/>
            </a:pPr>
            <a:endParaRPr lang="en-US" dirty="0"/>
          </a:p>
        </p:txBody>
      </p:sp>
      <p:sp>
        <p:nvSpPr>
          <p:cNvPr id="9" name="Arrow: Down 8">
            <a:extLst>
              <a:ext uri="{FF2B5EF4-FFF2-40B4-BE49-F238E27FC236}">
                <a16:creationId xmlns:a16="http://schemas.microsoft.com/office/drawing/2014/main" id="{3E091234-62FC-9F3A-B436-CEC611B5927E}"/>
              </a:ext>
            </a:extLst>
          </p:cNvPr>
          <p:cNvSpPr/>
          <p:nvPr/>
        </p:nvSpPr>
        <p:spPr>
          <a:xfrm>
            <a:off x="6372200" y="4941168"/>
            <a:ext cx="815211" cy="15121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 name="object 8">
            <a:extLst>
              <a:ext uri="{FF2B5EF4-FFF2-40B4-BE49-F238E27FC236}">
                <a16:creationId xmlns:a16="http://schemas.microsoft.com/office/drawing/2014/main" id="{377ED332-0160-BAA2-4E39-5CC38F5E5302}"/>
              </a:ext>
            </a:extLst>
          </p:cNvPr>
          <p:cNvPicPr/>
          <p:nvPr/>
        </p:nvPicPr>
        <p:blipFill>
          <a:blip r:embed="rId3" cstate="print"/>
          <a:stretch>
            <a:fillRect/>
          </a:stretch>
        </p:blipFill>
        <p:spPr>
          <a:xfrm>
            <a:off x="8130604" y="0"/>
            <a:ext cx="815819" cy="1226414"/>
          </a:xfrm>
          <a:prstGeom prst="rect">
            <a:avLst/>
          </a:prstGeom>
        </p:spPr>
      </p:pic>
      <p:pic>
        <p:nvPicPr>
          <p:cNvPr id="14" name="Picture 2">
            <a:extLst>
              <a:ext uri="{FF2B5EF4-FFF2-40B4-BE49-F238E27FC236}">
                <a16:creationId xmlns:a16="http://schemas.microsoft.com/office/drawing/2014/main" id="{842DA640-8BBB-B3C7-D74B-B61FE981837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85"/>
          <a:stretch/>
        </p:blipFill>
        <p:spPr bwMode="auto">
          <a:xfrm>
            <a:off x="53522" y="1747934"/>
            <a:ext cx="5592987" cy="42419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EC5F5B8-1487-F652-7E4D-47C834F8AC48}"/>
              </a:ext>
            </a:extLst>
          </p:cNvPr>
          <p:cNvSpPr txBox="1"/>
          <p:nvPr/>
        </p:nvSpPr>
        <p:spPr>
          <a:xfrm>
            <a:off x="981134" y="2154927"/>
            <a:ext cx="1251480" cy="677108"/>
          </a:xfrm>
          <a:prstGeom prst="rect">
            <a:avLst/>
          </a:prstGeom>
          <a:noFill/>
        </p:spPr>
        <p:txBody>
          <a:bodyPr wrap="square" rtlCol="0">
            <a:spAutoFit/>
          </a:bodyPr>
          <a:lstStyle/>
          <a:p>
            <a:r>
              <a:rPr lang="en-US" sz="1200" dirty="0"/>
              <a:t>Repetition rate of 1 Hz</a:t>
            </a:r>
          </a:p>
          <a:p>
            <a:endParaRPr lang="en-CA" sz="1400" dirty="0"/>
          </a:p>
        </p:txBody>
      </p:sp>
      <p:sp>
        <p:nvSpPr>
          <p:cNvPr id="8" name="TextBox 7">
            <a:extLst>
              <a:ext uri="{FF2B5EF4-FFF2-40B4-BE49-F238E27FC236}">
                <a16:creationId xmlns:a16="http://schemas.microsoft.com/office/drawing/2014/main" id="{BEC5DF63-4C8C-2760-F47F-5C64340660D7}"/>
              </a:ext>
            </a:extLst>
          </p:cNvPr>
          <p:cNvSpPr txBox="1"/>
          <p:nvPr/>
        </p:nvSpPr>
        <p:spPr>
          <a:xfrm>
            <a:off x="1332399" y="1659521"/>
            <a:ext cx="3850443" cy="338554"/>
          </a:xfrm>
          <a:prstGeom prst="rect">
            <a:avLst/>
          </a:prstGeom>
          <a:solidFill>
            <a:schemeClr val="bg1"/>
          </a:solidFill>
        </p:spPr>
        <p:txBody>
          <a:bodyPr wrap="square" rtlCol="0">
            <a:spAutoFit/>
          </a:bodyPr>
          <a:lstStyle/>
          <a:p>
            <a:pPr algn="ctr"/>
            <a:r>
              <a:rPr lang="en-CA" sz="1600" dirty="0"/>
              <a:t>Laser Power as a Function of Time</a:t>
            </a:r>
          </a:p>
        </p:txBody>
      </p:sp>
      <p:cxnSp>
        <p:nvCxnSpPr>
          <p:cNvPr id="16" name="Connector: Elbow 15">
            <a:extLst>
              <a:ext uri="{FF2B5EF4-FFF2-40B4-BE49-F238E27FC236}">
                <a16:creationId xmlns:a16="http://schemas.microsoft.com/office/drawing/2014/main" id="{0A4976AA-1988-4820-0AE4-873F858A67D3}"/>
              </a:ext>
            </a:extLst>
          </p:cNvPr>
          <p:cNvCxnSpPr>
            <a:cxnSpLocks/>
          </p:cNvCxnSpPr>
          <p:nvPr/>
        </p:nvCxnSpPr>
        <p:spPr>
          <a:xfrm rot="5400000">
            <a:off x="2520586" y="2681316"/>
            <a:ext cx="546415" cy="44317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6628C94-C2CF-C703-ECB6-A082112CA605}"/>
              </a:ext>
            </a:extLst>
          </p:cNvPr>
          <p:cNvSpPr txBox="1"/>
          <p:nvPr/>
        </p:nvSpPr>
        <p:spPr>
          <a:xfrm>
            <a:off x="2521716" y="2325483"/>
            <a:ext cx="2586278" cy="523220"/>
          </a:xfrm>
          <a:prstGeom prst="rect">
            <a:avLst/>
          </a:prstGeom>
          <a:noFill/>
        </p:spPr>
        <p:txBody>
          <a:bodyPr wrap="square" rtlCol="0">
            <a:spAutoFit/>
          </a:bodyPr>
          <a:lstStyle/>
          <a:p>
            <a:r>
              <a:rPr lang="en-US" sz="1400" dirty="0"/>
              <a:t>Stabilized</a:t>
            </a:r>
          </a:p>
          <a:p>
            <a:endParaRPr lang="en-CA" sz="1400" dirty="0"/>
          </a:p>
        </p:txBody>
      </p:sp>
      <p:cxnSp>
        <p:nvCxnSpPr>
          <p:cNvPr id="18" name="Connector: Elbow 17">
            <a:extLst>
              <a:ext uri="{FF2B5EF4-FFF2-40B4-BE49-F238E27FC236}">
                <a16:creationId xmlns:a16="http://schemas.microsoft.com/office/drawing/2014/main" id="{953C6F95-650A-5AF9-DBEB-F356A00EB9F3}"/>
              </a:ext>
            </a:extLst>
          </p:cNvPr>
          <p:cNvCxnSpPr>
            <a:cxnSpLocks/>
          </p:cNvCxnSpPr>
          <p:nvPr/>
        </p:nvCxnSpPr>
        <p:spPr>
          <a:xfrm rot="5400000" flipH="1" flipV="1">
            <a:off x="3057821" y="4722998"/>
            <a:ext cx="484753" cy="2779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AB5B414-F7F3-F7B6-C92D-CE72C560A8C1}"/>
              </a:ext>
            </a:extLst>
          </p:cNvPr>
          <p:cNvSpPr txBox="1"/>
          <p:nvPr/>
        </p:nvSpPr>
        <p:spPr>
          <a:xfrm>
            <a:off x="3010964" y="5044205"/>
            <a:ext cx="2586278" cy="492443"/>
          </a:xfrm>
          <a:prstGeom prst="rect">
            <a:avLst/>
          </a:prstGeom>
          <a:noFill/>
        </p:spPr>
        <p:txBody>
          <a:bodyPr wrap="square" rtlCol="0">
            <a:spAutoFit/>
          </a:bodyPr>
          <a:lstStyle/>
          <a:p>
            <a:r>
              <a:rPr lang="en-US" sz="1200" dirty="0"/>
              <a:t>Unstabilized</a:t>
            </a:r>
          </a:p>
          <a:p>
            <a:endParaRPr lang="en-CA" sz="1400" dirty="0"/>
          </a:p>
        </p:txBody>
      </p:sp>
      <p:cxnSp>
        <p:nvCxnSpPr>
          <p:cNvPr id="30" name="Straight Connector 29">
            <a:extLst>
              <a:ext uri="{FF2B5EF4-FFF2-40B4-BE49-F238E27FC236}">
                <a16:creationId xmlns:a16="http://schemas.microsoft.com/office/drawing/2014/main" id="{E86C3498-ACE1-4D50-8391-393CDA2C9C61}"/>
              </a:ext>
            </a:extLst>
          </p:cNvPr>
          <p:cNvCxnSpPr/>
          <p:nvPr/>
        </p:nvCxnSpPr>
        <p:spPr>
          <a:xfrm>
            <a:off x="1068332" y="5293434"/>
            <a:ext cx="1077085" cy="0"/>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E9C40327-C28D-CA23-B4FD-3E88F1E90E17}"/>
              </a:ext>
            </a:extLst>
          </p:cNvPr>
          <p:cNvCxnSpPr>
            <a:cxnSpLocks/>
          </p:cNvCxnSpPr>
          <p:nvPr/>
        </p:nvCxnSpPr>
        <p:spPr>
          <a:xfrm flipV="1">
            <a:off x="2145417" y="3214795"/>
            <a:ext cx="13436" cy="2079453"/>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ABD0DEE5-C28E-E8E3-CC6A-5EAF477C227D}"/>
              </a:ext>
            </a:extLst>
          </p:cNvPr>
          <p:cNvCxnSpPr>
            <a:cxnSpLocks/>
          </p:cNvCxnSpPr>
          <p:nvPr/>
        </p:nvCxnSpPr>
        <p:spPr>
          <a:xfrm>
            <a:off x="2161580" y="3220283"/>
            <a:ext cx="8139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6B3DD62-62CD-B2F9-9F2C-DF90432B1A38}"/>
              </a:ext>
            </a:extLst>
          </p:cNvPr>
          <p:cNvCxnSpPr>
            <a:cxnSpLocks/>
          </p:cNvCxnSpPr>
          <p:nvPr/>
        </p:nvCxnSpPr>
        <p:spPr>
          <a:xfrm flipV="1">
            <a:off x="2948629" y="3217309"/>
            <a:ext cx="13436" cy="2079453"/>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CCAD52C7-9959-6537-C1F9-2CD224405CAC}"/>
              </a:ext>
            </a:extLst>
          </p:cNvPr>
          <p:cNvCxnSpPr>
            <a:cxnSpLocks/>
          </p:cNvCxnSpPr>
          <p:nvPr/>
        </p:nvCxnSpPr>
        <p:spPr>
          <a:xfrm>
            <a:off x="2943887" y="5290426"/>
            <a:ext cx="1139871" cy="0"/>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4A73E109-BDA9-4E49-F532-FD25EB91C412}"/>
              </a:ext>
            </a:extLst>
          </p:cNvPr>
          <p:cNvCxnSpPr>
            <a:cxnSpLocks/>
          </p:cNvCxnSpPr>
          <p:nvPr/>
        </p:nvCxnSpPr>
        <p:spPr>
          <a:xfrm flipV="1">
            <a:off x="4083758" y="3214795"/>
            <a:ext cx="13436" cy="2079453"/>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69F0B5C3-E05A-D156-F68C-B6BBE6503632}"/>
              </a:ext>
            </a:extLst>
          </p:cNvPr>
          <p:cNvCxnSpPr>
            <a:cxnSpLocks/>
          </p:cNvCxnSpPr>
          <p:nvPr/>
        </p:nvCxnSpPr>
        <p:spPr>
          <a:xfrm>
            <a:off x="4113759" y="3216970"/>
            <a:ext cx="8139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1BEBC8A-4B65-0613-D55C-AC340B56BFC6}"/>
              </a:ext>
            </a:extLst>
          </p:cNvPr>
          <p:cNvCxnSpPr>
            <a:cxnSpLocks/>
          </p:cNvCxnSpPr>
          <p:nvPr/>
        </p:nvCxnSpPr>
        <p:spPr>
          <a:xfrm flipV="1">
            <a:off x="4920962" y="3213981"/>
            <a:ext cx="13436" cy="2079453"/>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6F49A8D7-A733-078C-57C2-4F6015C097A4}"/>
              </a:ext>
            </a:extLst>
          </p:cNvPr>
          <p:cNvCxnSpPr>
            <a:cxnSpLocks/>
          </p:cNvCxnSpPr>
          <p:nvPr/>
        </p:nvCxnSpPr>
        <p:spPr>
          <a:xfrm>
            <a:off x="4920962" y="5295746"/>
            <a:ext cx="449336" cy="0"/>
          </a:xfrm>
          <a:prstGeom prst="line">
            <a:avLst/>
          </a:prstGeom>
        </p:spPr>
        <p:style>
          <a:lnRef idx="1">
            <a:schemeClr val="dk1"/>
          </a:lnRef>
          <a:fillRef idx="0">
            <a:schemeClr val="dk1"/>
          </a:fillRef>
          <a:effectRef idx="0">
            <a:schemeClr val="dk1"/>
          </a:effectRef>
          <a:fontRef idx="minor">
            <a:schemeClr val="tx1"/>
          </a:fontRef>
        </p:style>
      </p:cxnSp>
      <p:sp>
        <p:nvSpPr>
          <p:cNvPr id="43" name="Content Placeholder 3">
            <a:extLst>
              <a:ext uri="{FF2B5EF4-FFF2-40B4-BE49-F238E27FC236}">
                <a16:creationId xmlns:a16="http://schemas.microsoft.com/office/drawing/2014/main" id="{DABE8B5B-0CEF-1290-E233-DDE6185C49E3}"/>
              </a:ext>
            </a:extLst>
          </p:cNvPr>
          <p:cNvSpPr txBox="1">
            <a:spLocks/>
          </p:cNvSpPr>
          <p:nvPr/>
        </p:nvSpPr>
        <p:spPr>
          <a:xfrm>
            <a:off x="827104" y="6057314"/>
            <a:ext cx="4415611" cy="615553"/>
          </a:xfrm>
          <a:prstGeom prst="rect">
            <a:avLst/>
          </a:prstGeom>
        </p:spPr>
        <p:txBody>
          <a:bodyPr wrap="square" lIns="0" tIns="0" rIns="0" bIns="0">
            <a:spAutoFit/>
          </a:bodyPr>
          <a:lstStyle>
            <a:lvl1pPr marL="0" eaLnBrk="1" hangingPunct="1">
              <a:defRPr sz="2000" b="1" i="0">
                <a:solidFill>
                  <a:schemeClr val="tx1"/>
                </a:solidFill>
                <a:latin typeface="Arial"/>
                <a:ea typeface="+mn-ea"/>
                <a:cs typeface="Arial"/>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r>
              <a:rPr lang="en-US" b="0" dirty="0"/>
              <a:t>Unstabilized Signal ~ 1% SD/AVG</a:t>
            </a:r>
          </a:p>
          <a:p>
            <a:pPr algn="ctr"/>
            <a:r>
              <a:rPr lang="en-US" b="0" dirty="0"/>
              <a:t>Stabilized Signal ~ 0.3% SD/AVG</a:t>
            </a:r>
          </a:p>
        </p:txBody>
      </p:sp>
      <p:sp>
        <p:nvSpPr>
          <p:cNvPr id="4" name="TextBox 3">
            <a:extLst>
              <a:ext uri="{FF2B5EF4-FFF2-40B4-BE49-F238E27FC236}">
                <a16:creationId xmlns:a16="http://schemas.microsoft.com/office/drawing/2014/main" id="{DF7D02F7-01AB-37D4-0DFF-4808B1AFA7CC}"/>
              </a:ext>
            </a:extLst>
          </p:cNvPr>
          <p:cNvSpPr txBox="1"/>
          <p:nvPr/>
        </p:nvSpPr>
        <p:spPr>
          <a:xfrm rot="16200000">
            <a:off x="-655237" y="3983144"/>
            <a:ext cx="1572535" cy="276999"/>
          </a:xfrm>
          <a:prstGeom prst="rect">
            <a:avLst/>
          </a:prstGeom>
          <a:noFill/>
        </p:spPr>
        <p:txBody>
          <a:bodyPr wrap="square" rtlCol="0">
            <a:spAutoFit/>
          </a:bodyPr>
          <a:lstStyle/>
          <a:p>
            <a:pPr algn="r"/>
            <a:r>
              <a:rPr lang="en-CA" sz="1200" dirty="0">
                <a:highlight>
                  <a:srgbClr val="FFFFFF"/>
                </a:highlight>
              </a:rPr>
              <a:t>Power(</a:t>
            </a:r>
            <a:r>
              <a:rPr lang="el-GR" sz="1200" dirty="0">
                <a:highlight>
                  <a:srgbClr val="FFFFFF"/>
                </a:highlight>
                <a:latin typeface="Arial" panose="020B0604020202020204" pitchFamily="34" charset="0"/>
                <a:cs typeface="Arial" panose="020B0604020202020204" pitchFamily="34" charset="0"/>
              </a:rPr>
              <a:t>μ</a:t>
            </a:r>
            <a:r>
              <a:rPr lang="en-CA" sz="1200" dirty="0">
                <a:highlight>
                  <a:srgbClr val="FFFFFF"/>
                </a:highlight>
              </a:rPr>
              <a:t>W)</a:t>
            </a:r>
          </a:p>
        </p:txBody>
      </p:sp>
    </p:spTree>
    <p:extLst>
      <p:ext uri="{BB962C8B-B14F-4D97-AF65-F5344CB8AC3E}">
        <p14:creationId xmlns:p14="http://schemas.microsoft.com/office/powerpoint/2010/main" val="3076118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3A9BDCE-7B07-6375-019D-7EE9F8A0AB30}"/>
              </a:ext>
            </a:extLst>
          </p:cNvPr>
          <p:cNvSpPr>
            <a:spLocks noGrp="1"/>
          </p:cNvSpPr>
          <p:nvPr>
            <p:ph type="title"/>
          </p:nvPr>
        </p:nvSpPr>
        <p:spPr>
          <a:xfrm>
            <a:off x="274213" y="224108"/>
            <a:ext cx="7098030" cy="553998"/>
          </a:xfrm>
        </p:spPr>
        <p:txBody>
          <a:bodyPr/>
          <a:lstStyle/>
          <a:p>
            <a:r>
              <a:rPr lang="en-US"/>
              <a:t>Unstable Segments</a:t>
            </a:r>
          </a:p>
        </p:txBody>
      </p:sp>
      <p:pic>
        <p:nvPicPr>
          <p:cNvPr id="5" name="Picture 18">
            <a:extLst>
              <a:ext uri="{FF2B5EF4-FFF2-40B4-BE49-F238E27FC236}">
                <a16:creationId xmlns:a16="http://schemas.microsoft.com/office/drawing/2014/main" id="{0963913F-D94D-1491-6AA3-2B0698D783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951"/>
          <a:stretch/>
        </p:blipFill>
        <p:spPr bwMode="auto">
          <a:xfrm>
            <a:off x="-9636" y="1484784"/>
            <a:ext cx="5472608" cy="4187017"/>
          </a:xfrm>
          <a:prstGeom prst="rect">
            <a:avLst/>
          </a:prstGeom>
          <a:solidFill>
            <a:srgbClr val="FFFFFF"/>
          </a:solidFill>
        </p:spPr>
      </p:pic>
      <p:pic>
        <p:nvPicPr>
          <p:cNvPr id="9" name="Picture 8">
            <a:extLst>
              <a:ext uri="{FF2B5EF4-FFF2-40B4-BE49-F238E27FC236}">
                <a16:creationId xmlns:a16="http://schemas.microsoft.com/office/drawing/2014/main" id="{84D36C4E-6D21-CAF7-0C8B-361A88C5D880}"/>
              </a:ext>
            </a:extLst>
          </p:cNvPr>
          <p:cNvPicPr>
            <a:picLocks noChangeAspect="1"/>
          </p:cNvPicPr>
          <p:nvPr/>
        </p:nvPicPr>
        <p:blipFill>
          <a:blip r:embed="rId4"/>
          <a:stretch>
            <a:fillRect/>
          </a:stretch>
        </p:blipFill>
        <p:spPr>
          <a:xfrm>
            <a:off x="755576" y="5229200"/>
            <a:ext cx="4239577" cy="182620"/>
          </a:xfrm>
          <a:prstGeom prst="rect">
            <a:avLst/>
          </a:prstGeom>
        </p:spPr>
      </p:pic>
      <p:sp>
        <p:nvSpPr>
          <p:cNvPr id="11" name="TextBox 10">
            <a:extLst>
              <a:ext uri="{FF2B5EF4-FFF2-40B4-BE49-F238E27FC236}">
                <a16:creationId xmlns:a16="http://schemas.microsoft.com/office/drawing/2014/main" id="{18478622-1107-0497-4641-32E3905DBF62}"/>
              </a:ext>
            </a:extLst>
          </p:cNvPr>
          <p:cNvSpPr txBox="1"/>
          <p:nvPr/>
        </p:nvSpPr>
        <p:spPr>
          <a:xfrm>
            <a:off x="5040053" y="5229200"/>
            <a:ext cx="432047" cy="276999"/>
          </a:xfrm>
          <a:prstGeom prst="rect">
            <a:avLst/>
          </a:prstGeom>
          <a:solidFill>
            <a:schemeClr val="bg1"/>
          </a:solidFill>
        </p:spPr>
        <p:txBody>
          <a:bodyPr wrap="square" rtlCol="0">
            <a:spAutoFit/>
          </a:bodyPr>
          <a:lstStyle/>
          <a:p>
            <a:pPr algn="ctr"/>
            <a:r>
              <a:rPr lang="en-CA" sz="1200"/>
              <a:t>1.4</a:t>
            </a:r>
          </a:p>
        </p:txBody>
      </p:sp>
      <p:sp>
        <p:nvSpPr>
          <p:cNvPr id="14" name="Arrow: Down 13">
            <a:extLst>
              <a:ext uri="{FF2B5EF4-FFF2-40B4-BE49-F238E27FC236}">
                <a16:creationId xmlns:a16="http://schemas.microsoft.com/office/drawing/2014/main" id="{F3AD2AC2-D5FF-EF6B-DF4F-C5646F8AFDA2}"/>
              </a:ext>
            </a:extLst>
          </p:cNvPr>
          <p:cNvSpPr/>
          <p:nvPr/>
        </p:nvSpPr>
        <p:spPr>
          <a:xfrm>
            <a:off x="6516216" y="5250194"/>
            <a:ext cx="815211" cy="15121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 name="object 8">
            <a:extLst>
              <a:ext uri="{FF2B5EF4-FFF2-40B4-BE49-F238E27FC236}">
                <a16:creationId xmlns:a16="http://schemas.microsoft.com/office/drawing/2014/main" id="{2ED751FB-99B1-1D2D-85EA-C92A432E6164}"/>
              </a:ext>
            </a:extLst>
          </p:cNvPr>
          <p:cNvPicPr/>
          <p:nvPr/>
        </p:nvPicPr>
        <p:blipFill>
          <a:blip r:embed="rId5" cstate="print"/>
          <a:stretch>
            <a:fillRect/>
          </a:stretch>
        </p:blipFill>
        <p:spPr>
          <a:xfrm>
            <a:off x="8130604" y="0"/>
            <a:ext cx="815819" cy="1226414"/>
          </a:xfrm>
          <a:prstGeom prst="rect">
            <a:avLst/>
          </a:prstGeom>
        </p:spPr>
      </p:pic>
      <p:pic>
        <p:nvPicPr>
          <p:cNvPr id="2050" name="Picture 2">
            <a:extLst>
              <a:ext uri="{FF2B5EF4-FFF2-40B4-BE49-F238E27FC236}">
                <a16:creationId xmlns:a16="http://schemas.microsoft.com/office/drawing/2014/main" id="{F5592D30-5D3C-99FE-BFB2-3BC9AFC1C9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28" y="1475015"/>
            <a:ext cx="5681671" cy="423743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92067D6-763C-D3D5-2343-049C5B0916BD}"/>
              </a:ext>
            </a:extLst>
          </p:cNvPr>
          <p:cNvSpPr txBox="1"/>
          <p:nvPr/>
        </p:nvSpPr>
        <p:spPr>
          <a:xfrm>
            <a:off x="1475656" y="1455454"/>
            <a:ext cx="3663513" cy="276999"/>
          </a:xfrm>
          <a:prstGeom prst="rect">
            <a:avLst/>
          </a:prstGeom>
          <a:solidFill>
            <a:schemeClr val="bg1"/>
          </a:solidFill>
        </p:spPr>
        <p:txBody>
          <a:bodyPr wrap="square" rtlCol="0">
            <a:spAutoFit/>
          </a:bodyPr>
          <a:lstStyle/>
          <a:p>
            <a:pPr algn="ctr"/>
            <a:r>
              <a:rPr lang="en-CA" sz="1200"/>
              <a:t>Unstable Laser Power as a Function of Time</a:t>
            </a:r>
          </a:p>
        </p:txBody>
      </p:sp>
      <p:sp>
        <p:nvSpPr>
          <p:cNvPr id="12" name="Content Placeholder 3">
            <a:extLst>
              <a:ext uri="{FF2B5EF4-FFF2-40B4-BE49-F238E27FC236}">
                <a16:creationId xmlns:a16="http://schemas.microsoft.com/office/drawing/2014/main" id="{E6AB9369-7818-FB9C-1510-D4F4DCE7684D}"/>
              </a:ext>
            </a:extLst>
          </p:cNvPr>
          <p:cNvSpPr>
            <a:spLocks noGrp="1"/>
          </p:cNvSpPr>
          <p:nvPr>
            <p:ph sz="half" idx="3"/>
          </p:nvPr>
        </p:nvSpPr>
        <p:spPr>
          <a:xfrm>
            <a:off x="5649664" y="1700808"/>
            <a:ext cx="3322712" cy="3385542"/>
          </a:xfrm>
        </p:spPr>
        <p:txBody>
          <a:bodyPr/>
          <a:lstStyle/>
          <a:p>
            <a:pPr marL="342900" indent="-342900">
              <a:buFontTx/>
              <a:buChar char="-"/>
            </a:pPr>
            <a:r>
              <a:rPr lang="en-US" dirty="0"/>
              <a:t>Analogous to unstable signal in continuous-wave mode</a:t>
            </a:r>
          </a:p>
          <a:p>
            <a:pPr marL="342900" indent="-342900">
              <a:buFontTx/>
              <a:buChar char="-"/>
            </a:pPr>
            <a:endParaRPr lang="en-US" dirty="0"/>
          </a:p>
          <a:p>
            <a:pPr marL="342900" indent="-342900">
              <a:buFontTx/>
              <a:buChar char="-"/>
            </a:pPr>
            <a:r>
              <a:rPr lang="en-US" dirty="0"/>
              <a:t>Signal has intensity variations</a:t>
            </a:r>
          </a:p>
          <a:p>
            <a:pPr marL="342900" indent="-342900">
              <a:buFontTx/>
              <a:buChar char="-"/>
            </a:pPr>
            <a:endParaRPr lang="en-US" dirty="0"/>
          </a:p>
          <a:p>
            <a:pPr marL="342900" indent="-342900">
              <a:buFontTx/>
              <a:buChar char="-"/>
            </a:pPr>
            <a:r>
              <a:rPr lang="en-US" dirty="0"/>
              <a:t>Standard deviation level of ~ 1%</a:t>
            </a:r>
          </a:p>
          <a:p>
            <a:pPr marL="342900" indent="-342900">
              <a:buFontTx/>
              <a:buChar char="-"/>
            </a:pPr>
            <a:endParaRPr lang="en-US" dirty="0"/>
          </a:p>
          <a:p>
            <a:pPr marL="342900" indent="-342900">
              <a:buFontTx/>
              <a:buChar char="-"/>
            </a:pPr>
            <a:endParaRPr lang="en-US" dirty="0"/>
          </a:p>
        </p:txBody>
      </p:sp>
      <p:sp>
        <p:nvSpPr>
          <p:cNvPr id="3" name="TextBox 2">
            <a:extLst>
              <a:ext uri="{FF2B5EF4-FFF2-40B4-BE49-F238E27FC236}">
                <a16:creationId xmlns:a16="http://schemas.microsoft.com/office/drawing/2014/main" id="{6BE2D814-89C8-AA83-3B8E-12379E136D2A}"/>
              </a:ext>
            </a:extLst>
          </p:cNvPr>
          <p:cNvSpPr txBox="1"/>
          <p:nvPr/>
        </p:nvSpPr>
        <p:spPr>
          <a:xfrm rot="16200000">
            <a:off x="-597851" y="3590071"/>
            <a:ext cx="1572535" cy="307777"/>
          </a:xfrm>
          <a:prstGeom prst="rect">
            <a:avLst/>
          </a:prstGeom>
          <a:noFill/>
        </p:spPr>
        <p:txBody>
          <a:bodyPr wrap="square" rtlCol="0">
            <a:spAutoFit/>
          </a:bodyPr>
          <a:lstStyle/>
          <a:p>
            <a:pPr algn="r"/>
            <a:r>
              <a:rPr lang="en-CA" sz="1400" dirty="0">
                <a:highlight>
                  <a:srgbClr val="FFFFFF"/>
                </a:highlight>
              </a:rPr>
              <a:t>Power(</a:t>
            </a:r>
            <a:r>
              <a:rPr lang="el-GR" sz="1400" dirty="0">
                <a:highlight>
                  <a:srgbClr val="FFFFFF"/>
                </a:highlight>
                <a:latin typeface="Arial" panose="020B0604020202020204" pitchFamily="34" charset="0"/>
                <a:cs typeface="Arial" panose="020B0604020202020204" pitchFamily="34" charset="0"/>
              </a:rPr>
              <a:t>μ</a:t>
            </a:r>
            <a:r>
              <a:rPr lang="en-CA" sz="1400" dirty="0">
                <a:highlight>
                  <a:srgbClr val="FFFFFF"/>
                </a:highlight>
              </a:rPr>
              <a:t>W)</a:t>
            </a:r>
          </a:p>
        </p:txBody>
      </p:sp>
      <p:sp>
        <p:nvSpPr>
          <p:cNvPr id="6" name="Rectangle 5">
            <a:extLst>
              <a:ext uri="{FF2B5EF4-FFF2-40B4-BE49-F238E27FC236}">
                <a16:creationId xmlns:a16="http://schemas.microsoft.com/office/drawing/2014/main" id="{A91518B7-A60E-1A56-15EF-0672621477FB}"/>
              </a:ext>
            </a:extLst>
          </p:cNvPr>
          <p:cNvSpPr/>
          <p:nvPr/>
        </p:nvSpPr>
        <p:spPr>
          <a:xfrm rot="5400000">
            <a:off x="3303073" y="1769382"/>
            <a:ext cx="383932" cy="139412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TextBox 3">
            <a:extLst>
              <a:ext uri="{FF2B5EF4-FFF2-40B4-BE49-F238E27FC236}">
                <a16:creationId xmlns:a16="http://schemas.microsoft.com/office/drawing/2014/main" id="{C192BE24-821E-423E-5F5B-9B07DB5E6895}"/>
              </a:ext>
            </a:extLst>
          </p:cNvPr>
          <p:cNvSpPr txBox="1"/>
          <p:nvPr/>
        </p:nvSpPr>
        <p:spPr>
          <a:xfrm>
            <a:off x="2726668" y="2256503"/>
            <a:ext cx="1675076" cy="246221"/>
          </a:xfrm>
          <a:prstGeom prst="rect">
            <a:avLst/>
          </a:prstGeom>
          <a:noFill/>
        </p:spPr>
        <p:txBody>
          <a:bodyPr wrap="square" rtlCol="0">
            <a:spAutoFit/>
          </a:bodyPr>
          <a:lstStyle/>
          <a:p>
            <a:pPr algn="l"/>
            <a:r>
              <a:rPr lang="en-CA" sz="1000" dirty="0"/>
              <a:t>e-6 W</a:t>
            </a:r>
            <a:endParaRPr lang="en-CA" sz="1200" dirty="0"/>
          </a:p>
        </p:txBody>
      </p:sp>
    </p:spTree>
    <p:extLst>
      <p:ext uri="{BB962C8B-B14F-4D97-AF65-F5344CB8AC3E}">
        <p14:creationId xmlns:p14="http://schemas.microsoft.com/office/powerpoint/2010/main" val="928775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0944C-B175-E746-CF60-579B283E54F4}"/>
              </a:ext>
            </a:extLst>
          </p:cNvPr>
          <p:cNvSpPr>
            <a:spLocks noGrp="1"/>
          </p:cNvSpPr>
          <p:nvPr>
            <p:ph type="title"/>
          </p:nvPr>
        </p:nvSpPr>
        <p:spPr>
          <a:xfrm>
            <a:off x="274213" y="224108"/>
            <a:ext cx="7098030" cy="553998"/>
          </a:xfrm>
        </p:spPr>
        <p:txBody>
          <a:bodyPr/>
          <a:lstStyle/>
          <a:p>
            <a:r>
              <a:rPr lang="en-CA"/>
              <a:t>Stabilized Segments</a:t>
            </a:r>
          </a:p>
        </p:txBody>
      </p:sp>
      <p:pic>
        <p:nvPicPr>
          <p:cNvPr id="5" name="Picture 20">
            <a:extLst>
              <a:ext uri="{FF2B5EF4-FFF2-40B4-BE49-F238E27FC236}">
                <a16:creationId xmlns:a16="http://schemas.microsoft.com/office/drawing/2014/main" id="{BFC1988D-3925-E2CF-BCF3-35242B9967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47" y="1592796"/>
            <a:ext cx="5057309" cy="393373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68BB42F-EF80-49DD-FEA1-4CE9E3508AD1}"/>
              </a:ext>
            </a:extLst>
          </p:cNvPr>
          <p:cNvPicPr>
            <a:picLocks noChangeAspect="1"/>
          </p:cNvPicPr>
          <p:nvPr/>
        </p:nvPicPr>
        <p:blipFill>
          <a:blip r:embed="rId4"/>
          <a:stretch>
            <a:fillRect/>
          </a:stretch>
        </p:blipFill>
        <p:spPr>
          <a:xfrm rot="10800000" flipH="1" flipV="1">
            <a:off x="755576" y="5125869"/>
            <a:ext cx="4523219" cy="171548"/>
          </a:xfrm>
          <a:prstGeom prst="rect">
            <a:avLst/>
          </a:prstGeom>
        </p:spPr>
      </p:pic>
      <p:pic>
        <p:nvPicPr>
          <p:cNvPr id="3" name="object 8">
            <a:extLst>
              <a:ext uri="{FF2B5EF4-FFF2-40B4-BE49-F238E27FC236}">
                <a16:creationId xmlns:a16="http://schemas.microsoft.com/office/drawing/2014/main" id="{5507D096-2D01-AF56-7065-355D486897A1}"/>
              </a:ext>
            </a:extLst>
          </p:cNvPr>
          <p:cNvPicPr/>
          <p:nvPr/>
        </p:nvPicPr>
        <p:blipFill>
          <a:blip r:embed="rId5" cstate="print"/>
          <a:stretch>
            <a:fillRect/>
          </a:stretch>
        </p:blipFill>
        <p:spPr>
          <a:xfrm>
            <a:off x="8130604" y="0"/>
            <a:ext cx="815819" cy="1226414"/>
          </a:xfrm>
          <a:prstGeom prst="rect">
            <a:avLst/>
          </a:prstGeom>
        </p:spPr>
      </p:pic>
      <p:pic>
        <p:nvPicPr>
          <p:cNvPr id="3074" name="Picture 2">
            <a:extLst>
              <a:ext uri="{FF2B5EF4-FFF2-40B4-BE49-F238E27FC236}">
                <a16:creationId xmlns:a16="http://schemas.microsoft.com/office/drawing/2014/main" id="{7F82804F-5602-20BD-1F51-23F63E4817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63" y="1592796"/>
            <a:ext cx="5632874" cy="430887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774E054-2118-99BA-A0B6-B4D048674535}"/>
              </a:ext>
            </a:extLst>
          </p:cNvPr>
          <p:cNvSpPr txBox="1"/>
          <p:nvPr/>
        </p:nvSpPr>
        <p:spPr>
          <a:xfrm>
            <a:off x="1115616" y="1592796"/>
            <a:ext cx="3663513" cy="276999"/>
          </a:xfrm>
          <a:prstGeom prst="rect">
            <a:avLst/>
          </a:prstGeom>
          <a:solidFill>
            <a:schemeClr val="bg1"/>
          </a:solidFill>
        </p:spPr>
        <p:txBody>
          <a:bodyPr wrap="square" rtlCol="0">
            <a:spAutoFit/>
          </a:bodyPr>
          <a:lstStyle/>
          <a:p>
            <a:pPr algn="ctr"/>
            <a:r>
              <a:rPr lang="en-CA" sz="1200"/>
              <a:t>Unstable Laser Power as a Function of Time</a:t>
            </a:r>
          </a:p>
        </p:txBody>
      </p:sp>
      <p:sp>
        <p:nvSpPr>
          <p:cNvPr id="4" name="Content Placeholder 3">
            <a:extLst>
              <a:ext uri="{FF2B5EF4-FFF2-40B4-BE49-F238E27FC236}">
                <a16:creationId xmlns:a16="http://schemas.microsoft.com/office/drawing/2014/main" id="{249A3489-F675-2B7E-7376-479119C2034A}"/>
              </a:ext>
            </a:extLst>
          </p:cNvPr>
          <p:cNvSpPr>
            <a:spLocks noGrp="1"/>
          </p:cNvSpPr>
          <p:nvPr>
            <p:ph sz="half" idx="3"/>
          </p:nvPr>
        </p:nvSpPr>
        <p:spPr>
          <a:xfrm>
            <a:off x="5623711" y="1844824"/>
            <a:ext cx="3322712" cy="4001095"/>
          </a:xfrm>
        </p:spPr>
        <p:txBody>
          <a:bodyPr/>
          <a:lstStyle/>
          <a:p>
            <a:pPr marL="342900" indent="-342900">
              <a:buFontTx/>
              <a:buChar char="-"/>
            </a:pPr>
            <a:r>
              <a:rPr lang="en-US" dirty="0"/>
              <a:t>Analogous to stable signal in continuous-wave mode</a:t>
            </a:r>
          </a:p>
          <a:p>
            <a:endParaRPr lang="en-CA" dirty="0"/>
          </a:p>
          <a:p>
            <a:pPr marL="342900" indent="-342900">
              <a:buFontTx/>
              <a:buChar char="-"/>
            </a:pPr>
            <a:r>
              <a:rPr lang="en-CA" dirty="0"/>
              <a:t>Intensity fluctuations are reduced</a:t>
            </a:r>
          </a:p>
          <a:p>
            <a:pPr marL="342900" indent="-342900">
              <a:buFontTx/>
              <a:buChar char="-"/>
            </a:pPr>
            <a:endParaRPr lang="en-CA" dirty="0"/>
          </a:p>
          <a:p>
            <a:pPr marL="342900" indent="-342900">
              <a:buFontTx/>
              <a:buChar char="-"/>
            </a:pPr>
            <a:r>
              <a:rPr lang="en-US" dirty="0"/>
              <a:t>Standard deviation on the level of ~ 0.3%</a:t>
            </a:r>
          </a:p>
          <a:p>
            <a:pPr marL="342900" indent="-342900">
              <a:buFontTx/>
              <a:buChar char="-"/>
            </a:pPr>
            <a:endParaRPr lang="en-US" dirty="0"/>
          </a:p>
          <a:p>
            <a:pPr marL="342900" indent="-342900">
              <a:buFontTx/>
              <a:buChar char="-"/>
            </a:pPr>
            <a:endParaRPr lang="en-CA" dirty="0"/>
          </a:p>
          <a:p>
            <a:pPr marL="342900" indent="-342900">
              <a:buFontTx/>
              <a:buChar char="-"/>
            </a:pPr>
            <a:endParaRPr lang="en-CA" dirty="0"/>
          </a:p>
          <a:p>
            <a:pPr marL="342900" indent="-342900">
              <a:buFontTx/>
              <a:buChar char="-"/>
            </a:pPr>
            <a:endParaRPr lang="en-CA" dirty="0"/>
          </a:p>
        </p:txBody>
      </p:sp>
      <p:sp>
        <p:nvSpPr>
          <p:cNvPr id="9" name="TextBox 8">
            <a:extLst>
              <a:ext uri="{FF2B5EF4-FFF2-40B4-BE49-F238E27FC236}">
                <a16:creationId xmlns:a16="http://schemas.microsoft.com/office/drawing/2014/main" id="{BCE8F3FC-AB42-306D-DF5C-4E452631B18E}"/>
              </a:ext>
            </a:extLst>
          </p:cNvPr>
          <p:cNvSpPr txBox="1"/>
          <p:nvPr/>
        </p:nvSpPr>
        <p:spPr>
          <a:xfrm rot="16200000">
            <a:off x="-641542" y="3663517"/>
            <a:ext cx="1572535" cy="307777"/>
          </a:xfrm>
          <a:prstGeom prst="rect">
            <a:avLst/>
          </a:prstGeom>
          <a:noFill/>
        </p:spPr>
        <p:txBody>
          <a:bodyPr wrap="square" rtlCol="0">
            <a:spAutoFit/>
          </a:bodyPr>
          <a:lstStyle/>
          <a:p>
            <a:pPr algn="r"/>
            <a:r>
              <a:rPr lang="en-CA" sz="1400" dirty="0">
                <a:highlight>
                  <a:srgbClr val="FFFFFF"/>
                </a:highlight>
              </a:rPr>
              <a:t>Power(</a:t>
            </a:r>
            <a:r>
              <a:rPr lang="el-GR" sz="1400" dirty="0">
                <a:highlight>
                  <a:srgbClr val="FFFFFF"/>
                </a:highlight>
                <a:latin typeface="Arial" panose="020B0604020202020204" pitchFamily="34" charset="0"/>
                <a:cs typeface="Arial" panose="020B0604020202020204" pitchFamily="34" charset="0"/>
              </a:rPr>
              <a:t>μ</a:t>
            </a:r>
            <a:r>
              <a:rPr lang="en-CA" sz="1400" dirty="0">
                <a:highlight>
                  <a:srgbClr val="FFFFFF"/>
                </a:highlight>
              </a:rPr>
              <a:t>W)</a:t>
            </a:r>
          </a:p>
        </p:txBody>
      </p:sp>
      <p:sp>
        <p:nvSpPr>
          <p:cNvPr id="10" name="Rectangle 9">
            <a:extLst>
              <a:ext uri="{FF2B5EF4-FFF2-40B4-BE49-F238E27FC236}">
                <a16:creationId xmlns:a16="http://schemas.microsoft.com/office/drawing/2014/main" id="{AA4B02EF-B74E-AF63-E928-17F6885D4CE4}"/>
              </a:ext>
            </a:extLst>
          </p:cNvPr>
          <p:cNvSpPr/>
          <p:nvPr/>
        </p:nvSpPr>
        <p:spPr>
          <a:xfrm rot="5400000">
            <a:off x="3174968" y="2882565"/>
            <a:ext cx="383932" cy="139412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TextBox 10">
            <a:extLst>
              <a:ext uri="{FF2B5EF4-FFF2-40B4-BE49-F238E27FC236}">
                <a16:creationId xmlns:a16="http://schemas.microsoft.com/office/drawing/2014/main" id="{312BDC9F-D3FE-EEA4-0DD7-18C3CDD68C57}"/>
              </a:ext>
            </a:extLst>
          </p:cNvPr>
          <p:cNvSpPr txBox="1"/>
          <p:nvPr/>
        </p:nvSpPr>
        <p:spPr>
          <a:xfrm>
            <a:off x="2598563" y="3369686"/>
            <a:ext cx="1675076" cy="246221"/>
          </a:xfrm>
          <a:prstGeom prst="rect">
            <a:avLst/>
          </a:prstGeom>
          <a:noFill/>
        </p:spPr>
        <p:txBody>
          <a:bodyPr wrap="square" rtlCol="0">
            <a:spAutoFit/>
          </a:bodyPr>
          <a:lstStyle/>
          <a:p>
            <a:pPr algn="l"/>
            <a:r>
              <a:rPr lang="en-CA" sz="1000" dirty="0"/>
              <a:t>e-7 W</a:t>
            </a:r>
            <a:endParaRPr lang="en-CA" sz="1200" dirty="0"/>
          </a:p>
        </p:txBody>
      </p:sp>
    </p:spTree>
    <p:extLst>
      <p:ext uri="{BB962C8B-B14F-4D97-AF65-F5344CB8AC3E}">
        <p14:creationId xmlns:p14="http://schemas.microsoft.com/office/powerpoint/2010/main" val="2212357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7BC82-0AE1-285A-F9EB-9DC20B5B47A7}"/>
              </a:ext>
            </a:extLst>
          </p:cNvPr>
          <p:cNvSpPr>
            <a:spLocks noGrp="1"/>
          </p:cNvSpPr>
          <p:nvPr>
            <p:ph type="title"/>
          </p:nvPr>
        </p:nvSpPr>
        <p:spPr>
          <a:xfrm>
            <a:off x="927064" y="104946"/>
            <a:ext cx="7098030" cy="553998"/>
          </a:xfrm>
        </p:spPr>
        <p:txBody>
          <a:bodyPr/>
          <a:lstStyle/>
          <a:p>
            <a:r>
              <a:rPr lang="en-CA" dirty="0"/>
              <a:t>S&amp;H Data Analysis </a:t>
            </a:r>
          </a:p>
        </p:txBody>
      </p:sp>
      <p:pic>
        <p:nvPicPr>
          <p:cNvPr id="4" name="object 8">
            <a:extLst>
              <a:ext uri="{FF2B5EF4-FFF2-40B4-BE49-F238E27FC236}">
                <a16:creationId xmlns:a16="http://schemas.microsoft.com/office/drawing/2014/main" id="{A2EA79C7-B914-5E64-7931-7BAA16F53E2B}"/>
              </a:ext>
            </a:extLst>
          </p:cNvPr>
          <p:cNvPicPr/>
          <p:nvPr/>
        </p:nvPicPr>
        <p:blipFill>
          <a:blip r:embed="rId3" cstate="print"/>
          <a:stretch>
            <a:fillRect/>
          </a:stretch>
        </p:blipFill>
        <p:spPr>
          <a:xfrm>
            <a:off x="8130604" y="0"/>
            <a:ext cx="815819" cy="1226414"/>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4F5167-5810-57F7-2785-47889F375D48}"/>
                  </a:ext>
                </a:extLst>
              </p:cNvPr>
              <p:cNvSpPr>
                <a:spLocks noGrp="1"/>
              </p:cNvSpPr>
              <p:nvPr>
                <p:ph sz="half" idx="2"/>
              </p:nvPr>
            </p:nvSpPr>
            <p:spPr>
              <a:xfrm>
                <a:off x="5363937" y="2087014"/>
                <a:ext cx="3430854" cy="2949975"/>
              </a:xfrm>
            </p:spPr>
            <p:txBody>
              <a:bodyPr/>
              <a:lstStyle/>
              <a:p>
                <a:pPr marL="342900" indent="-342900" algn="ctr">
                  <a:buFontTx/>
                  <a:buChar char="-"/>
                </a:pPr>
                <a:r>
                  <a:rPr lang="en-CA" sz="1600" dirty="0"/>
                  <a:t>Gaussian fits to find FWHM (</a:t>
                </a:r>
                <a:r>
                  <a:rPr lang="el-GR" sz="1600" b="1" dirty="0">
                    <a:latin typeface="Arial" panose="020B0604020202020204" pitchFamily="34" charset="0"/>
                    <a:cs typeface="Arial" panose="020B0604020202020204" pitchFamily="34" charset="0"/>
                  </a:rPr>
                  <a:t>σ</a:t>
                </a:r>
                <a:r>
                  <a:rPr lang="en-CA" sz="1600" b="1" dirty="0">
                    <a:latin typeface="Arial" panose="020B0604020202020204" pitchFamily="34" charset="0"/>
                    <a:cs typeface="Arial" panose="020B0604020202020204" pitchFamily="34" charset="0"/>
                  </a:rPr>
                  <a:t>)</a:t>
                </a:r>
              </a:p>
              <a:p>
                <a:pPr marL="342900" indent="-342900" algn="ctr">
                  <a:buFontTx/>
                  <a:buChar char="-"/>
                </a:pPr>
                <a:endParaRPr lang="en-CA" sz="1600" dirty="0">
                  <a:latin typeface="Arial" panose="020B0604020202020204" pitchFamily="34" charset="0"/>
                  <a:cs typeface="Arial" panose="020B0604020202020204" pitchFamily="34" charset="0"/>
                </a:endParaRPr>
              </a:p>
              <a:p>
                <a:pPr marL="342900" indent="-342900" algn="ctr">
                  <a:buFontTx/>
                  <a:buChar char="-"/>
                </a:pPr>
                <a:r>
                  <a:rPr lang="en-CA" sz="1600" b="1" dirty="0">
                    <a:latin typeface="Arial" panose="020B0604020202020204" pitchFamily="34" charset="0"/>
                    <a:cs typeface="Arial" panose="020B0604020202020204" pitchFamily="34" charset="0"/>
                  </a:rPr>
                  <a:t>Intensity Stabilization Parameter (</a:t>
                </a:r>
                <a:r>
                  <a:rPr lang="el-GR" sz="1600" b="1" dirty="0">
                    <a:latin typeface="Arial" panose="020B0604020202020204" pitchFamily="34" charset="0"/>
                    <a:cs typeface="Arial" panose="020B0604020202020204" pitchFamily="34" charset="0"/>
                  </a:rPr>
                  <a:t>δ</a:t>
                </a:r>
                <a:r>
                  <a:rPr lang="en-CA" sz="1600" b="1" dirty="0">
                    <a:latin typeface="Arial" panose="020B0604020202020204" pitchFamily="34" charset="0"/>
                    <a:cs typeface="Arial" panose="020B0604020202020204" pitchFamily="34" charset="0"/>
                  </a:rPr>
                  <a:t>)</a:t>
                </a:r>
              </a:p>
              <a:p>
                <a:pPr marL="342900" indent="-342900" algn="ctr">
                  <a:buFontTx/>
                  <a:buChar char="-"/>
                </a:pPr>
                <a:endParaRPr lang="en-CA" sz="1600" b="1" dirty="0"/>
              </a:p>
              <a:p>
                <a:endParaRPr lang="en-CA" sz="1600" dirty="0"/>
              </a:p>
              <a:p>
                <a:pPr algn="ctr"/>
                <a14:m>
                  <m:oMath xmlns:m="http://schemas.openxmlformats.org/officeDocument/2006/math">
                    <m:r>
                      <m:rPr>
                        <m:nor/>
                      </m:rPr>
                      <a:rPr lang="el-GR" sz="1600" b="1" dirty="0" smtClean="0">
                        <a:latin typeface="Arial" panose="020B0604020202020204" pitchFamily="34" charset="0"/>
                        <a:cs typeface="Arial" panose="020B0604020202020204" pitchFamily="34" charset="0"/>
                      </a:rPr>
                      <m:t>δ</m:t>
                    </m:r>
                    <m:r>
                      <a:rPr lang="en-US" sz="1600" b="1" i="1" smtClean="0">
                        <a:latin typeface="Cambria Math" panose="02040503050406030204" pitchFamily="18" charset="0"/>
                        <a:cs typeface="Arial" panose="020B0604020202020204" pitchFamily="34" charset="0"/>
                      </a:rPr>
                      <m:t>=</m:t>
                    </m:r>
                    <m:f>
                      <m:fPr>
                        <m:ctrlPr>
                          <a:rPr lang="en-US" sz="1600" b="1" i="1" smtClean="0">
                            <a:latin typeface="Cambria Math" panose="02040503050406030204" pitchFamily="18" charset="0"/>
                            <a:cs typeface="Arial" panose="020B0604020202020204" pitchFamily="34" charset="0"/>
                          </a:rPr>
                        </m:ctrlPr>
                      </m:fPr>
                      <m:num>
                        <m:r>
                          <m:rPr>
                            <m:nor/>
                          </m:rPr>
                          <a:rPr lang="el-GR" sz="1600" b="1" dirty="0" smtClean="0">
                            <a:latin typeface="Arial" panose="020B0604020202020204" pitchFamily="34" charset="0"/>
                            <a:cs typeface="Arial" panose="020B0604020202020204" pitchFamily="34" charset="0"/>
                          </a:rPr>
                          <m:t>σ</m:t>
                        </m:r>
                        <m:r>
                          <m:rPr>
                            <m:nor/>
                          </m:rPr>
                          <a:rPr lang="en-CA" sz="1600" b="0" i="0" baseline="-25000" dirty="0" smtClean="0">
                            <a:solidFill>
                              <a:srgbClr val="000000"/>
                            </a:solidFill>
                            <a:effectLst/>
                            <a:latin typeface="Times New Roman" panose="02020603050405020304" pitchFamily="18" charset="0"/>
                          </a:rPr>
                          <m:t>1</m:t>
                        </m:r>
                      </m:num>
                      <m:den>
                        <m:r>
                          <m:rPr>
                            <m:nor/>
                          </m:rPr>
                          <a:rPr lang="el-GR" sz="1600" b="1" dirty="0" smtClean="0">
                            <a:latin typeface="Arial" panose="020B0604020202020204" pitchFamily="34" charset="0"/>
                            <a:cs typeface="Arial" panose="020B0604020202020204" pitchFamily="34" charset="0"/>
                          </a:rPr>
                          <m:t>σ</m:t>
                        </m:r>
                        <m:r>
                          <m:rPr>
                            <m:nor/>
                          </m:rPr>
                          <a:rPr lang="en-CA" sz="1600" b="0" i="0" baseline="-25000" dirty="0" smtClean="0">
                            <a:solidFill>
                              <a:srgbClr val="000000"/>
                            </a:solidFill>
                            <a:effectLst/>
                            <a:latin typeface="Times New Roman" panose="02020603050405020304" pitchFamily="18" charset="0"/>
                          </a:rPr>
                          <m:t>2</m:t>
                        </m:r>
                      </m:den>
                    </m:f>
                    <m:r>
                      <a:rPr lang="en-CA" sz="1600" b="1" i="1" smtClean="0">
                        <a:latin typeface="Cambria Math" panose="02040503050406030204" pitchFamily="18" charset="0"/>
                        <a:cs typeface="Arial" panose="020B0604020202020204" pitchFamily="34" charset="0"/>
                      </a:rPr>
                      <m:t>=</m:t>
                    </m:r>
                  </m:oMath>
                </a14:m>
                <a:r>
                  <a:rPr lang="en-CA" sz="1600" b="1" dirty="0">
                    <a:latin typeface="Arial" panose="020B0604020202020204" pitchFamily="34" charset="0"/>
                    <a:cs typeface="Arial" panose="020B0604020202020204" pitchFamily="34" charset="0"/>
                  </a:rPr>
                  <a:t> 3.17</a:t>
                </a:r>
              </a:p>
              <a:p>
                <a:pPr algn="l"/>
                <a:endParaRPr lang="en-CA" sz="1400" b="0" dirty="0">
                  <a:latin typeface="Arial" panose="020B0604020202020204" pitchFamily="34" charset="0"/>
                  <a:cs typeface="Arial" panose="020B0604020202020204" pitchFamily="34" charset="0"/>
                </a:endParaRPr>
              </a:p>
              <a:p>
                <a:pPr algn="l"/>
                <a:endParaRPr lang="en-CA" sz="1400" b="0" dirty="0">
                  <a:latin typeface="Arial" panose="020B0604020202020204" pitchFamily="34" charset="0"/>
                  <a:cs typeface="Arial" panose="020B0604020202020204" pitchFamily="34" charset="0"/>
                </a:endParaRPr>
              </a:p>
              <a:p>
                <a:pPr algn="l"/>
                <a:r>
                  <a:rPr lang="en-CA" sz="1400" b="0" dirty="0">
                    <a:latin typeface="Arial" panose="020B0604020202020204" pitchFamily="34" charset="0"/>
                    <a:cs typeface="Arial" panose="020B0604020202020204" pitchFamily="34" charset="0"/>
                  </a:rPr>
                  <a:t>FWHM Stabilized =0.47 </a:t>
                </a:r>
                <a:r>
                  <a:rPr lang="el-GR" sz="1400" b="0" dirty="0">
                    <a:latin typeface="Arial" panose="020B0604020202020204" pitchFamily="34" charset="0"/>
                    <a:cs typeface="Arial" panose="020B0604020202020204" pitchFamily="34" charset="0"/>
                  </a:rPr>
                  <a:t>μ</a:t>
                </a:r>
                <a:r>
                  <a:rPr lang="en-CA" sz="1400" b="0" dirty="0">
                    <a:latin typeface="Arial" panose="020B0604020202020204" pitchFamily="34" charset="0"/>
                    <a:cs typeface="Arial" panose="020B0604020202020204" pitchFamily="34" charset="0"/>
                  </a:rPr>
                  <a:t>W</a:t>
                </a:r>
              </a:p>
              <a:p>
                <a:pPr algn="l"/>
                <a:r>
                  <a:rPr lang="en-CA" sz="1400" b="0" dirty="0">
                    <a:latin typeface="Arial" panose="020B0604020202020204" pitchFamily="34" charset="0"/>
                    <a:cs typeface="Arial" panose="020B0604020202020204" pitchFamily="34" charset="0"/>
                  </a:rPr>
                  <a:t>FWHM Unstabilized = 1.50 </a:t>
                </a:r>
                <a:r>
                  <a:rPr lang="el-GR" sz="1400" b="0" dirty="0">
                    <a:latin typeface="Arial" panose="020B0604020202020204" pitchFamily="34" charset="0"/>
                    <a:cs typeface="Arial" panose="020B0604020202020204" pitchFamily="34" charset="0"/>
                  </a:rPr>
                  <a:t>μ</a:t>
                </a:r>
                <a:r>
                  <a:rPr lang="en-CA" sz="1400" b="0" dirty="0">
                    <a:latin typeface="Arial" panose="020B0604020202020204" pitchFamily="34" charset="0"/>
                    <a:cs typeface="Arial" panose="020B0604020202020204" pitchFamily="34" charset="0"/>
                  </a:rPr>
                  <a:t>W</a:t>
                </a:r>
                <a:endParaRPr lang="en-CA" sz="1400" b="0" dirty="0"/>
              </a:p>
              <a:p>
                <a:pPr marL="342900" indent="-342900">
                  <a:buFontTx/>
                  <a:buChar char="-"/>
                </a:pPr>
                <a:endParaRPr lang="en-CA" sz="1600" dirty="0"/>
              </a:p>
            </p:txBody>
          </p:sp>
        </mc:Choice>
        <mc:Fallback xmlns="">
          <p:sp>
            <p:nvSpPr>
              <p:cNvPr id="3" name="Content Placeholder 2">
                <a:extLst>
                  <a:ext uri="{FF2B5EF4-FFF2-40B4-BE49-F238E27FC236}">
                    <a16:creationId xmlns:a16="http://schemas.microsoft.com/office/drawing/2014/main" id="{454F5167-5810-57F7-2785-47889F375D48}"/>
                  </a:ext>
                </a:extLst>
              </p:cNvPr>
              <p:cNvSpPr>
                <a:spLocks noGrp="1" noRot="1" noChangeAspect="1" noMove="1" noResize="1" noEditPoints="1" noAdjustHandles="1" noChangeArrowheads="1" noChangeShapeType="1" noTextEdit="1"/>
              </p:cNvSpPr>
              <p:nvPr>
                <p:ph sz="half" idx="2"/>
              </p:nvPr>
            </p:nvSpPr>
            <p:spPr>
              <a:xfrm>
                <a:off x="5363937" y="2087014"/>
                <a:ext cx="3430854" cy="2949975"/>
              </a:xfrm>
              <a:blipFill>
                <a:blip r:embed="rId4"/>
                <a:stretch>
                  <a:fillRect l="-3197" t="-2066" r="-1776"/>
                </a:stretch>
              </a:blipFill>
            </p:spPr>
            <p:txBody>
              <a:bodyPr/>
              <a:lstStyle/>
              <a:p>
                <a:r>
                  <a:rPr lang="en-CA">
                    <a:noFill/>
                  </a:rPr>
                  <a:t> </a:t>
                </a:r>
              </a:p>
            </p:txBody>
          </p:sp>
        </mc:Fallback>
      </mc:AlternateContent>
      <p:sp>
        <p:nvSpPr>
          <p:cNvPr id="5" name="TextBox 4">
            <a:extLst>
              <a:ext uri="{FF2B5EF4-FFF2-40B4-BE49-F238E27FC236}">
                <a16:creationId xmlns:a16="http://schemas.microsoft.com/office/drawing/2014/main" id="{A665BE02-2B8C-6FA8-2694-C16FC676101F}"/>
              </a:ext>
            </a:extLst>
          </p:cNvPr>
          <p:cNvSpPr txBox="1"/>
          <p:nvPr/>
        </p:nvSpPr>
        <p:spPr>
          <a:xfrm>
            <a:off x="3435722" y="2311297"/>
            <a:ext cx="1530963" cy="184526"/>
          </a:xfrm>
          <a:prstGeom prst="rect">
            <a:avLst/>
          </a:prstGeom>
          <a:solidFill>
            <a:schemeClr val="bg1"/>
          </a:solidFill>
        </p:spPr>
        <p:txBody>
          <a:bodyPr wrap="square" rtlCol="0">
            <a:spAutoFit/>
          </a:bodyPr>
          <a:lstStyle/>
          <a:p>
            <a:pPr algn="ctr"/>
            <a:endParaRPr lang="en-CA" sz="1400" dirty="0"/>
          </a:p>
        </p:txBody>
      </p:sp>
      <p:sp>
        <p:nvSpPr>
          <p:cNvPr id="8" name="TextBox 7">
            <a:extLst>
              <a:ext uri="{FF2B5EF4-FFF2-40B4-BE49-F238E27FC236}">
                <a16:creationId xmlns:a16="http://schemas.microsoft.com/office/drawing/2014/main" id="{02779C94-C772-0978-8D19-7483BE37982C}"/>
              </a:ext>
            </a:extLst>
          </p:cNvPr>
          <p:cNvSpPr txBox="1"/>
          <p:nvPr/>
        </p:nvSpPr>
        <p:spPr>
          <a:xfrm>
            <a:off x="2450003" y="2495823"/>
            <a:ext cx="1971438" cy="184526"/>
          </a:xfrm>
          <a:prstGeom prst="rect">
            <a:avLst/>
          </a:prstGeom>
          <a:solidFill>
            <a:schemeClr val="bg1"/>
          </a:solidFill>
        </p:spPr>
        <p:txBody>
          <a:bodyPr wrap="square" rtlCol="0">
            <a:spAutoFit/>
          </a:bodyPr>
          <a:lstStyle/>
          <a:p>
            <a:pPr algn="ctr"/>
            <a:endParaRPr lang="en-CA" sz="1400" dirty="0"/>
          </a:p>
        </p:txBody>
      </p:sp>
      <p:pic>
        <p:nvPicPr>
          <p:cNvPr id="2050" name="Picture 2">
            <a:extLst>
              <a:ext uri="{FF2B5EF4-FFF2-40B4-BE49-F238E27FC236}">
                <a16:creationId xmlns:a16="http://schemas.microsoft.com/office/drawing/2014/main" id="{6A8E5EDA-242B-3785-4288-FE8F0227B18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73" t="1545" r="1559" b="1230"/>
          <a:stretch/>
        </p:blipFill>
        <p:spPr bwMode="auto">
          <a:xfrm>
            <a:off x="0" y="1779237"/>
            <a:ext cx="5175287" cy="429946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FF0723A-4263-9535-7FD5-667CC26FB33E}"/>
              </a:ext>
            </a:extLst>
          </p:cNvPr>
          <p:cNvSpPr txBox="1"/>
          <p:nvPr/>
        </p:nvSpPr>
        <p:spPr>
          <a:xfrm>
            <a:off x="745923" y="1404232"/>
            <a:ext cx="4249736" cy="369332"/>
          </a:xfrm>
          <a:prstGeom prst="rect">
            <a:avLst/>
          </a:prstGeom>
          <a:noFill/>
        </p:spPr>
        <p:txBody>
          <a:bodyPr wrap="square" rtlCol="0">
            <a:spAutoFit/>
          </a:bodyPr>
          <a:lstStyle/>
          <a:p>
            <a:pPr algn="ctr"/>
            <a:r>
              <a:rPr lang="en-CA" dirty="0"/>
              <a:t>Laser Intensity Histograms</a:t>
            </a:r>
          </a:p>
        </p:txBody>
      </p:sp>
      <p:cxnSp>
        <p:nvCxnSpPr>
          <p:cNvPr id="9" name="Connector: Elbow 8">
            <a:extLst>
              <a:ext uri="{FF2B5EF4-FFF2-40B4-BE49-F238E27FC236}">
                <a16:creationId xmlns:a16="http://schemas.microsoft.com/office/drawing/2014/main" id="{C463D370-FB45-3673-D363-F53D44EB3EF1}"/>
              </a:ext>
            </a:extLst>
          </p:cNvPr>
          <p:cNvCxnSpPr/>
          <p:nvPr/>
        </p:nvCxnSpPr>
        <p:spPr>
          <a:xfrm>
            <a:off x="2020186" y="2579310"/>
            <a:ext cx="850605" cy="276789"/>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A51B86AC-01BE-72A8-1F48-01BEF17617D3}"/>
              </a:ext>
            </a:extLst>
          </p:cNvPr>
          <p:cNvCxnSpPr>
            <a:cxnSpLocks/>
          </p:cNvCxnSpPr>
          <p:nvPr/>
        </p:nvCxnSpPr>
        <p:spPr>
          <a:xfrm rot="10800000" flipV="1">
            <a:off x="3290777" y="3928971"/>
            <a:ext cx="505046" cy="500510"/>
          </a:xfrm>
          <a:prstGeom prst="bentConnector3">
            <a:avLst/>
          </a:prstGeom>
          <a:ln>
            <a:solidFill>
              <a:srgbClr val="0512BB"/>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2E1BD76-D48B-4B57-EFCF-5042E6EDA351}"/>
              </a:ext>
            </a:extLst>
          </p:cNvPr>
          <p:cNvSpPr txBox="1"/>
          <p:nvPr/>
        </p:nvSpPr>
        <p:spPr>
          <a:xfrm>
            <a:off x="-556694" y="2432689"/>
            <a:ext cx="4249736" cy="276999"/>
          </a:xfrm>
          <a:prstGeom prst="rect">
            <a:avLst/>
          </a:prstGeom>
          <a:noFill/>
        </p:spPr>
        <p:txBody>
          <a:bodyPr wrap="square" rtlCol="0">
            <a:spAutoFit/>
          </a:bodyPr>
          <a:lstStyle/>
          <a:p>
            <a:pPr algn="ctr"/>
            <a:r>
              <a:rPr lang="en-CA" sz="1200" dirty="0"/>
              <a:t>Stabilized</a:t>
            </a:r>
          </a:p>
        </p:txBody>
      </p:sp>
      <p:sp>
        <p:nvSpPr>
          <p:cNvPr id="15" name="TextBox 14">
            <a:extLst>
              <a:ext uri="{FF2B5EF4-FFF2-40B4-BE49-F238E27FC236}">
                <a16:creationId xmlns:a16="http://schemas.microsoft.com/office/drawing/2014/main" id="{10F4399A-28B9-DE0D-1C20-6D9393C6C756}"/>
              </a:ext>
            </a:extLst>
          </p:cNvPr>
          <p:cNvSpPr txBox="1"/>
          <p:nvPr/>
        </p:nvSpPr>
        <p:spPr>
          <a:xfrm>
            <a:off x="2136888" y="3801418"/>
            <a:ext cx="4249736" cy="276999"/>
          </a:xfrm>
          <a:prstGeom prst="rect">
            <a:avLst/>
          </a:prstGeom>
          <a:noFill/>
        </p:spPr>
        <p:txBody>
          <a:bodyPr wrap="square" rtlCol="0">
            <a:spAutoFit/>
          </a:bodyPr>
          <a:lstStyle/>
          <a:p>
            <a:pPr algn="ctr"/>
            <a:r>
              <a:rPr lang="en-CA" sz="1200" dirty="0"/>
              <a:t>Unstabilized</a:t>
            </a:r>
          </a:p>
        </p:txBody>
      </p:sp>
      <p:sp>
        <p:nvSpPr>
          <p:cNvPr id="7" name="TextBox 6">
            <a:extLst>
              <a:ext uri="{FF2B5EF4-FFF2-40B4-BE49-F238E27FC236}">
                <a16:creationId xmlns:a16="http://schemas.microsoft.com/office/drawing/2014/main" id="{D70FC837-4167-26AB-D1C4-545ED0534926}"/>
              </a:ext>
            </a:extLst>
          </p:cNvPr>
          <p:cNvSpPr txBox="1"/>
          <p:nvPr/>
        </p:nvSpPr>
        <p:spPr>
          <a:xfrm>
            <a:off x="1925439" y="5822823"/>
            <a:ext cx="1572535" cy="307777"/>
          </a:xfrm>
          <a:prstGeom prst="rect">
            <a:avLst/>
          </a:prstGeom>
          <a:noFill/>
        </p:spPr>
        <p:txBody>
          <a:bodyPr wrap="square" rtlCol="0">
            <a:spAutoFit/>
          </a:bodyPr>
          <a:lstStyle/>
          <a:p>
            <a:pPr algn="r"/>
            <a:r>
              <a:rPr lang="en-CA" sz="1400" dirty="0">
                <a:highlight>
                  <a:srgbClr val="FFFFFF"/>
                </a:highlight>
              </a:rPr>
              <a:t>Power(</a:t>
            </a:r>
            <a:r>
              <a:rPr lang="el-GR" sz="1400" dirty="0">
                <a:highlight>
                  <a:srgbClr val="FFFFFF"/>
                </a:highlight>
                <a:latin typeface="Arial" panose="020B0604020202020204" pitchFamily="34" charset="0"/>
                <a:cs typeface="Arial" panose="020B0604020202020204" pitchFamily="34" charset="0"/>
              </a:rPr>
              <a:t>μ</a:t>
            </a:r>
            <a:r>
              <a:rPr lang="en-CA" sz="1400" dirty="0">
                <a:highlight>
                  <a:srgbClr val="FFFFFF"/>
                </a:highlight>
              </a:rPr>
              <a:t>W)</a:t>
            </a:r>
          </a:p>
        </p:txBody>
      </p:sp>
    </p:spTree>
    <p:extLst>
      <p:ext uri="{BB962C8B-B14F-4D97-AF65-F5344CB8AC3E}">
        <p14:creationId xmlns:p14="http://schemas.microsoft.com/office/powerpoint/2010/main" val="3755186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AC14D-1050-D959-4232-BEAD42D8D48D}"/>
              </a:ext>
            </a:extLst>
          </p:cNvPr>
          <p:cNvSpPr>
            <a:spLocks noGrp="1"/>
          </p:cNvSpPr>
          <p:nvPr>
            <p:ph type="title"/>
          </p:nvPr>
        </p:nvSpPr>
        <p:spPr>
          <a:xfrm>
            <a:off x="630108" y="419221"/>
            <a:ext cx="3733020" cy="553998"/>
          </a:xfrm>
        </p:spPr>
        <p:txBody>
          <a:bodyPr/>
          <a:lstStyle/>
          <a:p>
            <a:r>
              <a:rPr lang="en-CA" dirty="0"/>
              <a:t>Conclusions</a:t>
            </a:r>
          </a:p>
        </p:txBody>
      </p:sp>
      <p:sp>
        <p:nvSpPr>
          <p:cNvPr id="3" name="Content Placeholder 2">
            <a:extLst>
              <a:ext uri="{FF2B5EF4-FFF2-40B4-BE49-F238E27FC236}">
                <a16:creationId xmlns:a16="http://schemas.microsoft.com/office/drawing/2014/main" id="{F13BD4CA-439B-0D4D-2CC7-5D936ACF146F}"/>
              </a:ext>
            </a:extLst>
          </p:cNvPr>
          <p:cNvSpPr>
            <a:spLocks noGrp="1"/>
          </p:cNvSpPr>
          <p:nvPr>
            <p:ph sz="half" idx="2"/>
          </p:nvPr>
        </p:nvSpPr>
        <p:spPr>
          <a:xfrm>
            <a:off x="186411" y="1503855"/>
            <a:ext cx="8579296" cy="3939540"/>
          </a:xfrm>
        </p:spPr>
        <p:txBody>
          <a:bodyPr/>
          <a:lstStyle/>
          <a:p>
            <a:pPr marL="285750" indent="-285750">
              <a:buFontTx/>
              <a:buChar char="-"/>
            </a:pPr>
            <a:r>
              <a:rPr lang="en-CA" sz="1600" dirty="0"/>
              <a:t>Demonstrated laser intensity stabilization in both continuous-waveform and pulsed modes</a:t>
            </a:r>
          </a:p>
          <a:p>
            <a:pPr marL="285750" indent="-285750">
              <a:buFontTx/>
              <a:buChar char="-"/>
            </a:pPr>
            <a:endParaRPr lang="en-CA" sz="1600" dirty="0"/>
          </a:p>
          <a:p>
            <a:pPr marL="285750" indent="-285750">
              <a:buFontTx/>
              <a:buChar char="-"/>
            </a:pPr>
            <a:r>
              <a:rPr lang="en-CA" sz="1600" dirty="0"/>
              <a:t>Accomplished by using an analog circuit that routes a correction signal to a variable RF attenuator that drives an AOM</a:t>
            </a:r>
          </a:p>
          <a:p>
            <a:pPr marL="285750" indent="-285750">
              <a:buFontTx/>
              <a:buChar char="-"/>
            </a:pPr>
            <a:endParaRPr lang="en-CA" sz="1600" dirty="0"/>
          </a:p>
          <a:p>
            <a:pPr marL="285750" indent="-285750">
              <a:buFontTx/>
              <a:buChar char="-"/>
            </a:pPr>
            <a:r>
              <a:rPr lang="en-CA" sz="1600" dirty="0"/>
              <a:t>Cost effective (Circuit budget of $500, electronics, laser and optics budget of $10,000)</a:t>
            </a:r>
          </a:p>
          <a:p>
            <a:pPr marL="285750" indent="-285750">
              <a:buFontTx/>
              <a:buChar char="-"/>
            </a:pPr>
            <a:endParaRPr lang="en-CA" sz="1600" dirty="0"/>
          </a:p>
          <a:p>
            <a:pPr marL="285750" indent="-285750">
              <a:buFontTx/>
              <a:buChar char="-"/>
            </a:pPr>
            <a:r>
              <a:rPr lang="en-CA" sz="1600" dirty="0"/>
              <a:t>Can be used in a broad range of experiments</a:t>
            </a:r>
          </a:p>
          <a:p>
            <a:pPr marL="285750" indent="-285750">
              <a:buFontTx/>
              <a:buChar char="-"/>
            </a:pPr>
            <a:endParaRPr lang="en-CA" sz="1400" dirty="0"/>
          </a:p>
          <a:p>
            <a:pPr marL="742950" lvl="1" indent="-285750">
              <a:buFontTx/>
              <a:buChar char="-"/>
            </a:pPr>
            <a:r>
              <a:rPr lang="en-CA" sz="1400" dirty="0"/>
              <a:t>In </a:t>
            </a:r>
            <a:r>
              <a:rPr lang="en-CA" sz="1400" b="1" dirty="0"/>
              <a:t>optical tweezers</a:t>
            </a:r>
            <a:r>
              <a:rPr lang="en-CA" sz="1400" dirty="0"/>
              <a:t>, the spring constant is proportional to laser intensity which improves with active intensity stabilization</a:t>
            </a:r>
          </a:p>
          <a:p>
            <a:pPr marL="742950" lvl="1" indent="-285750">
              <a:buFontTx/>
              <a:buChar char="-"/>
            </a:pPr>
            <a:endParaRPr lang="en-CA" sz="1400" dirty="0"/>
          </a:p>
          <a:p>
            <a:pPr marL="742950" lvl="1" indent="-285750">
              <a:buFontTx/>
              <a:buChar char="-"/>
            </a:pPr>
            <a:r>
              <a:rPr lang="en-CA" sz="1400" dirty="0"/>
              <a:t>In </a:t>
            </a:r>
            <a:r>
              <a:rPr lang="en-CA" sz="1400" b="1" dirty="0"/>
              <a:t>atom trapping</a:t>
            </a:r>
            <a:r>
              <a:rPr lang="en-CA" sz="1400" dirty="0"/>
              <a:t>, the number of atoms loaded in the atom trap can be stabilized</a:t>
            </a:r>
          </a:p>
          <a:p>
            <a:pPr marL="742950" lvl="1" indent="-285750">
              <a:buFontTx/>
              <a:buChar char="-"/>
            </a:pPr>
            <a:endParaRPr lang="en-CA" sz="1400" dirty="0"/>
          </a:p>
          <a:p>
            <a:pPr marL="742950" lvl="1" indent="-285750">
              <a:buFontTx/>
              <a:buChar char="-"/>
            </a:pPr>
            <a:r>
              <a:rPr lang="en-CA" sz="1400" dirty="0"/>
              <a:t>Outputs of </a:t>
            </a:r>
            <a:r>
              <a:rPr lang="en-CA" sz="1400" b="1" dirty="0"/>
              <a:t>high-power tapered wave-guide amplifiers </a:t>
            </a:r>
            <a:r>
              <a:rPr lang="en-CA" sz="1400" dirty="0"/>
              <a:t>can be stabilized</a:t>
            </a:r>
          </a:p>
          <a:p>
            <a:pPr lvl="1"/>
            <a:endParaRPr lang="en-CA" sz="1400" dirty="0"/>
          </a:p>
        </p:txBody>
      </p:sp>
      <p:pic>
        <p:nvPicPr>
          <p:cNvPr id="5" name="object 7">
            <a:extLst>
              <a:ext uri="{FF2B5EF4-FFF2-40B4-BE49-F238E27FC236}">
                <a16:creationId xmlns:a16="http://schemas.microsoft.com/office/drawing/2014/main" id="{089457C7-586A-89C2-7EB1-6F02E9B2F5CE}"/>
              </a:ext>
            </a:extLst>
          </p:cNvPr>
          <p:cNvPicPr/>
          <p:nvPr/>
        </p:nvPicPr>
        <p:blipFill>
          <a:blip r:embed="rId3" cstate="print"/>
          <a:stretch>
            <a:fillRect/>
          </a:stretch>
        </p:blipFill>
        <p:spPr>
          <a:xfrm>
            <a:off x="237990" y="5974031"/>
            <a:ext cx="8527717" cy="611452"/>
          </a:xfrm>
          <a:prstGeom prst="rect">
            <a:avLst/>
          </a:prstGeom>
        </p:spPr>
      </p:pic>
      <p:pic>
        <p:nvPicPr>
          <p:cNvPr id="4" name="object 8">
            <a:extLst>
              <a:ext uri="{FF2B5EF4-FFF2-40B4-BE49-F238E27FC236}">
                <a16:creationId xmlns:a16="http://schemas.microsoft.com/office/drawing/2014/main" id="{0B159E96-CA3D-C755-F0C6-9338A11D343F}"/>
              </a:ext>
            </a:extLst>
          </p:cNvPr>
          <p:cNvPicPr/>
          <p:nvPr/>
        </p:nvPicPr>
        <p:blipFill>
          <a:blip r:embed="rId4" cstate="print"/>
          <a:stretch>
            <a:fillRect/>
          </a:stretch>
        </p:blipFill>
        <p:spPr>
          <a:xfrm>
            <a:off x="8130604" y="0"/>
            <a:ext cx="815819" cy="1226414"/>
          </a:xfrm>
          <a:prstGeom prst="rect">
            <a:avLst/>
          </a:prstGeom>
        </p:spPr>
      </p:pic>
    </p:spTree>
    <p:extLst>
      <p:ext uri="{BB962C8B-B14F-4D97-AF65-F5344CB8AC3E}">
        <p14:creationId xmlns:p14="http://schemas.microsoft.com/office/powerpoint/2010/main" val="4266781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8">
            <a:extLst>
              <a:ext uri="{FF2B5EF4-FFF2-40B4-BE49-F238E27FC236}">
                <a16:creationId xmlns:a16="http://schemas.microsoft.com/office/drawing/2014/main" id="{18ACAE17-A8D7-8E20-AF4C-52583BEBC9AD}"/>
              </a:ext>
            </a:extLst>
          </p:cNvPr>
          <p:cNvPicPr/>
          <p:nvPr/>
        </p:nvPicPr>
        <p:blipFill>
          <a:blip r:embed="rId2" cstate="print"/>
          <a:stretch>
            <a:fillRect/>
          </a:stretch>
        </p:blipFill>
        <p:spPr>
          <a:xfrm>
            <a:off x="8130604" y="0"/>
            <a:ext cx="815819" cy="1226414"/>
          </a:xfrm>
          <a:prstGeom prst="rect">
            <a:avLst/>
          </a:prstGeom>
        </p:spPr>
      </p:pic>
    </p:spTree>
    <p:extLst>
      <p:ext uri="{BB962C8B-B14F-4D97-AF65-F5344CB8AC3E}">
        <p14:creationId xmlns:p14="http://schemas.microsoft.com/office/powerpoint/2010/main" val="2426525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C0B14-DA09-E5E3-FDD4-297DDC4CF958}"/>
              </a:ext>
            </a:extLst>
          </p:cNvPr>
          <p:cNvSpPr>
            <a:spLocks noGrp="1"/>
          </p:cNvSpPr>
          <p:nvPr>
            <p:ph type="title"/>
          </p:nvPr>
        </p:nvSpPr>
        <p:spPr>
          <a:xfrm>
            <a:off x="611560" y="439913"/>
            <a:ext cx="6840760" cy="550857"/>
          </a:xfrm>
        </p:spPr>
        <p:txBody>
          <a:bodyPr wrap="square">
            <a:normAutofit/>
          </a:bodyPr>
          <a:lstStyle/>
          <a:p>
            <a:pPr>
              <a:lnSpc>
                <a:spcPct val="90000"/>
              </a:lnSpc>
            </a:pPr>
            <a:r>
              <a:rPr lang="en-CA" sz="3300"/>
              <a:t>Integrator Time Constants</a:t>
            </a:r>
          </a:p>
        </p:txBody>
      </p:sp>
      <p:pic>
        <p:nvPicPr>
          <p:cNvPr id="7" name="object 8">
            <a:extLst>
              <a:ext uri="{FF2B5EF4-FFF2-40B4-BE49-F238E27FC236}">
                <a16:creationId xmlns:a16="http://schemas.microsoft.com/office/drawing/2014/main" id="{91C12FAC-BF1E-4341-A057-40A5BF45A46A}"/>
              </a:ext>
            </a:extLst>
          </p:cNvPr>
          <p:cNvPicPr/>
          <p:nvPr/>
        </p:nvPicPr>
        <p:blipFill>
          <a:blip r:embed="rId3" cstate="print"/>
          <a:stretch>
            <a:fillRect/>
          </a:stretch>
        </p:blipFill>
        <p:spPr>
          <a:xfrm>
            <a:off x="7960646" y="0"/>
            <a:ext cx="909141" cy="1246838"/>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2135110-5B13-4936-9229-0F90E7CE7A07}"/>
                  </a:ext>
                </a:extLst>
              </p:cNvPr>
              <p:cNvSpPr txBox="1"/>
              <p:nvPr/>
            </p:nvSpPr>
            <p:spPr>
              <a:xfrm>
                <a:off x="107505" y="5266177"/>
                <a:ext cx="5357079" cy="8178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CA" sz="1400" b="0" i="0" smtClean="0">
                          <a:solidFill>
                            <a:srgbClr val="836967"/>
                          </a:solidFill>
                          <a:latin typeface="Cambria Math" panose="02040503050406030204" pitchFamily="18" charset="0"/>
                        </a:rPr>
                        <m:t>A</m:t>
                      </m:r>
                      <m:d>
                        <m:dPr>
                          <m:ctrlPr>
                            <a:rPr lang="en-CA" sz="1400" i="1">
                              <a:solidFill>
                                <a:srgbClr val="836967"/>
                              </a:solidFill>
                              <a:latin typeface="Cambria Math" panose="02040503050406030204" pitchFamily="18" charset="0"/>
                            </a:rPr>
                          </m:ctrlPr>
                        </m:dPr>
                        <m:e>
                          <m:r>
                            <a:rPr lang="en-CA" sz="1400" i="1">
                              <a:latin typeface="Cambria Math" panose="02040503050406030204" pitchFamily="18" charset="0"/>
                            </a:rPr>
                            <m:t>𝑡</m:t>
                          </m:r>
                        </m:e>
                      </m:d>
                      <m:r>
                        <a:rPr lang="en-CA" sz="1400" i="0">
                          <a:latin typeface="Cambria Math" panose="02040503050406030204" pitchFamily="18" charset="0"/>
                        </a:rPr>
                        <m:t>=</m:t>
                      </m:r>
                      <m:sSup>
                        <m:sSupPr>
                          <m:ctrlPr>
                            <a:rPr lang="en-CA" sz="1400" i="1">
                              <a:solidFill>
                                <a:srgbClr val="836967"/>
                              </a:solidFill>
                              <a:latin typeface="Cambria Math" panose="02040503050406030204" pitchFamily="18" charset="0"/>
                            </a:rPr>
                          </m:ctrlPr>
                        </m:sSupPr>
                        <m:e>
                          <m:r>
                            <a:rPr lang="en-CA" sz="1400" i="0">
                              <a:latin typeface="Cambria Math" panose="02040503050406030204" pitchFamily="18" charset="0"/>
                            </a:rPr>
                            <m:t>ⅇ</m:t>
                          </m:r>
                        </m:e>
                        <m:sup>
                          <m:d>
                            <m:dPr>
                              <m:ctrlPr>
                                <a:rPr lang="en-CA" sz="1400" i="1">
                                  <a:solidFill>
                                    <a:srgbClr val="836967"/>
                                  </a:solidFill>
                                  <a:latin typeface="Cambria Math" panose="02040503050406030204" pitchFamily="18" charset="0"/>
                                </a:rPr>
                              </m:ctrlPr>
                            </m:dPr>
                            <m:e>
                              <m:r>
                                <a:rPr lang="en-CA" sz="1400" i="0">
                                  <a:latin typeface="Cambria Math" panose="02040503050406030204" pitchFamily="18" charset="0"/>
                                </a:rPr>
                                <m:t>−</m:t>
                              </m:r>
                              <m:f>
                                <m:fPr>
                                  <m:ctrlPr>
                                    <a:rPr lang="en-CA" sz="1400" i="1">
                                      <a:solidFill>
                                        <a:srgbClr val="836967"/>
                                      </a:solidFill>
                                      <a:latin typeface="Cambria Math" panose="02040503050406030204" pitchFamily="18" charset="0"/>
                                    </a:rPr>
                                  </m:ctrlPr>
                                </m:fPr>
                                <m:num>
                                  <m:r>
                                    <a:rPr lang="en-CA" sz="1400" i="1">
                                      <a:latin typeface="Cambria Math" panose="02040503050406030204" pitchFamily="18" charset="0"/>
                                    </a:rPr>
                                    <m:t>𝑏</m:t>
                                  </m:r>
                                </m:num>
                                <m:den>
                                  <m:r>
                                    <a:rPr lang="en-CA" sz="1400" i="1">
                                      <a:latin typeface="Cambria Math" panose="02040503050406030204" pitchFamily="18" charset="0"/>
                                    </a:rPr>
                                    <m:t>𝑚</m:t>
                                  </m:r>
                                </m:den>
                              </m:f>
                            </m:e>
                          </m:d>
                          <m:r>
                            <a:rPr lang="en-CA" sz="1400" i="1">
                              <a:latin typeface="Cambria Math" panose="02040503050406030204" pitchFamily="18" charset="0"/>
                            </a:rPr>
                            <m:t>𝑡</m:t>
                          </m:r>
                        </m:sup>
                      </m:sSup>
                      <m:d>
                        <m:dPr>
                          <m:ctrlPr>
                            <a:rPr lang="en-CA" sz="1400" i="1">
                              <a:solidFill>
                                <a:srgbClr val="836967"/>
                              </a:solidFill>
                              <a:latin typeface="Cambria Math" panose="02040503050406030204" pitchFamily="18" charset="0"/>
                            </a:rPr>
                          </m:ctrlPr>
                        </m:dPr>
                        <m:e>
                          <m:sSub>
                            <m:sSubPr>
                              <m:ctrlPr>
                                <a:rPr lang="en-CA" sz="1400" i="1">
                                  <a:solidFill>
                                    <a:srgbClr val="836967"/>
                                  </a:solidFill>
                                  <a:latin typeface="Cambria Math" panose="02040503050406030204" pitchFamily="18" charset="0"/>
                                </a:rPr>
                              </m:ctrlPr>
                            </m:sSubPr>
                            <m:e>
                              <m:r>
                                <a:rPr lang="en-CA" sz="1400" i="1">
                                  <a:latin typeface="Cambria Math" panose="02040503050406030204" pitchFamily="18" charset="0"/>
                                </a:rPr>
                                <m:t>𝑥</m:t>
                              </m:r>
                            </m:e>
                            <m:sub>
                              <m:r>
                                <a:rPr lang="en-CA" sz="1400" i="0">
                                  <a:latin typeface="Cambria Math" panose="02040503050406030204" pitchFamily="18" charset="0"/>
                                </a:rPr>
                                <m:t>0</m:t>
                              </m:r>
                            </m:sub>
                          </m:sSub>
                          <m:func>
                            <m:funcPr>
                              <m:ctrlPr>
                                <a:rPr lang="en-CA" sz="1400" i="1">
                                  <a:latin typeface="Cambria Math" panose="02040503050406030204" pitchFamily="18" charset="0"/>
                                </a:rPr>
                              </m:ctrlPr>
                            </m:funcPr>
                            <m:fName>
                              <m:r>
                                <m:rPr>
                                  <m:sty m:val="p"/>
                                </m:rPr>
                                <a:rPr lang="en-CA" sz="1400" i="0">
                                  <a:latin typeface="Cambria Math" panose="02040503050406030204" pitchFamily="18" charset="0"/>
                                </a:rPr>
                                <m:t>cos</m:t>
                              </m:r>
                            </m:fName>
                            <m:e>
                              <m:d>
                                <m:dPr>
                                  <m:ctrlPr>
                                    <a:rPr lang="en-CA" sz="1400" i="1">
                                      <a:solidFill>
                                        <a:srgbClr val="836967"/>
                                      </a:solidFill>
                                      <a:latin typeface="Cambria Math" panose="02040503050406030204" pitchFamily="18" charset="0"/>
                                    </a:rPr>
                                  </m:ctrlPr>
                                </m:dPr>
                                <m:e>
                                  <m:rad>
                                    <m:radPr>
                                      <m:degHide m:val="on"/>
                                      <m:ctrlPr>
                                        <a:rPr lang="en-CA" sz="1400" i="1">
                                          <a:solidFill>
                                            <a:srgbClr val="836967"/>
                                          </a:solidFill>
                                          <a:latin typeface="Cambria Math" panose="02040503050406030204" pitchFamily="18" charset="0"/>
                                        </a:rPr>
                                      </m:ctrlPr>
                                    </m:radPr>
                                    <m:deg/>
                                    <m:e>
                                      <m:f>
                                        <m:fPr>
                                          <m:ctrlPr>
                                            <a:rPr lang="en-CA" sz="1400" i="1">
                                              <a:solidFill>
                                                <a:srgbClr val="836967"/>
                                              </a:solidFill>
                                              <a:latin typeface="Cambria Math" panose="02040503050406030204" pitchFamily="18" charset="0"/>
                                            </a:rPr>
                                          </m:ctrlPr>
                                        </m:fPr>
                                        <m:num>
                                          <m:r>
                                            <a:rPr lang="en-CA" sz="1400" i="1">
                                              <a:latin typeface="Cambria Math" panose="02040503050406030204" pitchFamily="18" charset="0"/>
                                            </a:rPr>
                                            <m:t>𝑘</m:t>
                                          </m:r>
                                        </m:num>
                                        <m:den>
                                          <m:r>
                                            <a:rPr lang="en-CA" sz="1400" i="1">
                                              <a:latin typeface="Cambria Math" panose="02040503050406030204" pitchFamily="18" charset="0"/>
                                            </a:rPr>
                                            <m:t>𝑚</m:t>
                                          </m:r>
                                        </m:den>
                                      </m:f>
                                      <m:r>
                                        <a:rPr lang="en-CA" sz="1400" i="0">
                                          <a:latin typeface="Cambria Math" panose="02040503050406030204" pitchFamily="18" charset="0"/>
                                        </a:rPr>
                                        <m:t>−</m:t>
                                      </m:r>
                                      <m:f>
                                        <m:fPr>
                                          <m:ctrlPr>
                                            <a:rPr lang="en-CA" sz="1400" i="1">
                                              <a:solidFill>
                                                <a:srgbClr val="836967"/>
                                              </a:solidFill>
                                              <a:latin typeface="Cambria Math" panose="02040503050406030204" pitchFamily="18" charset="0"/>
                                            </a:rPr>
                                          </m:ctrlPr>
                                        </m:fPr>
                                        <m:num>
                                          <m:sSup>
                                            <m:sSupPr>
                                              <m:ctrlPr>
                                                <a:rPr lang="en-CA" sz="1400" i="1">
                                                  <a:solidFill>
                                                    <a:srgbClr val="836967"/>
                                                  </a:solidFill>
                                                  <a:latin typeface="Cambria Math" panose="02040503050406030204" pitchFamily="18" charset="0"/>
                                                </a:rPr>
                                              </m:ctrlPr>
                                            </m:sSupPr>
                                            <m:e>
                                              <m:r>
                                                <a:rPr lang="en-CA" sz="1400" i="1">
                                                  <a:latin typeface="Cambria Math" panose="02040503050406030204" pitchFamily="18" charset="0"/>
                                                </a:rPr>
                                                <m:t>𝑏</m:t>
                                              </m:r>
                                            </m:e>
                                            <m:sup>
                                              <m:r>
                                                <a:rPr lang="en-CA" sz="1400" i="0">
                                                  <a:latin typeface="Cambria Math" panose="02040503050406030204" pitchFamily="18" charset="0"/>
                                                </a:rPr>
                                                <m:t>2</m:t>
                                              </m:r>
                                            </m:sup>
                                          </m:sSup>
                                        </m:num>
                                        <m:den>
                                          <m:sSup>
                                            <m:sSupPr>
                                              <m:ctrlPr>
                                                <a:rPr lang="en-CA" sz="1400" i="1">
                                                  <a:solidFill>
                                                    <a:srgbClr val="836967"/>
                                                  </a:solidFill>
                                                  <a:latin typeface="Cambria Math" panose="02040503050406030204" pitchFamily="18" charset="0"/>
                                                </a:rPr>
                                              </m:ctrlPr>
                                            </m:sSupPr>
                                            <m:e>
                                              <m:r>
                                                <a:rPr lang="en-CA" sz="1400" i="1">
                                                  <a:latin typeface="Cambria Math" panose="02040503050406030204" pitchFamily="18" charset="0"/>
                                                </a:rPr>
                                                <m:t>𝑚</m:t>
                                              </m:r>
                                            </m:e>
                                            <m:sup>
                                              <m:r>
                                                <a:rPr lang="en-CA" sz="1400" i="0">
                                                  <a:latin typeface="Cambria Math" panose="02040503050406030204" pitchFamily="18" charset="0"/>
                                                </a:rPr>
                                                <m:t>2</m:t>
                                              </m:r>
                                            </m:sup>
                                          </m:sSup>
                                        </m:den>
                                      </m:f>
                                    </m:e>
                                  </m:rad>
                                  <m:r>
                                    <a:rPr lang="en-CA" sz="1400" i="1">
                                      <a:latin typeface="Cambria Math" panose="02040503050406030204" pitchFamily="18" charset="0"/>
                                    </a:rPr>
                                    <m:t>𝑡</m:t>
                                  </m:r>
                                </m:e>
                              </m:d>
                            </m:e>
                          </m:func>
                          <m:r>
                            <a:rPr lang="en-CA" sz="1400" i="0">
                              <a:latin typeface="Cambria Math" panose="02040503050406030204" pitchFamily="18" charset="0"/>
                            </a:rPr>
                            <m:t>+</m:t>
                          </m:r>
                          <m:f>
                            <m:fPr>
                              <m:ctrlPr>
                                <a:rPr lang="en-CA" sz="1400" i="1">
                                  <a:solidFill>
                                    <a:srgbClr val="836967"/>
                                  </a:solidFill>
                                  <a:latin typeface="Cambria Math" panose="02040503050406030204" pitchFamily="18" charset="0"/>
                                </a:rPr>
                              </m:ctrlPr>
                            </m:fPr>
                            <m:num>
                              <m:f>
                                <m:fPr>
                                  <m:ctrlPr>
                                    <a:rPr lang="en-CA" sz="1400" i="1">
                                      <a:solidFill>
                                        <a:srgbClr val="836967"/>
                                      </a:solidFill>
                                      <a:latin typeface="Cambria Math" panose="02040503050406030204" pitchFamily="18" charset="0"/>
                                    </a:rPr>
                                  </m:ctrlPr>
                                </m:fPr>
                                <m:num>
                                  <m:r>
                                    <a:rPr lang="en-CA" sz="1400" i="1">
                                      <a:latin typeface="Cambria Math" panose="02040503050406030204" pitchFamily="18" charset="0"/>
                                    </a:rPr>
                                    <m:t>𝑏</m:t>
                                  </m:r>
                                </m:num>
                                <m:den>
                                  <m:r>
                                    <a:rPr lang="en-CA" sz="1400" i="1">
                                      <a:latin typeface="Cambria Math" panose="02040503050406030204" pitchFamily="18" charset="0"/>
                                    </a:rPr>
                                    <m:t>𝑚</m:t>
                                  </m:r>
                                </m:den>
                              </m:f>
                              <m:sSub>
                                <m:sSubPr>
                                  <m:ctrlPr>
                                    <a:rPr lang="en-CA" sz="1400" i="1">
                                      <a:solidFill>
                                        <a:srgbClr val="836967"/>
                                      </a:solidFill>
                                      <a:latin typeface="Cambria Math" panose="02040503050406030204" pitchFamily="18" charset="0"/>
                                    </a:rPr>
                                  </m:ctrlPr>
                                </m:sSubPr>
                                <m:e>
                                  <m:r>
                                    <a:rPr lang="en-CA" sz="1400" i="1">
                                      <a:latin typeface="Cambria Math" panose="02040503050406030204" pitchFamily="18" charset="0"/>
                                    </a:rPr>
                                    <m:t>𝑥</m:t>
                                  </m:r>
                                </m:e>
                                <m:sub>
                                  <m:r>
                                    <a:rPr lang="en-CA" sz="1400" i="0">
                                      <a:latin typeface="Cambria Math" panose="02040503050406030204" pitchFamily="18" charset="0"/>
                                    </a:rPr>
                                    <m:t>0</m:t>
                                  </m:r>
                                </m:sub>
                              </m:sSub>
                              <m:r>
                                <a:rPr lang="en-CA" sz="1400" i="0">
                                  <a:latin typeface="Cambria Math" panose="02040503050406030204" pitchFamily="18" charset="0"/>
                                </a:rPr>
                                <m:t>+</m:t>
                              </m:r>
                              <m:sSub>
                                <m:sSubPr>
                                  <m:ctrlPr>
                                    <a:rPr lang="en-CA" sz="1400" i="1">
                                      <a:solidFill>
                                        <a:srgbClr val="836967"/>
                                      </a:solidFill>
                                      <a:latin typeface="Cambria Math" panose="02040503050406030204" pitchFamily="18" charset="0"/>
                                    </a:rPr>
                                  </m:ctrlPr>
                                </m:sSubPr>
                                <m:e>
                                  <m:r>
                                    <a:rPr lang="en-CA" sz="1400" i="1">
                                      <a:latin typeface="Cambria Math" panose="02040503050406030204" pitchFamily="18" charset="0"/>
                                    </a:rPr>
                                    <m:t>𝑣</m:t>
                                  </m:r>
                                </m:e>
                                <m:sub>
                                  <m:r>
                                    <a:rPr lang="en-CA" sz="1400" i="0">
                                      <a:latin typeface="Cambria Math" panose="02040503050406030204" pitchFamily="18" charset="0"/>
                                    </a:rPr>
                                    <m:t>0</m:t>
                                  </m:r>
                                </m:sub>
                              </m:sSub>
                            </m:num>
                            <m:den>
                              <m:rad>
                                <m:radPr>
                                  <m:degHide m:val="on"/>
                                  <m:ctrlPr>
                                    <a:rPr lang="en-CA" sz="1400" i="1">
                                      <a:solidFill>
                                        <a:srgbClr val="836967"/>
                                      </a:solidFill>
                                      <a:latin typeface="Cambria Math" panose="02040503050406030204" pitchFamily="18" charset="0"/>
                                    </a:rPr>
                                  </m:ctrlPr>
                                </m:radPr>
                                <m:deg/>
                                <m:e>
                                  <m:f>
                                    <m:fPr>
                                      <m:ctrlPr>
                                        <a:rPr lang="en-CA" sz="1400" i="1">
                                          <a:solidFill>
                                            <a:srgbClr val="836967"/>
                                          </a:solidFill>
                                          <a:latin typeface="Cambria Math" panose="02040503050406030204" pitchFamily="18" charset="0"/>
                                        </a:rPr>
                                      </m:ctrlPr>
                                    </m:fPr>
                                    <m:num>
                                      <m:r>
                                        <a:rPr lang="en-CA" sz="1400" i="1">
                                          <a:latin typeface="Cambria Math" panose="02040503050406030204" pitchFamily="18" charset="0"/>
                                        </a:rPr>
                                        <m:t>𝑘</m:t>
                                      </m:r>
                                    </m:num>
                                    <m:den>
                                      <m:r>
                                        <a:rPr lang="en-CA" sz="1400" i="1">
                                          <a:latin typeface="Cambria Math" panose="02040503050406030204" pitchFamily="18" charset="0"/>
                                        </a:rPr>
                                        <m:t>𝑚</m:t>
                                      </m:r>
                                    </m:den>
                                  </m:f>
                                  <m:r>
                                    <a:rPr lang="en-CA" sz="1400" i="0">
                                      <a:latin typeface="Cambria Math" panose="02040503050406030204" pitchFamily="18" charset="0"/>
                                    </a:rPr>
                                    <m:t>−</m:t>
                                  </m:r>
                                  <m:f>
                                    <m:fPr>
                                      <m:ctrlPr>
                                        <a:rPr lang="en-CA" sz="1400" i="1">
                                          <a:solidFill>
                                            <a:srgbClr val="836967"/>
                                          </a:solidFill>
                                          <a:latin typeface="Cambria Math" panose="02040503050406030204" pitchFamily="18" charset="0"/>
                                        </a:rPr>
                                      </m:ctrlPr>
                                    </m:fPr>
                                    <m:num>
                                      <m:sSup>
                                        <m:sSupPr>
                                          <m:ctrlPr>
                                            <a:rPr lang="en-CA" sz="1400" i="1">
                                              <a:solidFill>
                                                <a:srgbClr val="836967"/>
                                              </a:solidFill>
                                              <a:latin typeface="Cambria Math" panose="02040503050406030204" pitchFamily="18" charset="0"/>
                                            </a:rPr>
                                          </m:ctrlPr>
                                        </m:sSupPr>
                                        <m:e>
                                          <m:r>
                                            <a:rPr lang="en-CA" sz="1400" i="1">
                                              <a:latin typeface="Cambria Math" panose="02040503050406030204" pitchFamily="18" charset="0"/>
                                            </a:rPr>
                                            <m:t>𝑏</m:t>
                                          </m:r>
                                        </m:e>
                                        <m:sup>
                                          <m:r>
                                            <a:rPr lang="en-CA" sz="1400" i="0">
                                              <a:latin typeface="Cambria Math" panose="02040503050406030204" pitchFamily="18" charset="0"/>
                                            </a:rPr>
                                            <m:t>2</m:t>
                                          </m:r>
                                        </m:sup>
                                      </m:sSup>
                                    </m:num>
                                    <m:den>
                                      <m:sSup>
                                        <m:sSupPr>
                                          <m:ctrlPr>
                                            <a:rPr lang="en-CA" sz="1400" i="1">
                                              <a:solidFill>
                                                <a:srgbClr val="836967"/>
                                              </a:solidFill>
                                              <a:latin typeface="Cambria Math" panose="02040503050406030204" pitchFamily="18" charset="0"/>
                                            </a:rPr>
                                          </m:ctrlPr>
                                        </m:sSupPr>
                                        <m:e>
                                          <m:r>
                                            <a:rPr lang="en-CA" sz="1400" i="1">
                                              <a:latin typeface="Cambria Math" panose="02040503050406030204" pitchFamily="18" charset="0"/>
                                            </a:rPr>
                                            <m:t>𝑚</m:t>
                                          </m:r>
                                        </m:e>
                                        <m:sup>
                                          <m:r>
                                            <a:rPr lang="en-CA" sz="1400" i="0">
                                              <a:latin typeface="Cambria Math" panose="02040503050406030204" pitchFamily="18" charset="0"/>
                                            </a:rPr>
                                            <m:t>2</m:t>
                                          </m:r>
                                        </m:sup>
                                      </m:sSup>
                                    </m:den>
                                  </m:f>
                                </m:e>
                              </m:rad>
                            </m:den>
                          </m:f>
                          <m:func>
                            <m:funcPr>
                              <m:ctrlPr>
                                <a:rPr lang="en-CA" sz="1400" i="1">
                                  <a:latin typeface="Cambria Math" panose="02040503050406030204" pitchFamily="18" charset="0"/>
                                </a:rPr>
                              </m:ctrlPr>
                            </m:funcPr>
                            <m:fName>
                              <m:r>
                                <m:rPr>
                                  <m:sty m:val="p"/>
                                </m:rPr>
                                <a:rPr lang="en-CA" sz="1400" i="0">
                                  <a:latin typeface="Cambria Math" panose="02040503050406030204" pitchFamily="18" charset="0"/>
                                </a:rPr>
                                <m:t>sin</m:t>
                              </m:r>
                            </m:fName>
                            <m:e>
                              <m:d>
                                <m:dPr>
                                  <m:ctrlPr>
                                    <a:rPr lang="en-CA" sz="1400" i="1">
                                      <a:solidFill>
                                        <a:srgbClr val="836967"/>
                                      </a:solidFill>
                                      <a:latin typeface="Cambria Math" panose="02040503050406030204" pitchFamily="18" charset="0"/>
                                    </a:rPr>
                                  </m:ctrlPr>
                                </m:dPr>
                                <m:e>
                                  <m:rad>
                                    <m:radPr>
                                      <m:degHide m:val="on"/>
                                      <m:ctrlPr>
                                        <a:rPr lang="en-CA" sz="1400" i="1">
                                          <a:solidFill>
                                            <a:srgbClr val="836967"/>
                                          </a:solidFill>
                                          <a:latin typeface="Cambria Math" panose="02040503050406030204" pitchFamily="18" charset="0"/>
                                        </a:rPr>
                                      </m:ctrlPr>
                                    </m:radPr>
                                    <m:deg/>
                                    <m:e>
                                      <m:f>
                                        <m:fPr>
                                          <m:ctrlPr>
                                            <a:rPr lang="en-CA" sz="1400" i="1">
                                              <a:solidFill>
                                                <a:srgbClr val="836967"/>
                                              </a:solidFill>
                                              <a:latin typeface="Cambria Math" panose="02040503050406030204" pitchFamily="18" charset="0"/>
                                            </a:rPr>
                                          </m:ctrlPr>
                                        </m:fPr>
                                        <m:num>
                                          <m:r>
                                            <a:rPr lang="en-CA" sz="1400" i="1">
                                              <a:latin typeface="Cambria Math" panose="02040503050406030204" pitchFamily="18" charset="0"/>
                                            </a:rPr>
                                            <m:t>𝑘</m:t>
                                          </m:r>
                                        </m:num>
                                        <m:den>
                                          <m:r>
                                            <a:rPr lang="en-CA" sz="1400" i="1">
                                              <a:latin typeface="Cambria Math" panose="02040503050406030204" pitchFamily="18" charset="0"/>
                                            </a:rPr>
                                            <m:t>𝑚</m:t>
                                          </m:r>
                                        </m:den>
                                      </m:f>
                                      <m:r>
                                        <a:rPr lang="en-CA" sz="1400" i="0">
                                          <a:latin typeface="Cambria Math" panose="02040503050406030204" pitchFamily="18" charset="0"/>
                                        </a:rPr>
                                        <m:t>−</m:t>
                                      </m:r>
                                      <m:f>
                                        <m:fPr>
                                          <m:ctrlPr>
                                            <a:rPr lang="en-CA" sz="1400" i="1">
                                              <a:solidFill>
                                                <a:srgbClr val="836967"/>
                                              </a:solidFill>
                                              <a:latin typeface="Cambria Math" panose="02040503050406030204" pitchFamily="18" charset="0"/>
                                            </a:rPr>
                                          </m:ctrlPr>
                                        </m:fPr>
                                        <m:num>
                                          <m:sSup>
                                            <m:sSupPr>
                                              <m:ctrlPr>
                                                <a:rPr lang="en-CA" sz="1400" i="1" smtClean="0">
                                                  <a:solidFill>
                                                    <a:srgbClr val="836967"/>
                                                  </a:solidFill>
                                                  <a:latin typeface="Cambria Math" panose="02040503050406030204" pitchFamily="18" charset="0"/>
                                                </a:rPr>
                                              </m:ctrlPr>
                                            </m:sSupPr>
                                            <m:e>
                                              <m:r>
                                                <a:rPr lang="en-CA" sz="1400" b="0" i="1" smtClean="0">
                                                  <a:solidFill>
                                                    <a:srgbClr val="836967"/>
                                                  </a:solidFill>
                                                  <a:latin typeface="Cambria Math" panose="02040503050406030204" pitchFamily="18" charset="0"/>
                                                </a:rPr>
                                                <m:t>𝑏</m:t>
                                              </m:r>
                                            </m:e>
                                            <m:sup>
                                              <m:r>
                                                <a:rPr lang="en-CA" sz="1400" i="0">
                                                  <a:latin typeface="Cambria Math" panose="02040503050406030204" pitchFamily="18" charset="0"/>
                                                </a:rPr>
                                                <m:t>2</m:t>
                                              </m:r>
                                            </m:sup>
                                          </m:sSup>
                                        </m:num>
                                        <m:den>
                                          <m:sSup>
                                            <m:sSupPr>
                                              <m:ctrlPr>
                                                <a:rPr lang="en-CA" sz="1400" i="1">
                                                  <a:solidFill>
                                                    <a:srgbClr val="836967"/>
                                                  </a:solidFill>
                                                  <a:latin typeface="Cambria Math" panose="02040503050406030204" pitchFamily="18" charset="0"/>
                                                </a:rPr>
                                              </m:ctrlPr>
                                            </m:sSupPr>
                                            <m:e>
                                              <m:r>
                                                <a:rPr lang="en-CA" sz="1400" i="1">
                                                  <a:latin typeface="Cambria Math" panose="02040503050406030204" pitchFamily="18" charset="0"/>
                                                </a:rPr>
                                                <m:t>𝑚</m:t>
                                              </m:r>
                                            </m:e>
                                            <m:sup>
                                              <m:r>
                                                <a:rPr lang="en-CA" sz="1400" i="0">
                                                  <a:latin typeface="Cambria Math" panose="02040503050406030204" pitchFamily="18" charset="0"/>
                                                </a:rPr>
                                                <m:t>2</m:t>
                                              </m:r>
                                            </m:sup>
                                          </m:sSup>
                                        </m:den>
                                      </m:f>
                                    </m:e>
                                  </m:rad>
                                  <m:r>
                                    <a:rPr lang="en-CA" sz="1400" i="1">
                                      <a:latin typeface="Cambria Math" panose="02040503050406030204" pitchFamily="18" charset="0"/>
                                    </a:rPr>
                                    <m:t>𝑡</m:t>
                                  </m:r>
                                </m:e>
                              </m:d>
                            </m:e>
                          </m:func>
                        </m:e>
                      </m:d>
                    </m:oMath>
                  </m:oMathPara>
                </a14:m>
                <a:endParaRPr lang="en-CA" sz="1400"/>
              </a:p>
            </p:txBody>
          </p:sp>
        </mc:Choice>
        <mc:Fallback xmlns="">
          <p:sp>
            <p:nvSpPr>
              <p:cNvPr id="11" name="TextBox 10">
                <a:extLst>
                  <a:ext uri="{FF2B5EF4-FFF2-40B4-BE49-F238E27FC236}">
                    <a16:creationId xmlns:a16="http://schemas.microsoft.com/office/drawing/2014/main" id="{A2135110-5B13-4936-9229-0F90E7CE7A07}"/>
                  </a:ext>
                </a:extLst>
              </p:cNvPr>
              <p:cNvSpPr txBox="1">
                <a:spLocks noRot="1" noChangeAspect="1" noMove="1" noResize="1" noEditPoints="1" noAdjustHandles="1" noChangeArrowheads="1" noChangeShapeType="1" noTextEdit="1"/>
              </p:cNvSpPr>
              <p:nvPr/>
            </p:nvSpPr>
            <p:spPr>
              <a:xfrm>
                <a:off x="107505" y="5266177"/>
                <a:ext cx="5357079" cy="817853"/>
              </a:xfrm>
              <a:prstGeom prst="rect">
                <a:avLst/>
              </a:prstGeom>
              <a:blipFill>
                <a:blip r:embed="rId4"/>
                <a:stretch>
                  <a:fillRect b="-746"/>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96D898A0-11A6-33CC-AE66-D77CD5B85F3D}"/>
              </a:ext>
            </a:extLst>
          </p:cNvPr>
          <p:cNvPicPr>
            <a:picLocks noChangeAspect="1"/>
          </p:cNvPicPr>
          <p:nvPr/>
        </p:nvPicPr>
        <p:blipFill>
          <a:blip r:embed="rId5"/>
          <a:stretch>
            <a:fillRect/>
          </a:stretch>
        </p:blipFill>
        <p:spPr>
          <a:xfrm>
            <a:off x="4652256" y="1556792"/>
            <a:ext cx="4306078" cy="2808312"/>
          </a:xfrm>
          <a:prstGeom prst="rect">
            <a:avLst/>
          </a:prstGeom>
        </p:spPr>
      </p:pic>
      <p:pic>
        <p:nvPicPr>
          <p:cNvPr id="17" name="Picture 16">
            <a:extLst>
              <a:ext uri="{FF2B5EF4-FFF2-40B4-BE49-F238E27FC236}">
                <a16:creationId xmlns:a16="http://schemas.microsoft.com/office/drawing/2014/main" id="{88625729-3C5F-DEF3-2C27-FBF8719C17E0}"/>
              </a:ext>
            </a:extLst>
          </p:cNvPr>
          <p:cNvPicPr>
            <a:picLocks noChangeAspect="1"/>
          </p:cNvPicPr>
          <p:nvPr/>
        </p:nvPicPr>
        <p:blipFill>
          <a:blip r:embed="rId6"/>
          <a:stretch>
            <a:fillRect/>
          </a:stretch>
        </p:blipFill>
        <p:spPr>
          <a:xfrm>
            <a:off x="107505" y="1453675"/>
            <a:ext cx="4464495" cy="3014545"/>
          </a:xfrm>
          <a:prstGeom prst="rect">
            <a:avLst/>
          </a:prstGeom>
        </p:spPr>
      </p:pic>
      <p:sp>
        <p:nvSpPr>
          <p:cNvPr id="18" name="TextBox 17">
            <a:extLst>
              <a:ext uri="{FF2B5EF4-FFF2-40B4-BE49-F238E27FC236}">
                <a16:creationId xmlns:a16="http://schemas.microsoft.com/office/drawing/2014/main" id="{B77A5770-7C60-778A-C5CA-1D2AF2BB1B24}"/>
              </a:ext>
            </a:extLst>
          </p:cNvPr>
          <p:cNvSpPr txBox="1"/>
          <p:nvPr/>
        </p:nvSpPr>
        <p:spPr>
          <a:xfrm>
            <a:off x="452074" y="1181514"/>
            <a:ext cx="4306078" cy="338554"/>
          </a:xfrm>
          <a:prstGeom prst="rect">
            <a:avLst/>
          </a:prstGeom>
          <a:noFill/>
        </p:spPr>
        <p:txBody>
          <a:bodyPr wrap="square" lIns="91440" tIns="45720" rIns="91440" bIns="45720" rtlCol="0" anchor="t">
            <a:spAutoFit/>
          </a:bodyPr>
          <a:lstStyle/>
          <a:p>
            <a:pPr algn="ctr"/>
            <a:r>
              <a:rPr lang="en-CA" sz="1600"/>
              <a:t>Normalized Integration Signal Response </a:t>
            </a:r>
            <a:endParaRPr lang="en-CA" sz="1600">
              <a:solidFill>
                <a:srgbClr val="000000"/>
              </a:solidFill>
            </a:endParaRPr>
          </a:p>
        </p:txBody>
      </p:sp>
      <p:sp>
        <p:nvSpPr>
          <p:cNvPr id="19" name="TextBox 18">
            <a:extLst>
              <a:ext uri="{FF2B5EF4-FFF2-40B4-BE49-F238E27FC236}">
                <a16:creationId xmlns:a16="http://schemas.microsoft.com/office/drawing/2014/main" id="{9A833A56-A1EE-7B74-1948-FE1ADE28696B}"/>
              </a:ext>
            </a:extLst>
          </p:cNvPr>
          <p:cNvSpPr txBox="1"/>
          <p:nvPr/>
        </p:nvSpPr>
        <p:spPr>
          <a:xfrm>
            <a:off x="5113107" y="1181514"/>
            <a:ext cx="3384376" cy="338554"/>
          </a:xfrm>
          <a:prstGeom prst="rect">
            <a:avLst/>
          </a:prstGeom>
          <a:noFill/>
        </p:spPr>
        <p:txBody>
          <a:bodyPr wrap="square" rtlCol="0">
            <a:spAutoFit/>
          </a:bodyPr>
          <a:lstStyle/>
          <a:p>
            <a:pPr algn="ctr"/>
            <a:r>
              <a:rPr lang="en-CA" sz="1600"/>
              <a:t>Time Constant vs. Capacitor</a:t>
            </a:r>
          </a:p>
        </p:txBody>
      </p:sp>
      <p:sp>
        <p:nvSpPr>
          <p:cNvPr id="20" name="TextBox 19">
            <a:extLst>
              <a:ext uri="{FF2B5EF4-FFF2-40B4-BE49-F238E27FC236}">
                <a16:creationId xmlns:a16="http://schemas.microsoft.com/office/drawing/2014/main" id="{E27C118E-4DBB-DD29-A557-BD2ABBD62448}"/>
              </a:ext>
            </a:extLst>
          </p:cNvPr>
          <p:cNvSpPr txBox="1"/>
          <p:nvPr/>
        </p:nvSpPr>
        <p:spPr>
          <a:xfrm>
            <a:off x="686031" y="4735497"/>
            <a:ext cx="4200025" cy="338554"/>
          </a:xfrm>
          <a:prstGeom prst="rect">
            <a:avLst/>
          </a:prstGeom>
          <a:noFill/>
        </p:spPr>
        <p:txBody>
          <a:bodyPr wrap="square" rtlCol="0">
            <a:spAutoFit/>
          </a:bodyPr>
          <a:lstStyle/>
          <a:p>
            <a:pPr algn="ctr"/>
            <a:r>
              <a:rPr lang="en-CA" sz="1600" u="sng"/>
              <a:t>Damped Harmonic Oscillator Fit Equation</a:t>
            </a:r>
          </a:p>
        </p:txBody>
      </p:sp>
      <p:sp>
        <p:nvSpPr>
          <p:cNvPr id="29" name="TextBox 28">
            <a:extLst>
              <a:ext uri="{FF2B5EF4-FFF2-40B4-BE49-F238E27FC236}">
                <a16:creationId xmlns:a16="http://schemas.microsoft.com/office/drawing/2014/main" id="{8CF1B49E-B669-4EC1-70A2-6F0E59EE93C3}"/>
              </a:ext>
            </a:extLst>
          </p:cNvPr>
          <p:cNvSpPr txBox="1"/>
          <p:nvPr/>
        </p:nvSpPr>
        <p:spPr>
          <a:xfrm>
            <a:off x="899592" y="2628541"/>
            <a:ext cx="783704" cy="307777"/>
          </a:xfrm>
          <a:prstGeom prst="rect">
            <a:avLst/>
          </a:prstGeom>
          <a:noFill/>
        </p:spPr>
        <p:txBody>
          <a:bodyPr wrap="square" rtlCol="0">
            <a:spAutoFit/>
          </a:bodyPr>
          <a:lstStyle/>
          <a:p>
            <a:pPr algn="ctr"/>
            <a:r>
              <a:rPr lang="en-CA" sz="1400">
                <a:solidFill>
                  <a:schemeClr val="accent1"/>
                </a:solidFill>
              </a:rPr>
              <a:t>10pF</a:t>
            </a:r>
          </a:p>
        </p:txBody>
      </p:sp>
      <p:sp>
        <p:nvSpPr>
          <p:cNvPr id="30" name="TextBox 29">
            <a:extLst>
              <a:ext uri="{FF2B5EF4-FFF2-40B4-BE49-F238E27FC236}">
                <a16:creationId xmlns:a16="http://schemas.microsoft.com/office/drawing/2014/main" id="{45C537B8-7084-F888-F0E3-9F728A77842A}"/>
              </a:ext>
            </a:extLst>
          </p:cNvPr>
          <p:cNvSpPr txBox="1"/>
          <p:nvPr/>
        </p:nvSpPr>
        <p:spPr>
          <a:xfrm>
            <a:off x="2063988" y="3501008"/>
            <a:ext cx="783704" cy="307777"/>
          </a:xfrm>
          <a:prstGeom prst="rect">
            <a:avLst/>
          </a:prstGeom>
          <a:noFill/>
        </p:spPr>
        <p:txBody>
          <a:bodyPr wrap="square" rtlCol="0">
            <a:spAutoFit/>
          </a:bodyPr>
          <a:lstStyle/>
          <a:p>
            <a:pPr algn="ctr"/>
            <a:r>
              <a:rPr lang="en-CA" sz="1400">
                <a:solidFill>
                  <a:srgbClr val="FFC000"/>
                </a:solidFill>
              </a:rPr>
              <a:t>100pF</a:t>
            </a:r>
          </a:p>
        </p:txBody>
      </p:sp>
      <p:sp>
        <p:nvSpPr>
          <p:cNvPr id="31" name="TextBox 30">
            <a:extLst>
              <a:ext uri="{FF2B5EF4-FFF2-40B4-BE49-F238E27FC236}">
                <a16:creationId xmlns:a16="http://schemas.microsoft.com/office/drawing/2014/main" id="{1AA761ED-FCE1-F76C-D1F8-6F6904AE586B}"/>
              </a:ext>
            </a:extLst>
          </p:cNvPr>
          <p:cNvSpPr txBox="1"/>
          <p:nvPr/>
        </p:nvSpPr>
        <p:spPr>
          <a:xfrm>
            <a:off x="2654683" y="3118877"/>
            <a:ext cx="783704" cy="307777"/>
          </a:xfrm>
          <a:prstGeom prst="rect">
            <a:avLst/>
          </a:prstGeom>
          <a:noFill/>
        </p:spPr>
        <p:txBody>
          <a:bodyPr wrap="square" rtlCol="0">
            <a:spAutoFit/>
          </a:bodyPr>
          <a:lstStyle/>
          <a:p>
            <a:pPr algn="ctr"/>
            <a:r>
              <a:rPr lang="en-CA" sz="1400">
                <a:solidFill>
                  <a:srgbClr val="92D050"/>
                </a:solidFill>
              </a:rPr>
              <a:t>1000pF</a:t>
            </a:r>
          </a:p>
        </p:txBody>
      </p:sp>
      <p:sp>
        <p:nvSpPr>
          <p:cNvPr id="32" name="TextBox 31">
            <a:extLst>
              <a:ext uri="{FF2B5EF4-FFF2-40B4-BE49-F238E27FC236}">
                <a16:creationId xmlns:a16="http://schemas.microsoft.com/office/drawing/2014/main" id="{A70F9393-93C9-3CC7-2926-5B049447883D}"/>
              </a:ext>
            </a:extLst>
          </p:cNvPr>
          <p:cNvSpPr txBox="1"/>
          <p:nvPr/>
        </p:nvSpPr>
        <p:spPr>
          <a:xfrm>
            <a:off x="3577620" y="3059144"/>
            <a:ext cx="922372" cy="307777"/>
          </a:xfrm>
          <a:prstGeom prst="rect">
            <a:avLst/>
          </a:prstGeom>
          <a:noFill/>
        </p:spPr>
        <p:txBody>
          <a:bodyPr wrap="square" rtlCol="0">
            <a:spAutoFit/>
          </a:bodyPr>
          <a:lstStyle/>
          <a:p>
            <a:pPr algn="ctr"/>
            <a:r>
              <a:rPr lang="en-CA" sz="1400" dirty="0">
                <a:solidFill>
                  <a:srgbClr val="C00000"/>
                </a:solidFill>
              </a:rPr>
              <a:t>10000pF</a:t>
            </a:r>
          </a:p>
        </p:txBody>
      </p:sp>
      <p:sp>
        <p:nvSpPr>
          <p:cNvPr id="34" name="TextBox 33">
            <a:extLst>
              <a:ext uri="{FF2B5EF4-FFF2-40B4-BE49-F238E27FC236}">
                <a16:creationId xmlns:a16="http://schemas.microsoft.com/office/drawing/2014/main" id="{70EBE2A5-C720-1A93-CA68-2ECB008A69B0}"/>
              </a:ext>
            </a:extLst>
          </p:cNvPr>
          <p:cNvSpPr txBox="1"/>
          <p:nvPr/>
        </p:nvSpPr>
        <p:spPr>
          <a:xfrm>
            <a:off x="6259754" y="5074051"/>
            <a:ext cx="3368030" cy="307777"/>
          </a:xfrm>
          <a:prstGeom prst="rect">
            <a:avLst/>
          </a:prstGeom>
          <a:noFill/>
        </p:spPr>
        <p:txBody>
          <a:bodyPr wrap="square" rtlCol="0">
            <a:spAutoFit/>
          </a:bodyPr>
          <a:lstStyle/>
          <a:p>
            <a:pPr algn="l"/>
            <a:r>
              <a:rPr lang="en-CA" sz="1400" dirty="0">
                <a:solidFill>
                  <a:schemeClr val="tx1"/>
                </a:solidFill>
              </a:rPr>
              <a:t>10 pF 	0.20 ms </a:t>
            </a:r>
          </a:p>
        </p:txBody>
      </p:sp>
      <p:sp>
        <p:nvSpPr>
          <p:cNvPr id="35" name="TextBox 34">
            <a:extLst>
              <a:ext uri="{FF2B5EF4-FFF2-40B4-BE49-F238E27FC236}">
                <a16:creationId xmlns:a16="http://schemas.microsoft.com/office/drawing/2014/main" id="{F73A5B88-8105-D33D-9793-A99FBDA373B0}"/>
              </a:ext>
            </a:extLst>
          </p:cNvPr>
          <p:cNvSpPr txBox="1"/>
          <p:nvPr/>
        </p:nvSpPr>
        <p:spPr>
          <a:xfrm>
            <a:off x="6269871" y="5497480"/>
            <a:ext cx="3381547" cy="307777"/>
          </a:xfrm>
          <a:prstGeom prst="rect">
            <a:avLst/>
          </a:prstGeom>
          <a:noFill/>
        </p:spPr>
        <p:txBody>
          <a:bodyPr wrap="square" rtlCol="0">
            <a:spAutoFit/>
          </a:bodyPr>
          <a:lstStyle/>
          <a:p>
            <a:pPr algn="l"/>
            <a:r>
              <a:rPr lang="en-CA" sz="1400" dirty="0">
                <a:solidFill>
                  <a:schemeClr val="tx1"/>
                </a:solidFill>
              </a:rPr>
              <a:t>100 pF 	0.60 ms</a:t>
            </a:r>
          </a:p>
        </p:txBody>
      </p:sp>
      <p:sp>
        <p:nvSpPr>
          <p:cNvPr id="36" name="TextBox 35">
            <a:extLst>
              <a:ext uri="{FF2B5EF4-FFF2-40B4-BE49-F238E27FC236}">
                <a16:creationId xmlns:a16="http://schemas.microsoft.com/office/drawing/2014/main" id="{51662812-F7A7-D9F7-F5C6-22EB1E7F5834}"/>
              </a:ext>
            </a:extLst>
          </p:cNvPr>
          <p:cNvSpPr txBox="1"/>
          <p:nvPr/>
        </p:nvSpPr>
        <p:spPr>
          <a:xfrm>
            <a:off x="6269872" y="5914784"/>
            <a:ext cx="3357912" cy="307777"/>
          </a:xfrm>
          <a:prstGeom prst="rect">
            <a:avLst/>
          </a:prstGeom>
          <a:noFill/>
        </p:spPr>
        <p:txBody>
          <a:bodyPr wrap="square" rtlCol="0">
            <a:spAutoFit/>
          </a:bodyPr>
          <a:lstStyle/>
          <a:p>
            <a:pPr algn="l"/>
            <a:r>
              <a:rPr lang="en-CA" sz="1400" dirty="0">
                <a:solidFill>
                  <a:schemeClr val="tx1"/>
                </a:solidFill>
              </a:rPr>
              <a:t>1000 pF 	1.1 ms </a:t>
            </a:r>
          </a:p>
        </p:txBody>
      </p:sp>
      <p:sp>
        <p:nvSpPr>
          <p:cNvPr id="37" name="TextBox 36">
            <a:extLst>
              <a:ext uri="{FF2B5EF4-FFF2-40B4-BE49-F238E27FC236}">
                <a16:creationId xmlns:a16="http://schemas.microsoft.com/office/drawing/2014/main" id="{649C07F4-0589-8413-CBD0-216A2BA6282A}"/>
              </a:ext>
            </a:extLst>
          </p:cNvPr>
          <p:cNvSpPr txBox="1"/>
          <p:nvPr/>
        </p:nvSpPr>
        <p:spPr>
          <a:xfrm>
            <a:off x="6269872" y="6332088"/>
            <a:ext cx="3381547" cy="307777"/>
          </a:xfrm>
          <a:prstGeom prst="rect">
            <a:avLst/>
          </a:prstGeom>
          <a:noFill/>
        </p:spPr>
        <p:txBody>
          <a:bodyPr wrap="square" rtlCol="0">
            <a:spAutoFit/>
          </a:bodyPr>
          <a:lstStyle/>
          <a:p>
            <a:pPr algn="l"/>
            <a:r>
              <a:rPr lang="en-CA" sz="1400" dirty="0">
                <a:solidFill>
                  <a:schemeClr val="tx1"/>
                </a:solidFill>
              </a:rPr>
              <a:t>10000 pF 	8.2 ms</a:t>
            </a:r>
          </a:p>
        </p:txBody>
      </p:sp>
      <p:sp>
        <p:nvSpPr>
          <p:cNvPr id="3" name="TextBox 2">
            <a:extLst>
              <a:ext uri="{FF2B5EF4-FFF2-40B4-BE49-F238E27FC236}">
                <a16:creationId xmlns:a16="http://schemas.microsoft.com/office/drawing/2014/main" id="{2416D98C-2992-5F7A-87BA-FD138285D9A0}"/>
              </a:ext>
            </a:extLst>
          </p:cNvPr>
          <p:cNvSpPr txBox="1"/>
          <p:nvPr/>
        </p:nvSpPr>
        <p:spPr>
          <a:xfrm>
            <a:off x="650599" y="1520068"/>
            <a:ext cx="3368030" cy="307777"/>
          </a:xfrm>
          <a:prstGeom prst="rect">
            <a:avLst/>
          </a:prstGeom>
          <a:noFill/>
        </p:spPr>
        <p:txBody>
          <a:bodyPr wrap="square" rtlCol="0">
            <a:spAutoFit/>
          </a:bodyPr>
          <a:lstStyle/>
          <a:p>
            <a:pPr algn="l"/>
            <a:r>
              <a:rPr lang="en-CA" sz="1400" dirty="0">
                <a:solidFill>
                  <a:schemeClr val="tx1"/>
                </a:solidFill>
              </a:rPr>
              <a:t>Unstabilized Level</a:t>
            </a:r>
          </a:p>
        </p:txBody>
      </p:sp>
      <p:sp>
        <p:nvSpPr>
          <p:cNvPr id="4" name="TextBox 3">
            <a:extLst>
              <a:ext uri="{FF2B5EF4-FFF2-40B4-BE49-F238E27FC236}">
                <a16:creationId xmlns:a16="http://schemas.microsoft.com/office/drawing/2014/main" id="{784752A7-5218-B4EE-2BE1-DC1F52EB0A54}"/>
              </a:ext>
            </a:extLst>
          </p:cNvPr>
          <p:cNvSpPr txBox="1"/>
          <p:nvPr/>
        </p:nvSpPr>
        <p:spPr>
          <a:xfrm>
            <a:off x="3588684" y="2364192"/>
            <a:ext cx="1023444" cy="523220"/>
          </a:xfrm>
          <a:prstGeom prst="rect">
            <a:avLst/>
          </a:prstGeom>
          <a:noFill/>
        </p:spPr>
        <p:txBody>
          <a:bodyPr wrap="square" rtlCol="0">
            <a:spAutoFit/>
          </a:bodyPr>
          <a:lstStyle/>
          <a:p>
            <a:pPr algn="l"/>
            <a:r>
              <a:rPr lang="en-CA" sz="1400" dirty="0">
                <a:solidFill>
                  <a:schemeClr val="tx1"/>
                </a:solidFill>
              </a:rPr>
              <a:t>Stabilized Level</a:t>
            </a:r>
          </a:p>
        </p:txBody>
      </p:sp>
      <p:sp>
        <p:nvSpPr>
          <p:cNvPr id="5" name="TextBox 4">
            <a:extLst>
              <a:ext uri="{FF2B5EF4-FFF2-40B4-BE49-F238E27FC236}">
                <a16:creationId xmlns:a16="http://schemas.microsoft.com/office/drawing/2014/main" id="{E922BB62-EC7D-690E-DBBF-1DD4F452FD74}"/>
              </a:ext>
            </a:extLst>
          </p:cNvPr>
          <p:cNvSpPr txBox="1"/>
          <p:nvPr/>
        </p:nvSpPr>
        <p:spPr>
          <a:xfrm>
            <a:off x="5842786" y="4661752"/>
            <a:ext cx="2696694" cy="307777"/>
          </a:xfrm>
          <a:prstGeom prst="rect">
            <a:avLst/>
          </a:prstGeom>
          <a:noFill/>
        </p:spPr>
        <p:txBody>
          <a:bodyPr wrap="square" rtlCol="0">
            <a:spAutoFit/>
          </a:bodyPr>
          <a:lstStyle/>
          <a:p>
            <a:pPr algn="l"/>
            <a:r>
              <a:rPr lang="en-CA" sz="1400" b="1" u="sng" dirty="0">
                <a:solidFill>
                  <a:schemeClr val="tx1"/>
                </a:solidFill>
              </a:rPr>
              <a:t>Capacitor RC Time Constant</a:t>
            </a:r>
          </a:p>
        </p:txBody>
      </p:sp>
    </p:spTree>
    <p:extLst>
      <p:ext uri="{BB962C8B-B14F-4D97-AF65-F5344CB8AC3E}">
        <p14:creationId xmlns:p14="http://schemas.microsoft.com/office/powerpoint/2010/main" val="31026281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C0B14-DA09-E5E3-FDD4-297DDC4CF958}"/>
              </a:ext>
            </a:extLst>
          </p:cNvPr>
          <p:cNvSpPr>
            <a:spLocks noGrp="1"/>
          </p:cNvSpPr>
          <p:nvPr>
            <p:ph type="title"/>
          </p:nvPr>
        </p:nvSpPr>
        <p:spPr>
          <a:xfrm>
            <a:off x="467544" y="181037"/>
            <a:ext cx="7128792" cy="556855"/>
          </a:xfrm>
        </p:spPr>
        <p:txBody>
          <a:bodyPr wrap="square">
            <a:normAutofit fontScale="90000"/>
          </a:bodyPr>
          <a:lstStyle/>
          <a:p>
            <a:pPr algn="ctr">
              <a:lnSpc>
                <a:spcPct val="90000"/>
              </a:lnSpc>
            </a:pPr>
            <a:r>
              <a:rPr lang="en-CA" sz="3300"/>
              <a:t>Supplementary: Sample and Hold Data </a:t>
            </a:r>
            <a:r>
              <a:rPr lang="en-CA" sz="3300" err="1"/>
              <a:t>Con’t</a:t>
            </a:r>
            <a:endParaRPr lang="en-CA" sz="3300"/>
          </a:p>
        </p:txBody>
      </p:sp>
      <p:pic>
        <p:nvPicPr>
          <p:cNvPr id="7" name="object 8">
            <a:extLst>
              <a:ext uri="{FF2B5EF4-FFF2-40B4-BE49-F238E27FC236}">
                <a16:creationId xmlns:a16="http://schemas.microsoft.com/office/drawing/2014/main" id="{91C12FAC-BF1E-4341-A057-40A5BF45A46A}"/>
              </a:ext>
            </a:extLst>
          </p:cNvPr>
          <p:cNvPicPr/>
          <p:nvPr/>
        </p:nvPicPr>
        <p:blipFill>
          <a:blip r:embed="rId3" cstate="print"/>
          <a:stretch>
            <a:fillRect/>
          </a:stretch>
        </p:blipFill>
        <p:spPr>
          <a:xfrm>
            <a:off x="7960646" y="0"/>
            <a:ext cx="909141" cy="1246838"/>
          </a:xfrm>
          <a:prstGeom prst="rect">
            <a:avLst/>
          </a:prstGeom>
        </p:spPr>
      </p:pic>
      <p:pic>
        <p:nvPicPr>
          <p:cNvPr id="2054" name="Picture 6">
            <a:extLst>
              <a:ext uri="{FF2B5EF4-FFF2-40B4-BE49-F238E27FC236}">
                <a16:creationId xmlns:a16="http://schemas.microsoft.com/office/drawing/2014/main" id="{178863A5-7917-CE71-A905-44577BB89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205" y="1084090"/>
            <a:ext cx="3400028" cy="251745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E335E0EF-5C61-BDAC-D3EE-730E08ED5D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8177" y="1097684"/>
            <a:ext cx="3456384" cy="2490266"/>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36010FF3-FC30-8997-E856-249F9C598BDB}"/>
              </a:ext>
            </a:extLst>
          </p:cNvPr>
          <p:cNvPicPr>
            <a:picLocks noChangeAspect="1"/>
          </p:cNvPicPr>
          <p:nvPr/>
        </p:nvPicPr>
        <p:blipFill rotWithShape="1">
          <a:blip r:embed="rId6"/>
          <a:srcRect b="9257"/>
          <a:stretch/>
        </p:blipFill>
        <p:spPr>
          <a:xfrm>
            <a:off x="4283969" y="3594752"/>
            <a:ext cx="3840980" cy="2760195"/>
          </a:xfrm>
          <a:prstGeom prst="rect">
            <a:avLst/>
          </a:prstGeom>
        </p:spPr>
      </p:pic>
      <p:sp>
        <p:nvSpPr>
          <p:cNvPr id="34" name="TextBox 33">
            <a:extLst>
              <a:ext uri="{FF2B5EF4-FFF2-40B4-BE49-F238E27FC236}">
                <a16:creationId xmlns:a16="http://schemas.microsoft.com/office/drawing/2014/main" id="{F49E30F0-298B-6A1F-2057-F3769F488ABD}"/>
              </a:ext>
            </a:extLst>
          </p:cNvPr>
          <p:cNvSpPr txBox="1"/>
          <p:nvPr/>
        </p:nvSpPr>
        <p:spPr>
          <a:xfrm>
            <a:off x="1375829" y="6338486"/>
            <a:ext cx="5976664" cy="523220"/>
          </a:xfrm>
          <a:prstGeom prst="rect">
            <a:avLst/>
          </a:prstGeom>
          <a:noFill/>
        </p:spPr>
        <p:txBody>
          <a:bodyPr wrap="square" rtlCol="0">
            <a:spAutoFit/>
          </a:bodyPr>
          <a:lstStyle/>
          <a:p>
            <a:pPr algn="ctr"/>
            <a:r>
              <a:rPr lang="en-CA" sz="1400"/>
              <a:t>Time Constant: 6.42E-04s</a:t>
            </a:r>
          </a:p>
          <a:p>
            <a:pPr algn="ctr"/>
            <a:r>
              <a:rPr lang="en-CA" sz="1400"/>
              <a:t>Approximate Max-Instability Time: 0.001926s</a:t>
            </a:r>
          </a:p>
        </p:txBody>
      </p:sp>
      <p:pic>
        <p:nvPicPr>
          <p:cNvPr id="2050" name="Picture 2">
            <a:extLst>
              <a:ext uri="{FF2B5EF4-FFF2-40B4-BE49-F238E27FC236}">
                <a16:creationId xmlns:a16="http://schemas.microsoft.com/office/drawing/2014/main" id="{E9CB3994-045C-4C6C-C152-06E7E4FA77A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858" r="3376"/>
          <a:stretch/>
        </p:blipFill>
        <p:spPr bwMode="auto">
          <a:xfrm>
            <a:off x="611560" y="3666171"/>
            <a:ext cx="3232398" cy="2674987"/>
          </a:xfrm>
          <a:prstGeom prst="rect">
            <a:avLst/>
          </a:prstGeom>
          <a:noFill/>
          <a:extLst>
            <a:ext uri="{909E8E84-426E-40DD-AFC4-6F175D3DCCD1}">
              <a14:hiddenFill xmlns:a14="http://schemas.microsoft.com/office/drawing/2010/main">
                <a:solidFill>
                  <a:srgbClr val="FFFFFF"/>
                </a:solidFill>
              </a14:hiddenFill>
            </a:ext>
          </a:extLst>
        </p:spPr>
      </p:pic>
      <p:sp>
        <p:nvSpPr>
          <p:cNvPr id="3" name="Arrow: Right 2">
            <a:extLst>
              <a:ext uri="{FF2B5EF4-FFF2-40B4-BE49-F238E27FC236}">
                <a16:creationId xmlns:a16="http://schemas.microsoft.com/office/drawing/2014/main" id="{B5F60093-0ECF-FD61-7BB9-1CB94A08E0F7}"/>
              </a:ext>
            </a:extLst>
          </p:cNvPr>
          <p:cNvSpPr/>
          <p:nvPr/>
        </p:nvSpPr>
        <p:spPr>
          <a:xfrm>
            <a:off x="3937233" y="4725144"/>
            <a:ext cx="418743" cy="1440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Arrow: Right 3">
            <a:extLst>
              <a:ext uri="{FF2B5EF4-FFF2-40B4-BE49-F238E27FC236}">
                <a16:creationId xmlns:a16="http://schemas.microsoft.com/office/drawing/2014/main" id="{CAF0A198-F587-CA49-39B1-ADE5CCCEF7CB}"/>
              </a:ext>
            </a:extLst>
          </p:cNvPr>
          <p:cNvSpPr/>
          <p:nvPr/>
        </p:nvSpPr>
        <p:spPr>
          <a:xfrm>
            <a:off x="3945418" y="2207218"/>
            <a:ext cx="418743" cy="1440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F6E80C55-6242-2982-36E6-ACA62346CAA0}"/>
              </a:ext>
            </a:extLst>
          </p:cNvPr>
          <p:cNvSpPr txBox="1"/>
          <p:nvPr/>
        </p:nvSpPr>
        <p:spPr>
          <a:xfrm rot="16200000">
            <a:off x="-174708" y="2272913"/>
            <a:ext cx="1572535" cy="200055"/>
          </a:xfrm>
          <a:prstGeom prst="rect">
            <a:avLst/>
          </a:prstGeom>
          <a:noFill/>
        </p:spPr>
        <p:txBody>
          <a:bodyPr wrap="square" rtlCol="0">
            <a:spAutoFit/>
          </a:bodyPr>
          <a:lstStyle/>
          <a:p>
            <a:pPr algn="r"/>
            <a:r>
              <a:rPr lang="en-CA" sz="700" dirty="0">
                <a:highlight>
                  <a:srgbClr val="FFFFFF"/>
                </a:highlight>
                <a:latin typeface="Arial" panose="020B0604020202020204" pitchFamily="34" charset="0"/>
                <a:cs typeface="Arial" panose="020B0604020202020204" pitchFamily="34" charset="0"/>
              </a:rPr>
              <a:t>(</a:t>
            </a:r>
            <a:r>
              <a:rPr lang="el-GR" sz="700" dirty="0">
                <a:highlight>
                  <a:srgbClr val="FFFFFF"/>
                </a:highlight>
                <a:latin typeface="Arial" panose="020B0604020202020204" pitchFamily="34" charset="0"/>
                <a:cs typeface="Arial" panose="020B0604020202020204" pitchFamily="34" charset="0"/>
              </a:rPr>
              <a:t>μ</a:t>
            </a:r>
            <a:r>
              <a:rPr lang="en-CA" sz="700" dirty="0">
                <a:highlight>
                  <a:srgbClr val="FFFFFF"/>
                </a:highlight>
              </a:rPr>
              <a:t>W)</a:t>
            </a:r>
          </a:p>
        </p:txBody>
      </p:sp>
      <p:sp>
        <p:nvSpPr>
          <p:cNvPr id="6" name="TextBox 5">
            <a:extLst>
              <a:ext uri="{FF2B5EF4-FFF2-40B4-BE49-F238E27FC236}">
                <a16:creationId xmlns:a16="http://schemas.microsoft.com/office/drawing/2014/main" id="{1E6E86A7-4990-0E59-8899-7157468F7F66}"/>
              </a:ext>
            </a:extLst>
          </p:cNvPr>
          <p:cNvSpPr txBox="1"/>
          <p:nvPr/>
        </p:nvSpPr>
        <p:spPr>
          <a:xfrm rot="16200000">
            <a:off x="-167955" y="4928870"/>
            <a:ext cx="1572535" cy="200055"/>
          </a:xfrm>
          <a:prstGeom prst="rect">
            <a:avLst/>
          </a:prstGeom>
          <a:noFill/>
        </p:spPr>
        <p:txBody>
          <a:bodyPr wrap="square" rtlCol="0">
            <a:spAutoFit/>
          </a:bodyPr>
          <a:lstStyle/>
          <a:p>
            <a:pPr algn="r"/>
            <a:r>
              <a:rPr lang="en-CA" sz="700" dirty="0">
                <a:highlight>
                  <a:srgbClr val="FFFFFF"/>
                </a:highlight>
                <a:latin typeface="Arial" panose="020B0604020202020204" pitchFamily="34" charset="0"/>
                <a:cs typeface="Arial" panose="020B0604020202020204" pitchFamily="34" charset="0"/>
              </a:rPr>
              <a:t>(</a:t>
            </a:r>
            <a:r>
              <a:rPr lang="el-GR" sz="700" dirty="0">
                <a:highlight>
                  <a:srgbClr val="FFFFFF"/>
                </a:highlight>
                <a:latin typeface="Arial" panose="020B0604020202020204" pitchFamily="34" charset="0"/>
                <a:cs typeface="Arial" panose="020B0604020202020204" pitchFamily="34" charset="0"/>
              </a:rPr>
              <a:t>μ</a:t>
            </a:r>
            <a:r>
              <a:rPr lang="en-CA" sz="700" dirty="0">
                <a:highlight>
                  <a:srgbClr val="FFFFFF"/>
                </a:highlight>
              </a:rPr>
              <a:t>W)</a:t>
            </a:r>
          </a:p>
        </p:txBody>
      </p:sp>
      <p:sp>
        <p:nvSpPr>
          <p:cNvPr id="8" name="TextBox 7">
            <a:extLst>
              <a:ext uri="{FF2B5EF4-FFF2-40B4-BE49-F238E27FC236}">
                <a16:creationId xmlns:a16="http://schemas.microsoft.com/office/drawing/2014/main" id="{84AA34E5-E84D-A23F-D47F-E4DF572857BA}"/>
              </a:ext>
            </a:extLst>
          </p:cNvPr>
          <p:cNvSpPr txBox="1"/>
          <p:nvPr/>
        </p:nvSpPr>
        <p:spPr>
          <a:xfrm rot="16200000">
            <a:off x="3745343" y="4877280"/>
            <a:ext cx="1572535" cy="200055"/>
          </a:xfrm>
          <a:prstGeom prst="rect">
            <a:avLst/>
          </a:prstGeom>
          <a:noFill/>
        </p:spPr>
        <p:txBody>
          <a:bodyPr wrap="square" rtlCol="0">
            <a:spAutoFit/>
          </a:bodyPr>
          <a:lstStyle/>
          <a:p>
            <a:pPr algn="r"/>
            <a:r>
              <a:rPr lang="en-CA" sz="700" dirty="0">
                <a:highlight>
                  <a:srgbClr val="FFFFFF"/>
                </a:highlight>
                <a:latin typeface="Arial" panose="020B0604020202020204" pitchFamily="34" charset="0"/>
                <a:cs typeface="Arial" panose="020B0604020202020204" pitchFamily="34" charset="0"/>
              </a:rPr>
              <a:t>(</a:t>
            </a:r>
            <a:r>
              <a:rPr lang="el-GR" sz="700" dirty="0">
                <a:highlight>
                  <a:srgbClr val="FFFFFF"/>
                </a:highlight>
                <a:latin typeface="Arial" panose="020B0604020202020204" pitchFamily="34" charset="0"/>
                <a:cs typeface="Arial" panose="020B0604020202020204" pitchFamily="34" charset="0"/>
              </a:rPr>
              <a:t>μ</a:t>
            </a:r>
            <a:r>
              <a:rPr lang="en-CA" sz="700" dirty="0">
                <a:highlight>
                  <a:srgbClr val="FFFFFF"/>
                </a:highlight>
              </a:rPr>
              <a:t>W)</a:t>
            </a:r>
          </a:p>
        </p:txBody>
      </p:sp>
      <p:sp>
        <p:nvSpPr>
          <p:cNvPr id="9" name="TextBox 8">
            <a:extLst>
              <a:ext uri="{FF2B5EF4-FFF2-40B4-BE49-F238E27FC236}">
                <a16:creationId xmlns:a16="http://schemas.microsoft.com/office/drawing/2014/main" id="{5B92DBB9-CBC0-810B-740F-EA81296D6424}"/>
              </a:ext>
            </a:extLst>
          </p:cNvPr>
          <p:cNvSpPr txBox="1"/>
          <p:nvPr/>
        </p:nvSpPr>
        <p:spPr>
          <a:xfrm rot="16200000">
            <a:off x="3804269" y="2280152"/>
            <a:ext cx="1572535" cy="200055"/>
          </a:xfrm>
          <a:prstGeom prst="rect">
            <a:avLst/>
          </a:prstGeom>
          <a:noFill/>
        </p:spPr>
        <p:txBody>
          <a:bodyPr wrap="square" rtlCol="0">
            <a:spAutoFit/>
          </a:bodyPr>
          <a:lstStyle/>
          <a:p>
            <a:pPr algn="r"/>
            <a:r>
              <a:rPr lang="en-CA" sz="700" dirty="0">
                <a:highlight>
                  <a:srgbClr val="FFFFFF"/>
                </a:highlight>
                <a:latin typeface="Arial" panose="020B0604020202020204" pitchFamily="34" charset="0"/>
                <a:cs typeface="Arial" panose="020B0604020202020204" pitchFamily="34" charset="0"/>
              </a:rPr>
              <a:t>(</a:t>
            </a:r>
            <a:r>
              <a:rPr lang="el-GR" sz="700" dirty="0">
                <a:highlight>
                  <a:srgbClr val="FFFFFF"/>
                </a:highlight>
                <a:latin typeface="Arial" panose="020B0604020202020204" pitchFamily="34" charset="0"/>
                <a:cs typeface="Arial" panose="020B0604020202020204" pitchFamily="34" charset="0"/>
              </a:rPr>
              <a:t>μ</a:t>
            </a:r>
            <a:r>
              <a:rPr lang="en-CA" sz="700" dirty="0">
                <a:highlight>
                  <a:srgbClr val="FFFFFF"/>
                </a:highlight>
              </a:rPr>
              <a:t>W)</a:t>
            </a:r>
          </a:p>
        </p:txBody>
      </p:sp>
    </p:spTree>
    <p:extLst>
      <p:ext uri="{BB962C8B-B14F-4D97-AF65-F5344CB8AC3E}">
        <p14:creationId xmlns:p14="http://schemas.microsoft.com/office/powerpoint/2010/main" val="552043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a:extLst>
              <a:ext uri="{FF2B5EF4-FFF2-40B4-BE49-F238E27FC236}">
                <a16:creationId xmlns:a16="http://schemas.microsoft.com/office/drawing/2014/main" id="{7E1D2C52-11D1-036E-EC4F-A768E460D75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6453" b="2395"/>
          <a:stretch/>
        </p:blipFill>
        <p:spPr bwMode="auto">
          <a:xfrm>
            <a:off x="6061071" y="1004006"/>
            <a:ext cx="2277805" cy="162165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B5323F3-EF04-0354-1B03-B933EB1A74E2}"/>
              </a:ext>
            </a:extLst>
          </p:cNvPr>
          <p:cNvSpPr>
            <a:spLocks noGrp="1"/>
          </p:cNvSpPr>
          <p:nvPr>
            <p:ph type="title"/>
          </p:nvPr>
        </p:nvSpPr>
        <p:spPr>
          <a:xfrm>
            <a:off x="274213" y="224108"/>
            <a:ext cx="7098030" cy="553998"/>
          </a:xfrm>
        </p:spPr>
        <p:txBody>
          <a:bodyPr/>
          <a:lstStyle/>
          <a:p>
            <a:r>
              <a:rPr lang="en-CA" dirty="0"/>
              <a:t>Pulsed Stabilization</a:t>
            </a:r>
          </a:p>
        </p:txBody>
      </p:sp>
      <p:pic>
        <p:nvPicPr>
          <p:cNvPr id="6" name="Content Placeholder 5" descr="A diagram of a laser beam&#10;&#10;Description automatically generated">
            <a:extLst>
              <a:ext uri="{FF2B5EF4-FFF2-40B4-BE49-F238E27FC236}">
                <a16:creationId xmlns:a16="http://schemas.microsoft.com/office/drawing/2014/main" id="{300BC126-D65D-2341-DE96-D568D68A5A26}"/>
              </a:ext>
            </a:extLst>
          </p:cNvPr>
          <p:cNvPicPr>
            <a:picLocks noGrp="1" noChangeAspect="1"/>
          </p:cNvPicPr>
          <p:nvPr>
            <p:ph sz="half" idx="2"/>
          </p:nvPr>
        </p:nvPicPr>
        <p:blipFill rotWithShape="1">
          <a:blip r:embed="rId4">
            <a:extLst>
              <a:ext uri="{28A0092B-C50C-407E-A947-70E740481C1C}">
                <a14:useLocalDpi xmlns:a14="http://schemas.microsoft.com/office/drawing/2010/main" val="0"/>
              </a:ext>
            </a:extLst>
          </a:blip>
          <a:srcRect l="18360" r="3808" b="5886"/>
          <a:stretch/>
        </p:blipFill>
        <p:spPr>
          <a:xfrm>
            <a:off x="35496" y="1569724"/>
            <a:ext cx="4608511" cy="4179480"/>
          </a:xfrm>
        </p:spPr>
      </p:pic>
      <p:sp>
        <p:nvSpPr>
          <p:cNvPr id="7" name="Rectangle: Rounded Corners 6">
            <a:extLst>
              <a:ext uri="{FF2B5EF4-FFF2-40B4-BE49-F238E27FC236}">
                <a16:creationId xmlns:a16="http://schemas.microsoft.com/office/drawing/2014/main" id="{6D0D343B-C6A7-D441-0A8B-3593F26691C8}"/>
              </a:ext>
            </a:extLst>
          </p:cNvPr>
          <p:cNvSpPr/>
          <p:nvPr/>
        </p:nvSpPr>
        <p:spPr>
          <a:xfrm>
            <a:off x="5984452" y="908720"/>
            <a:ext cx="2453568" cy="1860818"/>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8" name="Straight Connector 7">
            <a:extLst>
              <a:ext uri="{FF2B5EF4-FFF2-40B4-BE49-F238E27FC236}">
                <a16:creationId xmlns:a16="http://schemas.microsoft.com/office/drawing/2014/main" id="{729880A2-1ED3-1E73-6628-C2401DCDA5B6}"/>
              </a:ext>
            </a:extLst>
          </p:cNvPr>
          <p:cNvCxnSpPr>
            <a:cxnSpLocks/>
          </p:cNvCxnSpPr>
          <p:nvPr/>
        </p:nvCxnSpPr>
        <p:spPr>
          <a:xfrm flipV="1">
            <a:off x="3490791" y="1312496"/>
            <a:ext cx="1" cy="388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63F1F62-D8AF-C108-05C2-27A17E98C906}"/>
              </a:ext>
            </a:extLst>
          </p:cNvPr>
          <p:cNvCxnSpPr>
            <a:cxnSpLocks/>
          </p:cNvCxnSpPr>
          <p:nvPr/>
        </p:nvCxnSpPr>
        <p:spPr>
          <a:xfrm flipV="1">
            <a:off x="3490792" y="2032576"/>
            <a:ext cx="0" cy="1516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BE1802C-3B9F-8CF4-606E-0A29473A5AFC}"/>
              </a:ext>
            </a:extLst>
          </p:cNvPr>
          <p:cNvCxnSpPr>
            <a:cxnSpLocks/>
          </p:cNvCxnSpPr>
          <p:nvPr/>
        </p:nvCxnSpPr>
        <p:spPr>
          <a:xfrm flipV="1">
            <a:off x="5408388" y="1611743"/>
            <a:ext cx="432048" cy="8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56246D7-3A25-A3E6-DC2B-81B50FEA754F}"/>
              </a:ext>
            </a:extLst>
          </p:cNvPr>
          <p:cNvCxnSpPr>
            <a:cxnSpLocks/>
          </p:cNvCxnSpPr>
          <p:nvPr/>
        </p:nvCxnSpPr>
        <p:spPr>
          <a:xfrm>
            <a:off x="3490792" y="2032576"/>
            <a:ext cx="19175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813E6E7-7A8E-35DB-8C5F-320F4F0CBA52}"/>
              </a:ext>
            </a:extLst>
          </p:cNvPr>
          <p:cNvCxnSpPr>
            <a:cxnSpLocks/>
          </p:cNvCxnSpPr>
          <p:nvPr/>
        </p:nvCxnSpPr>
        <p:spPr>
          <a:xfrm>
            <a:off x="3490792" y="1312496"/>
            <a:ext cx="1917596"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C940DD07-320E-92E5-0C3E-1984CF33EC48}"/>
              </a:ext>
            </a:extLst>
          </p:cNvPr>
          <p:cNvSpPr/>
          <p:nvPr/>
        </p:nvSpPr>
        <p:spPr>
          <a:xfrm>
            <a:off x="3347864" y="1530617"/>
            <a:ext cx="285854" cy="850966"/>
          </a:xfrm>
          <a:prstGeom prst="roundRect">
            <a:avLst/>
          </a:prstGeom>
          <a:noFill/>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7" name="Straight Connector 16">
            <a:extLst>
              <a:ext uri="{FF2B5EF4-FFF2-40B4-BE49-F238E27FC236}">
                <a16:creationId xmlns:a16="http://schemas.microsoft.com/office/drawing/2014/main" id="{9C76D253-5B27-F722-9357-349BB568E7FC}"/>
              </a:ext>
            </a:extLst>
          </p:cNvPr>
          <p:cNvCxnSpPr>
            <a:cxnSpLocks/>
          </p:cNvCxnSpPr>
          <p:nvPr/>
        </p:nvCxnSpPr>
        <p:spPr>
          <a:xfrm>
            <a:off x="5408388" y="1611743"/>
            <a:ext cx="0" cy="420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9CF35F5-F747-6C43-EBDF-F74CC1B3D6E3}"/>
              </a:ext>
            </a:extLst>
          </p:cNvPr>
          <p:cNvCxnSpPr>
            <a:cxnSpLocks/>
          </p:cNvCxnSpPr>
          <p:nvPr/>
        </p:nvCxnSpPr>
        <p:spPr>
          <a:xfrm>
            <a:off x="5408388" y="1312496"/>
            <a:ext cx="0" cy="328589"/>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6AC0D5-4CC3-8455-8D69-713892B8FE6E}"/>
              </a:ext>
            </a:extLst>
          </p:cNvPr>
          <p:cNvSpPr txBox="1"/>
          <p:nvPr/>
        </p:nvSpPr>
        <p:spPr>
          <a:xfrm>
            <a:off x="4158895" y="3232390"/>
            <a:ext cx="4791661" cy="3539430"/>
          </a:xfrm>
          <a:prstGeom prst="rect">
            <a:avLst/>
          </a:prstGeom>
          <a:noFill/>
        </p:spPr>
        <p:txBody>
          <a:bodyPr wrap="square" rtlCol="0">
            <a:spAutoFit/>
          </a:bodyPr>
          <a:lstStyle/>
          <a:p>
            <a:pPr marL="285750" indent="-285750" algn="ctr">
              <a:buFont typeface="Arial" panose="020B0604020202020204" pitchFamily="34" charset="0"/>
              <a:buChar char="•"/>
            </a:pPr>
            <a:r>
              <a:rPr lang="en-CA" sz="1600" b="1" dirty="0"/>
              <a:t>AOM is pulsed on/off for some experiments</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r>
              <a:rPr lang="en-CA" sz="1600" b="1" dirty="0"/>
              <a:t>Using a sample and hold triggered by a TTL pulse, it is possible to engage the feedback for a selected time </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r>
              <a:rPr lang="en-CA" sz="1600" b="1" dirty="0"/>
              <a:t>The moment the light turns on, the signal transmitted by the circuit shows a spike and rings down </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r>
              <a:rPr lang="en-CA" sz="1600" b="1" dirty="0"/>
              <a:t>Sample and hold is engaged after the ring down period</a:t>
            </a:r>
          </a:p>
          <a:p>
            <a:pPr marL="285750" indent="-285750" algn="ctr">
              <a:buFont typeface="Arial" panose="020B0604020202020204" pitchFamily="34" charset="0"/>
              <a:buChar char="•"/>
            </a:pPr>
            <a:endParaRPr lang="en-CA" sz="1600" b="1" dirty="0"/>
          </a:p>
          <a:p>
            <a:pPr marL="285750" indent="-285750" algn="ctr">
              <a:buFont typeface="Arial" panose="020B0604020202020204" pitchFamily="34" charset="0"/>
              <a:buChar char="•"/>
            </a:pPr>
            <a:endParaRPr lang="en-CA" sz="1600" dirty="0"/>
          </a:p>
        </p:txBody>
      </p:sp>
      <p:pic>
        <p:nvPicPr>
          <p:cNvPr id="3" name="Picture 2">
            <a:extLst>
              <a:ext uri="{FF2B5EF4-FFF2-40B4-BE49-F238E27FC236}">
                <a16:creationId xmlns:a16="http://schemas.microsoft.com/office/drawing/2014/main" id="{C916E7DD-507B-398E-82D9-CA17C4C679D4}"/>
              </a:ext>
            </a:extLst>
          </p:cNvPr>
          <p:cNvPicPr>
            <a:picLocks noChangeAspect="1"/>
          </p:cNvPicPr>
          <p:nvPr/>
        </p:nvPicPr>
        <p:blipFill>
          <a:blip r:embed="rId5"/>
          <a:stretch>
            <a:fillRect/>
          </a:stretch>
        </p:blipFill>
        <p:spPr>
          <a:xfrm>
            <a:off x="3262549" y="4330336"/>
            <a:ext cx="967970" cy="471295"/>
          </a:xfrm>
          <a:prstGeom prst="rect">
            <a:avLst/>
          </a:prstGeom>
        </p:spPr>
      </p:pic>
    </p:spTree>
    <p:extLst>
      <p:ext uri="{BB962C8B-B14F-4D97-AF65-F5344CB8AC3E}">
        <p14:creationId xmlns:p14="http://schemas.microsoft.com/office/powerpoint/2010/main" val="39170768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D64EA-6E23-AA87-B62A-0E62018C077E}"/>
              </a:ext>
            </a:extLst>
          </p:cNvPr>
          <p:cNvSpPr>
            <a:spLocks noGrp="1"/>
          </p:cNvSpPr>
          <p:nvPr>
            <p:ph type="title"/>
          </p:nvPr>
        </p:nvSpPr>
        <p:spPr>
          <a:xfrm>
            <a:off x="0" y="124623"/>
            <a:ext cx="8280962" cy="1107996"/>
          </a:xfrm>
        </p:spPr>
        <p:txBody>
          <a:bodyPr/>
          <a:lstStyle/>
          <a:p>
            <a:pPr algn="ctr"/>
            <a:r>
              <a:rPr lang="en-CA" sz="3600"/>
              <a:t>Supplementary:  </a:t>
            </a:r>
            <a:r>
              <a:rPr lang="en-CA"/>
              <a:t>Power Through Vs S&amp;H</a:t>
            </a:r>
          </a:p>
        </p:txBody>
      </p:sp>
      <p:pic>
        <p:nvPicPr>
          <p:cNvPr id="4098" name="Picture 2">
            <a:extLst>
              <a:ext uri="{FF2B5EF4-FFF2-40B4-BE49-F238E27FC236}">
                <a16:creationId xmlns:a16="http://schemas.microsoft.com/office/drawing/2014/main" id="{94D4E174-B407-4727-C33A-23B2F9B2D3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287" y="1556793"/>
            <a:ext cx="4049769" cy="316300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EA902CC1-A7F9-C44A-9EC6-E1A45EF95A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9321" y="1556792"/>
            <a:ext cx="4049769" cy="316300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658CEC8-37EF-983D-D6CF-D1194BA3EBF8}"/>
              </a:ext>
            </a:extLst>
          </p:cNvPr>
          <p:cNvSpPr txBox="1"/>
          <p:nvPr/>
        </p:nvSpPr>
        <p:spPr>
          <a:xfrm>
            <a:off x="230939" y="1149423"/>
            <a:ext cx="4176464" cy="369332"/>
          </a:xfrm>
          <a:prstGeom prst="rect">
            <a:avLst/>
          </a:prstGeom>
          <a:noFill/>
        </p:spPr>
        <p:txBody>
          <a:bodyPr wrap="square" rtlCol="0">
            <a:spAutoFit/>
          </a:bodyPr>
          <a:lstStyle/>
          <a:p>
            <a:pPr algn="ctr"/>
            <a:r>
              <a:rPr lang="en-CA"/>
              <a:t>Power Through</a:t>
            </a:r>
          </a:p>
        </p:txBody>
      </p:sp>
      <p:sp>
        <p:nvSpPr>
          <p:cNvPr id="6" name="TextBox 5">
            <a:extLst>
              <a:ext uri="{FF2B5EF4-FFF2-40B4-BE49-F238E27FC236}">
                <a16:creationId xmlns:a16="http://schemas.microsoft.com/office/drawing/2014/main" id="{9BB71068-A66E-D604-F432-FBBBFC48F9CB}"/>
              </a:ext>
            </a:extLst>
          </p:cNvPr>
          <p:cNvSpPr txBox="1"/>
          <p:nvPr/>
        </p:nvSpPr>
        <p:spPr>
          <a:xfrm>
            <a:off x="4635973" y="1127811"/>
            <a:ext cx="4176464" cy="369332"/>
          </a:xfrm>
          <a:prstGeom prst="rect">
            <a:avLst/>
          </a:prstGeom>
          <a:noFill/>
        </p:spPr>
        <p:txBody>
          <a:bodyPr wrap="square" rtlCol="0">
            <a:spAutoFit/>
          </a:bodyPr>
          <a:lstStyle/>
          <a:p>
            <a:pPr algn="ctr"/>
            <a:r>
              <a:rPr lang="en-CA"/>
              <a:t>Sample and Hold</a:t>
            </a:r>
          </a:p>
        </p:txBody>
      </p:sp>
      <p:sp>
        <p:nvSpPr>
          <p:cNvPr id="7" name="TextBox 6">
            <a:extLst>
              <a:ext uri="{FF2B5EF4-FFF2-40B4-BE49-F238E27FC236}">
                <a16:creationId xmlns:a16="http://schemas.microsoft.com/office/drawing/2014/main" id="{BB881A20-4ECD-31A0-EDEB-80CF264A5A06}"/>
              </a:ext>
            </a:extLst>
          </p:cNvPr>
          <p:cNvSpPr txBox="1"/>
          <p:nvPr/>
        </p:nvSpPr>
        <p:spPr>
          <a:xfrm>
            <a:off x="395535" y="4797152"/>
            <a:ext cx="4303785" cy="1477328"/>
          </a:xfrm>
          <a:prstGeom prst="rect">
            <a:avLst/>
          </a:prstGeom>
          <a:noFill/>
        </p:spPr>
        <p:txBody>
          <a:bodyPr wrap="square" rtlCol="0">
            <a:spAutoFit/>
          </a:bodyPr>
          <a:lstStyle/>
          <a:p>
            <a:pPr marL="285750" indent="-285750">
              <a:buFontTx/>
              <a:buChar char="-"/>
            </a:pPr>
            <a:r>
              <a:rPr lang="en-CA"/>
              <a:t>PD input to the circuit is zero when the switch opens since the TTL pulse is synchronous with the RF TTL switch</a:t>
            </a:r>
            <a:endParaRPr lang="en-CA">
              <a:solidFill>
                <a:srgbClr val="FF0000"/>
              </a:solidFill>
            </a:endParaRPr>
          </a:p>
          <a:p>
            <a:pPr marL="285750" indent="-285750">
              <a:buFontTx/>
              <a:buChar char="-"/>
            </a:pPr>
            <a:r>
              <a:rPr lang="en-CA">
                <a:solidFill>
                  <a:srgbClr val="FF0000"/>
                </a:solidFill>
              </a:rPr>
              <a:t>PD signal experiences a 1V+ rail </a:t>
            </a:r>
          </a:p>
        </p:txBody>
      </p:sp>
      <p:sp>
        <p:nvSpPr>
          <p:cNvPr id="8" name="TextBox 7">
            <a:extLst>
              <a:ext uri="{FF2B5EF4-FFF2-40B4-BE49-F238E27FC236}">
                <a16:creationId xmlns:a16="http://schemas.microsoft.com/office/drawing/2014/main" id="{4A4F0E1B-EF0B-BB9A-43BD-DC745235FE6F}"/>
              </a:ext>
            </a:extLst>
          </p:cNvPr>
          <p:cNvSpPr txBox="1"/>
          <p:nvPr/>
        </p:nvSpPr>
        <p:spPr>
          <a:xfrm>
            <a:off x="4699321" y="4797152"/>
            <a:ext cx="4337174" cy="2031325"/>
          </a:xfrm>
          <a:prstGeom prst="rect">
            <a:avLst/>
          </a:prstGeom>
          <a:noFill/>
        </p:spPr>
        <p:txBody>
          <a:bodyPr wrap="square" rtlCol="0">
            <a:spAutoFit/>
          </a:bodyPr>
          <a:lstStyle/>
          <a:p>
            <a:pPr marL="285750" indent="-285750">
              <a:buFontTx/>
              <a:buChar char="-"/>
            </a:pPr>
            <a:r>
              <a:rPr lang="en-CA" dirty="0"/>
              <a:t>TTL signal delay to S&amp;H &lt; TTL switch delay</a:t>
            </a:r>
          </a:p>
          <a:p>
            <a:pPr marL="285750" indent="-285750">
              <a:buFontTx/>
              <a:buChar char="-"/>
            </a:pPr>
            <a:r>
              <a:rPr lang="en-CA" dirty="0"/>
              <a:t>Stabilized DC level= Unstabilized DC level</a:t>
            </a:r>
          </a:p>
          <a:p>
            <a:pPr marL="285750" indent="-285750">
              <a:buFontTx/>
              <a:buChar char="-"/>
            </a:pPr>
            <a:r>
              <a:rPr lang="en-CA" dirty="0">
                <a:solidFill>
                  <a:srgbClr val="00B050"/>
                </a:solidFill>
              </a:rPr>
              <a:t>Circuit stabilizes active signal and experiences only a small ring</a:t>
            </a:r>
          </a:p>
          <a:p>
            <a:pPr marL="285750" indent="-285750">
              <a:buFontTx/>
              <a:buChar char="-"/>
            </a:pPr>
            <a:endParaRPr lang="en-CA" dirty="0"/>
          </a:p>
        </p:txBody>
      </p:sp>
      <p:pic>
        <p:nvPicPr>
          <p:cNvPr id="3" name="object 8">
            <a:extLst>
              <a:ext uri="{FF2B5EF4-FFF2-40B4-BE49-F238E27FC236}">
                <a16:creationId xmlns:a16="http://schemas.microsoft.com/office/drawing/2014/main" id="{1A2A77A9-7DCA-8633-A0BC-8E2F3E35A8F5}"/>
              </a:ext>
            </a:extLst>
          </p:cNvPr>
          <p:cNvPicPr/>
          <p:nvPr/>
        </p:nvPicPr>
        <p:blipFill>
          <a:blip r:embed="rId5" cstate="print"/>
          <a:stretch>
            <a:fillRect/>
          </a:stretch>
        </p:blipFill>
        <p:spPr>
          <a:xfrm>
            <a:off x="8130604" y="0"/>
            <a:ext cx="815819" cy="1226414"/>
          </a:xfrm>
          <a:prstGeom prst="rect">
            <a:avLst/>
          </a:prstGeom>
        </p:spPr>
      </p:pic>
      <p:cxnSp>
        <p:nvCxnSpPr>
          <p:cNvPr id="9" name="Straight Connector 8">
            <a:extLst>
              <a:ext uri="{FF2B5EF4-FFF2-40B4-BE49-F238E27FC236}">
                <a16:creationId xmlns:a16="http://schemas.microsoft.com/office/drawing/2014/main" id="{FBFCE8AB-DE5F-3DA1-C6B2-2BF3B7698A97}"/>
              </a:ext>
            </a:extLst>
          </p:cNvPr>
          <p:cNvCxnSpPr>
            <a:cxnSpLocks/>
          </p:cNvCxnSpPr>
          <p:nvPr/>
        </p:nvCxnSpPr>
        <p:spPr>
          <a:xfrm flipV="1">
            <a:off x="1115616" y="3501008"/>
            <a:ext cx="0" cy="720080"/>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E7FAECC4-B6A2-557C-36D4-B72B255E4494}"/>
              </a:ext>
            </a:extLst>
          </p:cNvPr>
          <p:cNvCxnSpPr>
            <a:cxnSpLocks/>
          </p:cNvCxnSpPr>
          <p:nvPr/>
        </p:nvCxnSpPr>
        <p:spPr>
          <a:xfrm flipV="1">
            <a:off x="2195736" y="3501008"/>
            <a:ext cx="0" cy="720080"/>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AE23630F-D5BC-A9A1-0A78-FE27AD7C2BE4}"/>
              </a:ext>
            </a:extLst>
          </p:cNvPr>
          <p:cNvCxnSpPr>
            <a:cxnSpLocks/>
          </p:cNvCxnSpPr>
          <p:nvPr/>
        </p:nvCxnSpPr>
        <p:spPr>
          <a:xfrm flipV="1">
            <a:off x="4067944" y="3429000"/>
            <a:ext cx="0" cy="792088"/>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DFDEA74C-B149-85BF-E890-A8391E908876}"/>
              </a:ext>
            </a:extLst>
          </p:cNvPr>
          <p:cNvCxnSpPr>
            <a:cxnSpLocks/>
          </p:cNvCxnSpPr>
          <p:nvPr/>
        </p:nvCxnSpPr>
        <p:spPr>
          <a:xfrm>
            <a:off x="1115616" y="3501008"/>
            <a:ext cx="1080120" cy="0"/>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D2DE2A4A-874C-CEC3-DA7A-DC93C752FAB1}"/>
              </a:ext>
            </a:extLst>
          </p:cNvPr>
          <p:cNvCxnSpPr>
            <a:cxnSpLocks/>
          </p:cNvCxnSpPr>
          <p:nvPr/>
        </p:nvCxnSpPr>
        <p:spPr>
          <a:xfrm>
            <a:off x="5292080" y="1916832"/>
            <a:ext cx="1368152" cy="0"/>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3A92F180-1646-D825-EB3E-9031CF118DB1}"/>
              </a:ext>
            </a:extLst>
          </p:cNvPr>
          <p:cNvCxnSpPr>
            <a:cxnSpLocks/>
          </p:cNvCxnSpPr>
          <p:nvPr/>
        </p:nvCxnSpPr>
        <p:spPr>
          <a:xfrm>
            <a:off x="2195736" y="4221088"/>
            <a:ext cx="1872208" cy="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B1EC360A-3916-04F4-1CAF-8C141352B610}"/>
              </a:ext>
            </a:extLst>
          </p:cNvPr>
          <p:cNvCxnSpPr>
            <a:cxnSpLocks/>
          </p:cNvCxnSpPr>
          <p:nvPr/>
        </p:nvCxnSpPr>
        <p:spPr>
          <a:xfrm flipV="1">
            <a:off x="5292080" y="1916832"/>
            <a:ext cx="0" cy="2304256"/>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4DB5BFFF-E8F2-4FFE-C448-C4F30F8DAAA0}"/>
              </a:ext>
            </a:extLst>
          </p:cNvPr>
          <p:cNvCxnSpPr>
            <a:cxnSpLocks/>
          </p:cNvCxnSpPr>
          <p:nvPr/>
        </p:nvCxnSpPr>
        <p:spPr>
          <a:xfrm flipV="1">
            <a:off x="6660232" y="1916832"/>
            <a:ext cx="0" cy="2304256"/>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8E3715E8-22A7-D6BE-A7F1-1D3938BA6145}"/>
              </a:ext>
            </a:extLst>
          </p:cNvPr>
          <p:cNvCxnSpPr>
            <a:cxnSpLocks/>
          </p:cNvCxnSpPr>
          <p:nvPr/>
        </p:nvCxnSpPr>
        <p:spPr>
          <a:xfrm flipV="1">
            <a:off x="8388424" y="1916832"/>
            <a:ext cx="0" cy="2304256"/>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AFEB1EAE-5D4C-F81A-22D4-51E3E5695D28}"/>
              </a:ext>
            </a:extLst>
          </p:cNvPr>
          <p:cNvCxnSpPr>
            <a:cxnSpLocks/>
          </p:cNvCxnSpPr>
          <p:nvPr/>
        </p:nvCxnSpPr>
        <p:spPr>
          <a:xfrm>
            <a:off x="6660232" y="4221088"/>
            <a:ext cx="1728192"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46582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6F7B6DB-08F3-F509-96C0-96A0A2CB6D98}"/>
              </a:ext>
            </a:extLst>
          </p:cNvPr>
          <p:cNvPicPr>
            <a:picLocks noChangeAspect="1"/>
          </p:cNvPicPr>
          <p:nvPr/>
        </p:nvPicPr>
        <p:blipFill rotWithShape="1">
          <a:blip r:embed="rId3"/>
          <a:srcRect t="4378"/>
          <a:stretch/>
        </p:blipFill>
        <p:spPr>
          <a:xfrm>
            <a:off x="196904" y="476672"/>
            <a:ext cx="8730735" cy="6187980"/>
          </a:xfrm>
          <a:prstGeom prst="rect">
            <a:avLst/>
          </a:prstGeom>
        </p:spPr>
      </p:pic>
      <p:pic>
        <p:nvPicPr>
          <p:cNvPr id="4" name="object 8">
            <a:extLst>
              <a:ext uri="{FF2B5EF4-FFF2-40B4-BE49-F238E27FC236}">
                <a16:creationId xmlns:a16="http://schemas.microsoft.com/office/drawing/2014/main" id="{754E0AEE-F5FE-368D-9410-3DC1829C89CD}"/>
              </a:ext>
            </a:extLst>
          </p:cNvPr>
          <p:cNvPicPr/>
          <p:nvPr/>
        </p:nvPicPr>
        <p:blipFill>
          <a:blip r:embed="rId4" cstate="print"/>
          <a:stretch>
            <a:fillRect/>
          </a:stretch>
        </p:blipFill>
        <p:spPr>
          <a:xfrm>
            <a:off x="8130604" y="0"/>
            <a:ext cx="815819" cy="1226414"/>
          </a:xfrm>
          <a:prstGeom prst="rect">
            <a:avLst/>
          </a:prstGeom>
        </p:spPr>
      </p:pic>
      <p:sp>
        <p:nvSpPr>
          <p:cNvPr id="5" name="Title 1">
            <a:extLst>
              <a:ext uri="{FF2B5EF4-FFF2-40B4-BE49-F238E27FC236}">
                <a16:creationId xmlns:a16="http://schemas.microsoft.com/office/drawing/2014/main" id="{A59F7D6E-102F-5D8E-BAF2-F6A5374AD1E5}"/>
              </a:ext>
            </a:extLst>
          </p:cNvPr>
          <p:cNvSpPr>
            <a:spLocks noGrp="1"/>
          </p:cNvSpPr>
          <p:nvPr>
            <p:ph type="title"/>
          </p:nvPr>
        </p:nvSpPr>
        <p:spPr>
          <a:xfrm>
            <a:off x="-753577" y="593512"/>
            <a:ext cx="10214629" cy="632902"/>
          </a:xfrm>
        </p:spPr>
        <p:txBody>
          <a:bodyPr wrap="square">
            <a:normAutofit/>
          </a:bodyPr>
          <a:lstStyle/>
          <a:p>
            <a:pPr algn="ctr">
              <a:lnSpc>
                <a:spcPct val="90000"/>
              </a:lnSpc>
            </a:pPr>
            <a:r>
              <a:rPr lang="en-CA" sz="3300" dirty="0">
                <a:highlight>
                  <a:srgbClr val="FFFFFF"/>
                </a:highlight>
              </a:rPr>
              <a:t>Sign Posts</a:t>
            </a:r>
          </a:p>
        </p:txBody>
      </p:sp>
      <p:sp>
        <p:nvSpPr>
          <p:cNvPr id="6" name="Rectangle 5">
            <a:extLst>
              <a:ext uri="{FF2B5EF4-FFF2-40B4-BE49-F238E27FC236}">
                <a16:creationId xmlns:a16="http://schemas.microsoft.com/office/drawing/2014/main" id="{AE2C5BC7-0790-57EF-CA29-F94E10229C77}"/>
              </a:ext>
            </a:extLst>
          </p:cNvPr>
          <p:cNvSpPr/>
          <p:nvPr/>
        </p:nvSpPr>
        <p:spPr>
          <a:xfrm>
            <a:off x="38572" y="193348"/>
            <a:ext cx="3116739"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Rectangle 6">
            <a:extLst>
              <a:ext uri="{FF2B5EF4-FFF2-40B4-BE49-F238E27FC236}">
                <a16:creationId xmlns:a16="http://schemas.microsoft.com/office/drawing/2014/main" id="{79AC7441-BADE-C3E7-A958-8DCD3F8FB487}"/>
              </a:ext>
            </a:extLst>
          </p:cNvPr>
          <p:cNvSpPr/>
          <p:nvPr/>
        </p:nvSpPr>
        <p:spPr>
          <a:xfrm>
            <a:off x="5649802" y="426811"/>
            <a:ext cx="2331669"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DA4A6D8B-82FD-4716-DC8F-1D7F21ADFEDE}"/>
              </a:ext>
            </a:extLst>
          </p:cNvPr>
          <p:cNvSpPr/>
          <p:nvPr/>
        </p:nvSpPr>
        <p:spPr>
          <a:xfrm>
            <a:off x="216361" y="613207"/>
            <a:ext cx="2331669" cy="96630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680050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Tweezers Talk 2019 copy 2 (1)</Template>
  <TotalTime>511</TotalTime>
  <Words>2723</Words>
  <Application>Microsoft Office PowerPoint</Application>
  <PresentationFormat>On-screen Show (4:3)</PresentationFormat>
  <Paragraphs>474</Paragraphs>
  <Slides>31</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Arial</vt:lpstr>
      <vt:lpstr>Arial Black</vt:lpstr>
      <vt:lpstr>Cambria Math</vt:lpstr>
      <vt:lpstr>Times New Roman</vt:lpstr>
      <vt:lpstr>Office Theme</vt:lpstr>
      <vt:lpstr>Feedback System for Laser Intensity Stabilization</vt:lpstr>
      <vt:lpstr>What Is The Problem We Want to Solve?</vt:lpstr>
      <vt:lpstr>Background</vt:lpstr>
      <vt:lpstr>Acousto-Optic Modulator (AOM)</vt:lpstr>
      <vt:lpstr>Methodology - The Feedback System</vt:lpstr>
      <vt:lpstr>Methodology - The Feedback System</vt:lpstr>
      <vt:lpstr>Methodology - The Feedback System</vt:lpstr>
      <vt:lpstr>Methodology - The Feedback System</vt:lpstr>
      <vt:lpstr>Methodology - The Feedback System</vt:lpstr>
      <vt:lpstr>Methodology - The Feedback System</vt:lpstr>
      <vt:lpstr>Analog Stabilization Circuit</vt:lpstr>
      <vt:lpstr>PowerPoint Presentation</vt:lpstr>
      <vt:lpstr>PowerPoint Presentation</vt:lpstr>
      <vt:lpstr>PowerPoint Presentation</vt:lpstr>
      <vt:lpstr>Analog Stabilization Circuit</vt:lpstr>
      <vt:lpstr>Intensity Stabilization </vt:lpstr>
      <vt:lpstr>Intensity Histograms</vt:lpstr>
      <vt:lpstr>Power Spectrum FFT</vt:lpstr>
      <vt:lpstr>Sample and Hold (S&amp;H) Module</vt:lpstr>
      <vt:lpstr>Pulsed Feedback Mode</vt:lpstr>
      <vt:lpstr>Sample and Hold Signal</vt:lpstr>
      <vt:lpstr>Unstable Segments</vt:lpstr>
      <vt:lpstr>Stabilized Segments</vt:lpstr>
      <vt:lpstr>S&amp;H Data Analysis </vt:lpstr>
      <vt:lpstr>Conclusions</vt:lpstr>
      <vt:lpstr>PowerPoint Presentation</vt:lpstr>
      <vt:lpstr>Integrator Time Constants</vt:lpstr>
      <vt:lpstr>Supplementary: Sample and Hold Data Con’t</vt:lpstr>
      <vt:lpstr>Pulsed Stabilization</vt:lpstr>
      <vt:lpstr>Supplementary:  Power Through Vs S&amp;H</vt:lpstr>
      <vt:lpstr>Sign Posts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Feedback System for Laser Intensity Stabilization</dc:title>
  <dc:creator>joseph cuzzupoli</dc:creator>
  <cp:lastModifiedBy>joseph cuzzupoli</cp:lastModifiedBy>
  <cp:revision>9</cp:revision>
  <dcterms:created xsi:type="dcterms:W3CDTF">2024-06-14T13:31:32Z</dcterms:created>
  <dcterms:modified xsi:type="dcterms:W3CDTF">2025-12-30T02:22:31Z</dcterms:modified>
</cp:coreProperties>
</file>